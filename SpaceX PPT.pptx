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9" r:id="rId43"/>
    <p:sldId id="301" r:id="rId44"/>
    <p:sldId id="302" r:id="rId45"/>
    <p:sldId id="303" r:id="rId4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867" y="417575"/>
            <a:ext cx="9919335" cy="58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867" y="1893062"/>
            <a:ext cx="10187940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873" y="6103200"/>
            <a:ext cx="436245" cy="256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pacexdata.com/v4/launches/pas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List_of_Falcon/_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Jananijana2712/SpaceX-Falcon_9_First_Stage_Landing_Prediction/blob/main/1.1%20SpaceX%20the%20Data%20Collection%20API%20Lab.ipyn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/blob/main/1.2%20SpaceX%20the%20Data%20Collection%20with%20Web%20Scraping%20lab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/blob/main/1.3%20SpaceX%20Data%20Wrangling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nanijana2712/SpaceX-Falcon_9_First_Stage_Landing_Prediction/blob/main/1.4%20SpaceX%20%20the%20EDA%20with%20Visualization.ipynb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nanijana2712/SpaceX-Falcon_9_First_Stage_Landing_Prediction/blob/main/Assignment%20SQL%20Notebook%20for%20Peer%20Assignment.ipynb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github.com/Jananijana2712/SpaceX-Falcon_9_First_Stage_Landing_Prediction/blob/main/1.5%20SpaceX%20Interactive%20Visual%20Analytics%20with%20Folium.ipyn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Jananijana2712/SpaceX-Falcon_9_First_Stage_Landing_Prediction/blob/main/spacex%20dash%20app.py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ananijana2712/SpaceX-Falcon_9_First_Stage_Landing_Prediction/blob/main/1.6%20SpaceX%20Machine%20Learning%20Prediction.ipynb" TargetMode="Externa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ursera.org/learn/applied-data-science-capstone/home/welcome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9"/>
            <a:ext cx="12192000" cy="6857999"/>
          </a:xfrm>
          <a:prstGeom prst="rect">
            <a:avLst/>
          </a:prstGeom>
        </p:spPr>
      </p:pic>
      <p:pic>
        <p:nvPicPr>
          <p:cNvPr id="4" name="object 4" descr="IBM Skills Network Logo - Horizontal-noai copy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6655"/>
            <a:ext cx="2103882" cy="6294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232" y="4588509"/>
            <a:ext cx="131876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spc="-10" dirty="0">
                <a:solidFill>
                  <a:srgbClr val="E7E6E6"/>
                </a:solidFill>
                <a:latin typeface="Microsoft Sans Serif"/>
                <a:cs typeface="Microsoft Sans Serif"/>
              </a:rPr>
              <a:t>Janani  G </a:t>
            </a:r>
            <a:endParaRPr lang="en-US" spc="-10" dirty="0">
              <a:solidFill>
                <a:srgbClr val="E7E6E6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68858" y="2124405"/>
            <a:ext cx="4608195" cy="1130300"/>
            <a:chOff x="768858" y="2124405"/>
            <a:chExt cx="4608195" cy="1130300"/>
          </a:xfrm>
        </p:grpSpPr>
        <p:sp>
          <p:nvSpPr>
            <p:cNvPr id="5" name="object 5"/>
            <p:cNvSpPr/>
            <p:nvPr/>
          </p:nvSpPr>
          <p:spPr>
            <a:xfrm>
              <a:off x="809244" y="216560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80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4169"/>
                  </a:lnTo>
                  <a:lnTo>
                    <a:pt x="6532" y="868592"/>
                  </a:lnTo>
                  <a:lnTo>
                    <a:pt x="24250" y="888396"/>
                  </a:lnTo>
                  <a:lnTo>
                    <a:pt x="50331" y="901676"/>
                  </a:lnTo>
                  <a:lnTo>
                    <a:pt x="81953" y="906526"/>
                  </a:lnTo>
                  <a:lnTo>
                    <a:pt x="4442968" y="906526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58" y="2124405"/>
              <a:ext cx="1061732" cy="11298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8784" y="2163318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2"/>
                  </a:lnTo>
                  <a:lnTo>
                    <a:pt x="62915" y="775081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371" y="2163318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4" h="47625">
                  <a:moveTo>
                    <a:pt x="46418" y="0"/>
                  </a:moveTo>
                  <a:lnTo>
                    <a:pt x="28321" y="3700"/>
                  </a:lnTo>
                  <a:lnTo>
                    <a:pt x="13569" y="13795"/>
                  </a:lnTo>
                  <a:lnTo>
                    <a:pt x="3638" y="28771"/>
                  </a:lnTo>
                  <a:lnTo>
                    <a:pt x="0" y="47117"/>
                  </a:lnTo>
                  <a:lnTo>
                    <a:pt x="92837" y="47117"/>
                  </a:lnTo>
                  <a:lnTo>
                    <a:pt x="89164" y="28771"/>
                  </a:lnTo>
                  <a:lnTo>
                    <a:pt x="79176" y="13795"/>
                  </a:lnTo>
                  <a:lnTo>
                    <a:pt x="64413" y="3700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52847" y="2163699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2847" y="2163699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8296" y="2290826"/>
            <a:ext cx="49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9442" y="2416047"/>
            <a:ext cx="2524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 </a:t>
            </a:r>
            <a:r>
              <a:rPr sz="24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07707" y="2148027"/>
            <a:ext cx="4608195" cy="1130300"/>
            <a:chOff x="6807707" y="2148027"/>
            <a:chExt cx="4608195" cy="1130300"/>
          </a:xfrm>
        </p:grpSpPr>
        <p:sp>
          <p:nvSpPr>
            <p:cNvPr id="47" name="object 47"/>
            <p:cNvSpPr/>
            <p:nvPr/>
          </p:nvSpPr>
          <p:spPr>
            <a:xfrm>
              <a:off x="6848093" y="218846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80">
                  <a:moveTo>
                    <a:pt x="4442967" y="0"/>
                  </a:moveTo>
                  <a:lnTo>
                    <a:pt x="81914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8"/>
                  </a:lnTo>
                  <a:lnTo>
                    <a:pt x="0" y="844169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4" y="906526"/>
                  </a:lnTo>
                  <a:lnTo>
                    <a:pt x="4442967" y="906526"/>
                  </a:lnTo>
                  <a:lnTo>
                    <a:pt x="44429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707" y="2148027"/>
              <a:ext cx="1061732" cy="112984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977633" y="2186940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20" h="81280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2"/>
                  </a:lnTo>
                  <a:lnTo>
                    <a:pt x="62865" y="775081"/>
                  </a:lnTo>
                  <a:lnTo>
                    <a:pt x="66020" y="790082"/>
                  </a:lnTo>
                  <a:lnTo>
                    <a:pt x="74580" y="802036"/>
                  </a:lnTo>
                  <a:lnTo>
                    <a:pt x="87189" y="809942"/>
                  </a:lnTo>
                  <a:lnTo>
                    <a:pt x="102489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48220" y="2186940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5" h="46355">
                  <a:moveTo>
                    <a:pt x="46354" y="0"/>
                  </a:moveTo>
                  <a:lnTo>
                    <a:pt x="28289" y="3635"/>
                  </a:lnTo>
                  <a:lnTo>
                    <a:pt x="13557" y="13557"/>
                  </a:lnTo>
                  <a:lnTo>
                    <a:pt x="3635" y="28289"/>
                  </a:lnTo>
                  <a:lnTo>
                    <a:pt x="0" y="46355"/>
                  </a:lnTo>
                  <a:lnTo>
                    <a:pt x="92836" y="46355"/>
                  </a:lnTo>
                  <a:lnTo>
                    <a:pt x="89163" y="28289"/>
                  </a:lnTo>
                  <a:lnTo>
                    <a:pt x="79168" y="13557"/>
                  </a:lnTo>
                  <a:lnTo>
                    <a:pt x="64387" y="3635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291696" y="2187321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91696" y="2187321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37145" y="2314701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79078" y="2443988"/>
            <a:ext cx="953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3430" y="3313887"/>
            <a:ext cx="4603115" cy="1130300"/>
            <a:chOff x="773430" y="3313887"/>
            <a:chExt cx="4603115" cy="1130300"/>
          </a:xfrm>
        </p:grpSpPr>
        <p:sp>
          <p:nvSpPr>
            <p:cNvPr id="14" name="object 14"/>
            <p:cNvSpPr/>
            <p:nvPr/>
          </p:nvSpPr>
          <p:spPr>
            <a:xfrm>
              <a:off x="813816" y="3355086"/>
              <a:ext cx="4443095" cy="906144"/>
            </a:xfrm>
            <a:custGeom>
              <a:avLst/>
              <a:gdLst/>
              <a:ahLst/>
              <a:cxnLst/>
              <a:rect l="l" t="t" r="r" b="b"/>
              <a:pathLst>
                <a:path w="4443095" h="906145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3407"/>
                  </a:lnTo>
                  <a:lnTo>
                    <a:pt x="6532" y="867830"/>
                  </a:lnTo>
                  <a:lnTo>
                    <a:pt x="24250" y="887634"/>
                  </a:lnTo>
                  <a:lnTo>
                    <a:pt x="50331" y="900914"/>
                  </a:lnTo>
                  <a:lnTo>
                    <a:pt x="81953" y="905763"/>
                  </a:lnTo>
                  <a:lnTo>
                    <a:pt x="4442968" y="905763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30" y="3313887"/>
              <a:ext cx="1061732" cy="112984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3356" y="3352800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1"/>
                  </a:lnTo>
                  <a:lnTo>
                    <a:pt x="62915" y="775081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800"/>
                  </a:lnTo>
                  <a:lnTo>
                    <a:pt x="704595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19" y="775081"/>
                  </a:lnTo>
                  <a:lnTo>
                    <a:pt x="744219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3943" y="3352800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4" h="46354">
                  <a:moveTo>
                    <a:pt x="46418" y="0"/>
                  </a:moveTo>
                  <a:lnTo>
                    <a:pt x="28321" y="3635"/>
                  </a:lnTo>
                  <a:lnTo>
                    <a:pt x="13569" y="13557"/>
                  </a:lnTo>
                  <a:lnTo>
                    <a:pt x="3638" y="28289"/>
                  </a:lnTo>
                  <a:lnTo>
                    <a:pt x="0" y="46354"/>
                  </a:lnTo>
                  <a:lnTo>
                    <a:pt x="92837" y="46354"/>
                  </a:lnTo>
                  <a:lnTo>
                    <a:pt x="89164" y="28289"/>
                  </a:lnTo>
                  <a:lnTo>
                    <a:pt x="79176" y="13557"/>
                  </a:lnTo>
                  <a:lnTo>
                    <a:pt x="64413" y="3635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57038" y="3352800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1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1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005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02867" y="3480561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92577" y="3577082"/>
            <a:ext cx="1598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18376" y="3316947"/>
            <a:ext cx="4602480" cy="1130935"/>
            <a:chOff x="6818376" y="3316947"/>
            <a:chExt cx="4602480" cy="1130935"/>
          </a:xfrm>
        </p:grpSpPr>
        <p:sp>
          <p:nvSpPr>
            <p:cNvPr id="29" name="object 29"/>
            <p:cNvSpPr/>
            <p:nvPr/>
          </p:nvSpPr>
          <p:spPr>
            <a:xfrm>
              <a:off x="6858762" y="335813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79">
                  <a:moveTo>
                    <a:pt x="4442968" y="0"/>
                  </a:moveTo>
                  <a:lnTo>
                    <a:pt x="81915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8"/>
                  </a:lnTo>
                  <a:lnTo>
                    <a:pt x="0" y="844168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5" y="906526"/>
                  </a:lnTo>
                  <a:lnTo>
                    <a:pt x="4442968" y="906526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8376" y="3316947"/>
              <a:ext cx="1061732" cy="11305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88302" y="3355848"/>
              <a:ext cx="744220" cy="814069"/>
            </a:xfrm>
            <a:custGeom>
              <a:avLst/>
              <a:gdLst/>
              <a:ahLst/>
              <a:cxnLst/>
              <a:rect l="l" t="t" r="r" b="b"/>
              <a:pathLst>
                <a:path w="744220" h="81407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1"/>
                  </a:lnTo>
                  <a:lnTo>
                    <a:pt x="62865" y="775843"/>
                  </a:lnTo>
                  <a:lnTo>
                    <a:pt x="66020" y="790844"/>
                  </a:lnTo>
                  <a:lnTo>
                    <a:pt x="74580" y="802798"/>
                  </a:lnTo>
                  <a:lnTo>
                    <a:pt x="87189" y="810704"/>
                  </a:lnTo>
                  <a:lnTo>
                    <a:pt x="102489" y="813562"/>
                  </a:lnTo>
                  <a:lnTo>
                    <a:pt x="704596" y="813562"/>
                  </a:lnTo>
                  <a:lnTo>
                    <a:pt x="719895" y="810704"/>
                  </a:lnTo>
                  <a:lnTo>
                    <a:pt x="732504" y="802798"/>
                  </a:lnTo>
                  <a:lnTo>
                    <a:pt x="741064" y="790844"/>
                  </a:lnTo>
                  <a:lnTo>
                    <a:pt x="744220" y="775843"/>
                  </a:lnTo>
                  <a:lnTo>
                    <a:pt x="744220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58889" y="3355848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5" h="47625">
                  <a:moveTo>
                    <a:pt x="46354" y="0"/>
                  </a:moveTo>
                  <a:lnTo>
                    <a:pt x="28289" y="3700"/>
                  </a:lnTo>
                  <a:lnTo>
                    <a:pt x="13557" y="13795"/>
                  </a:lnTo>
                  <a:lnTo>
                    <a:pt x="3635" y="28771"/>
                  </a:lnTo>
                  <a:lnTo>
                    <a:pt x="0" y="47116"/>
                  </a:lnTo>
                  <a:lnTo>
                    <a:pt x="92836" y="47116"/>
                  </a:lnTo>
                  <a:lnTo>
                    <a:pt x="89163" y="28771"/>
                  </a:lnTo>
                  <a:lnTo>
                    <a:pt x="79168" y="13795"/>
                  </a:lnTo>
                  <a:lnTo>
                    <a:pt x="64387" y="3700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301984" y="3355848"/>
              <a:ext cx="118745" cy="906780"/>
            </a:xfrm>
            <a:custGeom>
              <a:avLst/>
              <a:gdLst/>
              <a:ahLst/>
              <a:cxnLst/>
              <a:rect l="l" t="t" r="r" b="b"/>
              <a:pathLst>
                <a:path w="118745" h="906779">
                  <a:moveTo>
                    <a:pt x="5715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150" y="906526"/>
                  </a:lnTo>
                  <a:lnTo>
                    <a:pt x="81166" y="901698"/>
                  </a:lnTo>
                  <a:lnTo>
                    <a:pt x="100695" y="888571"/>
                  </a:lnTo>
                  <a:lnTo>
                    <a:pt x="113817" y="869182"/>
                  </a:lnTo>
                  <a:lnTo>
                    <a:pt x="118618" y="845565"/>
                  </a:lnTo>
                  <a:lnTo>
                    <a:pt x="118618" y="60960"/>
                  </a:lnTo>
                  <a:lnTo>
                    <a:pt x="113817" y="37343"/>
                  </a:lnTo>
                  <a:lnTo>
                    <a:pt x="100695" y="17954"/>
                  </a:lnTo>
                  <a:lnTo>
                    <a:pt x="81166" y="4827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47814" y="3483864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05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45981" y="3570223"/>
            <a:ext cx="1437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3430" y="4574285"/>
            <a:ext cx="4608195" cy="1130300"/>
            <a:chOff x="773430" y="4574285"/>
            <a:chExt cx="4608195" cy="1130300"/>
          </a:xfrm>
        </p:grpSpPr>
        <p:sp>
          <p:nvSpPr>
            <p:cNvPr id="21" name="object 21"/>
            <p:cNvSpPr/>
            <p:nvPr/>
          </p:nvSpPr>
          <p:spPr>
            <a:xfrm>
              <a:off x="813816" y="4615433"/>
              <a:ext cx="4443095" cy="906144"/>
            </a:xfrm>
            <a:custGeom>
              <a:avLst/>
              <a:gdLst/>
              <a:ahLst/>
              <a:cxnLst/>
              <a:rect l="l" t="t" r="r" b="b"/>
              <a:pathLst>
                <a:path w="4443095" h="906145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3407"/>
                  </a:lnTo>
                  <a:lnTo>
                    <a:pt x="6532" y="867830"/>
                  </a:lnTo>
                  <a:lnTo>
                    <a:pt x="24250" y="887634"/>
                  </a:lnTo>
                  <a:lnTo>
                    <a:pt x="50331" y="900914"/>
                  </a:lnTo>
                  <a:lnTo>
                    <a:pt x="81953" y="905764"/>
                  </a:lnTo>
                  <a:lnTo>
                    <a:pt x="4442968" y="905764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30" y="4574285"/>
              <a:ext cx="1061732" cy="112984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43356" y="4613147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1"/>
                  </a:lnTo>
                  <a:lnTo>
                    <a:pt x="62915" y="775080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799"/>
                  </a:lnTo>
                  <a:lnTo>
                    <a:pt x="704595" y="812799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19" y="775080"/>
                  </a:lnTo>
                  <a:lnTo>
                    <a:pt x="744219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3943" y="4613147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4" h="47625">
                  <a:moveTo>
                    <a:pt x="46418" y="0"/>
                  </a:moveTo>
                  <a:lnTo>
                    <a:pt x="28321" y="3700"/>
                  </a:lnTo>
                  <a:lnTo>
                    <a:pt x="13569" y="13795"/>
                  </a:lnTo>
                  <a:lnTo>
                    <a:pt x="3638" y="28771"/>
                  </a:lnTo>
                  <a:lnTo>
                    <a:pt x="0" y="47116"/>
                  </a:lnTo>
                  <a:lnTo>
                    <a:pt x="92837" y="47116"/>
                  </a:lnTo>
                  <a:lnTo>
                    <a:pt x="89164" y="28771"/>
                  </a:lnTo>
                  <a:lnTo>
                    <a:pt x="79176" y="13795"/>
                  </a:lnTo>
                  <a:lnTo>
                    <a:pt x="64413" y="3700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57419" y="4613528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57419" y="4613528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135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02867" y="4741164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22473" y="4798059"/>
            <a:ext cx="173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07707" y="4572761"/>
            <a:ext cx="4603115" cy="1130300"/>
            <a:chOff x="6807707" y="4572761"/>
            <a:chExt cx="4603115" cy="1130300"/>
          </a:xfrm>
        </p:grpSpPr>
        <p:sp>
          <p:nvSpPr>
            <p:cNvPr id="36" name="object 36"/>
            <p:cNvSpPr/>
            <p:nvPr/>
          </p:nvSpPr>
          <p:spPr>
            <a:xfrm>
              <a:off x="6848093" y="4613147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79">
                  <a:moveTo>
                    <a:pt x="4442967" y="0"/>
                  </a:moveTo>
                  <a:lnTo>
                    <a:pt x="81914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7"/>
                  </a:lnTo>
                  <a:lnTo>
                    <a:pt x="0" y="844168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4" y="906526"/>
                  </a:lnTo>
                  <a:lnTo>
                    <a:pt x="4442967" y="906526"/>
                  </a:lnTo>
                  <a:lnTo>
                    <a:pt x="44429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707" y="4572761"/>
              <a:ext cx="1061732" cy="112984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77633" y="4611623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20" h="81280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2"/>
                  </a:lnTo>
                  <a:lnTo>
                    <a:pt x="62865" y="775081"/>
                  </a:lnTo>
                  <a:lnTo>
                    <a:pt x="66020" y="790082"/>
                  </a:lnTo>
                  <a:lnTo>
                    <a:pt x="74580" y="802036"/>
                  </a:lnTo>
                  <a:lnTo>
                    <a:pt x="87189" y="809942"/>
                  </a:lnTo>
                  <a:lnTo>
                    <a:pt x="102489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48220" y="4611623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5" h="46354">
                  <a:moveTo>
                    <a:pt x="46354" y="0"/>
                  </a:moveTo>
                  <a:lnTo>
                    <a:pt x="28289" y="3635"/>
                  </a:lnTo>
                  <a:lnTo>
                    <a:pt x="13557" y="13557"/>
                  </a:lnTo>
                  <a:lnTo>
                    <a:pt x="3635" y="28289"/>
                  </a:lnTo>
                  <a:lnTo>
                    <a:pt x="0" y="46355"/>
                  </a:lnTo>
                  <a:lnTo>
                    <a:pt x="92836" y="46355"/>
                  </a:lnTo>
                  <a:lnTo>
                    <a:pt x="89163" y="28289"/>
                  </a:lnTo>
                  <a:lnTo>
                    <a:pt x="79168" y="13557"/>
                  </a:lnTo>
                  <a:lnTo>
                    <a:pt x="64387" y="3635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291315" y="4611623"/>
              <a:ext cx="119380" cy="906144"/>
            </a:xfrm>
            <a:custGeom>
              <a:avLst/>
              <a:gdLst/>
              <a:ahLst/>
              <a:cxnLst/>
              <a:rect l="l" t="t" r="r" b="b"/>
              <a:pathLst>
                <a:path w="119379" h="906145">
                  <a:moveTo>
                    <a:pt x="57530" y="0"/>
                  </a:moveTo>
                  <a:lnTo>
                    <a:pt x="0" y="0"/>
                  </a:lnTo>
                  <a:lnTo>
                    <a:pt x="0" y="905763"/>
                  </a:lnTo>
                  <a:lnTo>
                    <a:pt x="57530" y="905763"/>
                  </a:lnTo>
                  <a:lnTo>
                    <a:pt x="81714" y="900953"/>
                  </a:lnTo>
                  <a:lnTo>
                    <a:pt x="101361" y="887857"/>
                  </a:lnTo>
                  <a:lnTo>
                    <a:pt x="114555" y="868473"/>
                  </a:lnTo>
                  <a:lnTo>
                    <a:pt x="119379" y="844804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37145" y="4738878"/>
            <a:ext cx="49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06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48014" y="4865370"/>
            <a:ext cx="1254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Appendix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Executive</a:t>
            </a:r>
            <a:r>
              <a:rPr spc="-55" dirty="0"/>
              <a:t> </a:t>
            </a:r>
            <a:r>
              <a:rPr spc="-180" dirty="0"/>
              <a:t>Summary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60711" y="4209542"/>
            <a:ext cx="17252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Predictive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analysis </a:t>
            </a:r>
            <a:r>
              <a:rPr sz="1800" spc="-25" dirty="0">
                <a:latin typeface="Calibri"/>
                <a:cs typeface="Calibri"/>
              </a:rPr>
              <a:t>by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5325" y="1332738"/>
            <a:ext cx="8887206" cy="30380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5126" y="1924557"/>
            <a:ext cx="2540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07967" y="1924557"/>
            <a:ext cx="2540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3321" y="1924557"/>
            <a:ext cx="2540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0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7019" y="1924557"/>
            <a:ext cx="258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0" dirty="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08366" y="1978151"/>
            <a:ext cx="258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0" dirty="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85554" y="2006600"/>
            <a:ext cx="2584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0" dirty="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endParaRPr sz="32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051163" y="2688463"/>
            <a:ext cx="58419" cy="58419"/>
            <a:chOff x="9051163" y="2688463"/>
            <a:chExt cx="58419" cy="58419"/>
          </a:xfrm>
        </p:grpSpPr>
        <p:sp>
          <p:nvSpPr>
            <p:cNvPr id="19" name="object 19"/>
            <p:cNvSpPr/>
            <p:nvPr/>
          </p:nvSpPr>
          <p:spPr>
            <a:xfrm>
              <a:off x="9057513" y="269481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22859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59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19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57513" y="269481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19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59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19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59" y="45720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51991" y="3959097"/>
            <a:ext cx="14166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Collection </a:t>
            </a:r>
            <a:r>
              <a:rPr sz="1800" spc="-20" dirty="0">
                <a:latin typeface="Calibri"/>
                <a:cs typeface="Calibri"/>
              </a:rPr>
              <a:t>data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5851" y="4234942"/>
            <a:ext cx="16249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Wrangling: transforming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mapping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93082" y="4230623"/>
            <a:ext cx="2816860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  <a:tabLst>
                <a:tab pos="1659889" algn="l"/>
              </a:tabLst>
            </a:pPr>
            <a:r>
              <a:rPr sz="1800" dirty="0">
                <a:latin typeface="Calibri"/>
                <a:cs typeface="Calibri"/>
              </a:rPr>
              <a:t>Exploratory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43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EDA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analysis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(EDA)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visualization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SQL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26171" y="4386071"/>
            <a:ext cx="15944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Interactive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visual </a:t>
            </a:r>
            <a:r>
              <a:rPr sz="1800" dirty="0">
                <a:latin typeface="Calibri"/>
                <a:cs typeface="Calibri"/>
              </a:rPr>
              <a:t>analytics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dashboards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1475" y="5303901"/>
            <a:ext cx="11509375" cy="61595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1498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80"/>
              </a:spcBef>
            </a:pPr>
            <a:r>
              <a:rPr sz="1800" i="1" dirty="0">
                <a:latin typeface="Calibri"/>
                <a:cs typeface="Calibri"/>
              </a:rPr>
              <a:t>Summary: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Select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best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model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for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future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prediction.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4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Introduction</a:t>
            </a: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6780" y="1480565"/>
            <a:ext cx="7526020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70" dirty="0">
                <a:solidFill>
                  <a:srgbClr val="1F1F1F"/>
                </a:solidFill>
                <a:latin typeface="Tahoma"/>
                <a:cs typeface="Tahoma"/>
              </a:rPr>
              <a:t>SpaceX’s</a:t>
            </a:r>
            <a:r>
              <a:rPr sz="2400" b="1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1F1F1F"/>
                </a:solidFill>
                <a:latin typeface="Tahoma"/>
                <a:cs typeface="Tahoma"/>
              </a:rPr>
              <a:t>goal:</a:t>
            </a:r>
            <a:endParaRPr sz="24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Sending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spacecraft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International</a:t>
            </a:r>
            <a:r>
              <a:rPr sz="18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Station.</a:t>
            </a: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Starlink,</a:t>
            </a:r>
            <a:r>
              <a:rPr sz="1800" spc="-13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satellite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internet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constellation</a:t>
            </a:r>
            <a:r>
              <a:rPr sz="1800" spc="-1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providing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satellite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Internet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access.</a:t>
            </a: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Sending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manned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missions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5894" y="3008426"/>
            <a:ext cx="1527810" cy="599440"/>
            <a:chOff x="675894" y="3008426"/>
            <a:chExt cx="1527810" cy="59944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3008426"/>
              <a:ext cx="1527809" cy="54249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736" y="3020580"/>
              <a:ext cx="1007427" cy="58685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06" y="3047238"/>
              <a:ext cx="1421130" cy="43586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33805" y="3047238"/>
            <a:ext cx="1421130" cy="43624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52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23414" y="3132582"/>
            <a:ext cx="256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Spaces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X’s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Falcon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1F1F1F"/>
                </a:solidFill>
                <a:latin typeface="Tahoma"/>
                <a:cs typeface="Tahoma"/>
              </a:rPr>
              <a:t>9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75894" y="3685082"/>
            <a:ext cx="1527810" cy="599440"/>
            <a:chOff x="675894" y="3685082"/>
            <a:chExt cx="1527810" cy="59944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3685082"/>
              <a:ext cx="1527809" cy="5424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224" y="3697236"/>
              <a:ext cx="818337" cy="5868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06" y="3723894"/>
              <a:ext cx="1421130" cy="43586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33805" y="3723894"/>
            <a:ext cx="1421130" cy="436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Goal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3414" y="3814826"/>
            <a:ext cx="3689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price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each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5894" y="4361624"/>
            <a:ext cx="1527810" cy="600075"/>
            <a:chOff x="675894" y="4361624"/>
            <a:chExt cx="1527810" cy="600075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894" y="4361624"/>
              <a:ext cx="1527809" cy="5432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494" y="4374654"/>
              <a:ext cx="1070597" cy="5868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3806" y="4400549"/>
              <a:ext cx="1421130" cy="4366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3805" y="4400550"/>
            <a:ext cx="1421130" cy="4368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52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3639" y="4517644"/>
            <a:ext cx="798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1F1F1F"/>
                </a:solidFill>
                <a:latin typeface="Tahoma"/>
                <a:cs typeface="Tahoma"/>
              </a:rPr>
              <a:t>we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can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will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land,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1F1F1F"/>
                </a:solidFill>
                <a:latin typeface="Tahoma"/>
                <a:cs typeface="Tahoma"/>
              </a:rPr>
              <a:t>we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can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20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cost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5894" y="5039156"/>
            <a:ext cx="1527810" cy="599440"/>
            <a:chOff x="675894" y="5039156"/>
            <a:chExt cx="1527810" cy="5994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5039156"/>
              <a:ext cx="1527809" cy="5424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8680" y="5051297"/>
              <a:ext cx="1141488" cy="5868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806" y="5077967"/>
              <a:ext cx="1421130" cy="43586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33805" y="5077967"/>
            <a:ext cx="1421130" cy="436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52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3414" y="5096764"/>
            <a:ext cx="82321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By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gathering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information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about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X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creating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dashboards:</a:t>
            </a:r>
            <a:endParaRPr sz="1800">
              <a:latin typeface="Tahoma"/>
              <a:cs typeface="Tahoma"/>
            </a:endParaRPr>
          </a:p>
          <a:p>
            <a:pPr marL="297180" indent="-284480">
              <a:lnSpc>
                <a:spcPct val="100000"/>
              </a:lnSpc>
              <a:buFont typeface="Courier New"/>
              <a:buChar char="o"/>
              <a:tabLst>
                <a:tab pos="297180" algn="l"/>
              </a:tabLst>
            </a:pPr>
            <a:r>
              <a:rPr sz="1800" spc="-6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SpaceX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will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reuse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endParaRPr sz="1800">
              <a:latin typeface="Tahoma"/>
              <a:cs typeface="Tahoma"/>
            </a:endParaRPr>
          </a:p>
          <a:p>
            <a:pPr marL="297180" marR="5080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298450" algn="l"/>
              </a:tabLst>
            </a:pP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Train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machine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learning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model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public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information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predict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SpaceX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will 	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reuse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5048" y="2812542"/>
            <a:ext cx="1058545" cy="369570"/>
          </a:xfrm>
          <a:prstGeom prst="rect">
            <a:avLst/>
          </a:prstGeom>
          <a:solidFill>
            <a:srgbClr val="0947CA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64416" y="6392671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6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Methodology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2113" y="1322069"/>
            <a:ext cx="10752455" cy="4769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methodology: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Require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SpaceX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endParaRPr sz="19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Collect</a:t>
            </a: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</a:t>
            </a: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Wikipedia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page</a:t>
            </a:r>
            <a:endParaRPr sz="19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Perform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20" dirty="0">
                <a:solidFill>
                  <a:srgbClr val="767070"/>
                </a:solidFill>
                <a:latin typeface="Microsoft Sans Serif"/>
                <a:cs typeface="Microsoft Sans Serif"/>
              </a:rPr>
              <a:t>EDA</a:t>
            </a:r>
            <a:r>
              <a:rPr sz="1900" spc="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find</a:t>
            </a:r>
            <a:r>
              <a:rPr sz="1900" spc="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some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patterns</a:t>
            </a:r>
            <a:endParaRPr sz="19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Determine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what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would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be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label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training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supervised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</a:t>
            </a: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3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3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3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3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</a:t>
            </a:r>
            <a:r>
              <a:rPr sz="23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visualization</a:t>
            </a:r>
            <a:r>
              <a:rPr sz="23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endParaRPr sz="23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classification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Compare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logistic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regression 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model,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support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vector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machine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tree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decision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classifier,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KNN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by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7913" y="6065265"/>
            <a:ext cx="42792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4" dirty="0">
                <a:solidFill>
                  <a:srgbClr val="767070"/>
                </a:solidFill>
                <a:latin typeface="Microsoft Sans Serif"/>
                <a:cs typeface="Microsoft Sans Serif"/>
              </a:rPr>
              <a:t>GridSearchCV</a:t>
            </a:r>
            <a:r>
              <a:rPr sz="1900" spc="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900" spc="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select</a:t>
            </a:r>
            <a:r>
              <a:rPr sz="1900" spc="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best</a:t>
            </a:r>
            <a:r>
              <a:rPr sz="1900" spc="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fit</a:t>
            </a:r>
            <a:r>
              <a:rPr sz="1900" spc="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Data</a:t>
            </a:r>
            <a:r>
              <a:rPr spc="-185" dirty="0"/>
              <a:t> </a:t>
            </a:r>
            <a:r>
              <a:rPr spc="-75" dirty="0"/>
              <a:t>Collection</a:t>
            </a: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25573" y="1840992"/>
            <a:ext cx="3440429" cy="878205"/>
          </a:xfrm>
          <a:custGeom>
            <a:avLst/>
            <a:gdLst/>
            <a:ahLst/>
            <a:cxnLst/>
            <a:rect l="l" t="t" r="r" b="b"/>
            <a:pathLst>
              <a:path w="3440429" h="878205">
                <a:moveTo>
                  <a:pt x="3342766" y="0"/>
                </a:moveTo>
                <a:lnTo>
                  <a:pt x="0" y="0"/>
                </a:lnTo>
                <a:lnTo>
                  <a:pt x="536194" y="877824"/>
                </a:lnTo>
                <a:lnTo>
                  <a:pt x="3440429" y="877824"/>
                </a:lnTo>
                <a:lnTo>
                  <a:pt x="3440429" y="97662"/>
                </a:lnTo>
                <a:lnTo>
                  <a:pt x="3432617" y="59364"/>
                </a:lnTo>
                <a:lnTo>
                  <a:pt x="3411458" y="28352"/>
                </a:lnTo>
                <a:lnTo>
                  <a:pt x="3380368" y="7580"/>
                </a:lnTo>
                <a:lnTo>
                  <a:pt x="334276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65678" y="1970532"/>
            <a:ext cx="760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1247" y="1799844"/>
            <a:ext cx="4525010" cy="1149985"/>
          </a:xfrm>
          <a:custGeom>
            <a:avLst/>
            <a:gdLst/>
            <a:ahLst/>
            <a:cxnLst/>
            <a:rect l="l" t="t" r="r" b="b"/>
            <a:pathLst>
              <a:path w="4525010" h="1149985">
                <a:moveTo>
                  <a:pt x="948309" y="0"/>
                </a:moveTo>
                <a:lnTo>
                  <a:pt x="574294" y="0"/>
                </a:lnTo>
                <a:lnTo>
                  <a:pt x="527112" y="1901"/>
                </a:lnTo>
                <a:lnTo>
                  <a:pt x="480996" y="7508"/>
                </a:lnTo>
                <a:lnTo>
                  <a:pt x="436091" y="16673"/>
                </a:lnTo>
                <a:lnTo>
                  <a:pt x="392545" y="29251"/>
                </a:lnTo>
                <a:lnTo>
                  <a:pt x="350502" y="45094"/>
                </a:lnTo>
                <a:lnTo>
                  <a:pt x="310111" y="64057"/>
                </a:lnTo>
                <a:lnTo>
                  <a:pt x="271517" y="85991"/>
                </a:lnTo>
                <a:lnTo>
                  <a:pt x="234867" y="110752"/>
                </a:lnTo>
                <a:lnTo>
                  <a:pt x="200307" y="138191"/>
                </a:lnTo>
                <a:lnTo>
                  <a:pt x="167984" y="168163"/>
                </a:lnTo>
                <a:lnTo>
                  <a:pt x="138044" y="200522"/>
                </a:lnTo>
                <a:lnTo>
                  <a:pt x="110634" y="235119"/>
                </a:lnTo>
                <a:lnTo>
                  <a:pt x="85900" y="271810"/>
                </a:lnTo>
                <a:lnTo>
                  <a:pt x="63989" y="310446"/>
                </a:lnTo>
                <a:lnTo>
                  <a:pt x="45047" y="350883"/>
                </a:lnTo>
                <a:lnTo>
                  <a:pt x="29220" y="392972"/>
                </a:lnTo>
                <a:lnTo>
                  <a:pt x="16656" y="436568"/>
                </a:lnTo>
                <a:lnTo>
                  <a:pt x="7500" y="481524"/>
                </a:lnTo>
                <a:lnTo>
                  <a:pt x="1899" y="527693"/>
                </a:lnTo>
                <a:lnTo>
                  <a:pt x="0" y="574928"/>
                </a:lnTo>
                <a:lnTo>
                  <a:pt x="1899" y="622164"/>
                </a:lnTo>
                <a:lnTo>
                  <a:pt x="7500" y="668333"/>
                </a:lnTo>
                <a:lnTo>
                  <a:pt x="16656" y="713289"/>
                </a:lnTo>
                <a:lnTo>
                  <a:pt x="29220" y="756885"/>
                </a:lnTo>
                <a:lnTo>
                  <a:pt x="45047" y="798974"/>
                </a:lnTo>
                <a:lnTo>
                  <a:pt x="63989" y="839411"/>
                </a:lnTo>
                <a:lnTo>
                  <a:pt x="85900" y="878047"/>
                </a:lnTo>
                <a:lnTo>
                  <a:pt x="110634" y="914738"/>
                </a:lnTo>
                <a:lnTo>
                  <a:pt x="138044" y="949335"/>
                </a:lnTo>
                <a:lnTo>
                  <a:pt x="167984" y="981694"/>
                </a:lnTo>
                <a:lnTo>
                  <a:pt x="200307" y="1011666"/>
                </a:lnTo>
                <a:lnTo>
                  <a:pt x="234867" y="1039105"/>
                </a:lnTo>
                <a:lnTo>
                  <a:pt x="271517" y="1063866"/>
                </a:lnTo>
                <a:lnTo>
                  <a:pt x="310111" y="1085800"/>
                </a:lnTo>
                <a:lnTo>
                  <a:pt x="350502" y="1104763"/>
                </a:lnTo>
                <a:lnTo>
                  <a:pt x="392545" y="1120606"/>
                </a:lnTo>
                <a:lnTo>
                  <a:pt x="436091" y="1133184"/>
                </a:lnTo>
                <a:lnTo>
                  <a:pt x="480996" y="1142349"/>
                </a:lnTo>
                <a:lnTo>
                  <a:pt x="527112" y="1147956"/>
                </a:lnTo>
                <a:lnTo>
                  <a:pt x="574294" y="1149857"/>
                </a:lnTo>
                <a:lnTo>
                  <a:pt x="4427093" y="1149857"/>
                </a:lnTo>
                <a:lnTo>
                  <a:pt x="4464694" y="1142043"/>
                </a:lnTo>
                <a:lnTo>
                  <a:pt x="4495784" y="1120870"/>
                </a:lnTo>
                <a:lnTo>
                  <a:pt x="4516943" y="1089743"/>
                </a:lnTo>
                <a:lnTo>
                  <a:pt x="4524756" y="1052067"/>
                </a:lnTo>
                <a:lnTo>
                  <a:pt x="4524756" y="994155"/>
                </a:lnTo>
                <a:lnTo>
                  <a:pt x="1587119" y="994155"/>
                </a:lnTo>
                <a:lnTo>
                  <a:pt x="1572652" y="992330"/>
                </a:lnTo>
                <a:lnTo>
                  <a:pt x="1559401" y="987075"/>
                </a:lnTo>
                <a:lnTo>
                  <a:pt x="1548006" y="978725"/>
                </a:lnTo>
                <a:lnTo>
                  <a:pt x="1539113" y="967613"/>
                </a:lnTo>
                <a:lnTo>
                  <a:pt x="94830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816" y="1917191"/>
            <a:ext cx="462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60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56754" y="1803654"/>
            <a:ext cx="3440429" cy="878205"/>
          </a:xfrm>
          <a:custGeom>
            <a:avLst/>
            <a:gdLst/>
            <a:ahLst/>
            <a:cxnLst/>
            <a:rect l="l" t="t" r="r" b="b"/>
            <a:pathLst>
              <a:path w="3440429" h="878205">
                <a:moveTo>
                  <a:pt x="3342767" y="0"/>
                </a:moveTo>
                <a:lnTo>
                  <a:pt x="0" y="0"/>
                </a:lnTo>
                <a:lnTo>
                  <a:pt x="536194" y="877824"/>
                </a:lnTo>
                <a:lnTo>
                  <a:pt x="3440429" y="877824"/>
                </a:lnTo>
                <a:lnTo>
                  <a:pt x="3440429" y="97662"/>
                </a:lnTo>
                <a:lnTo>
                  <a:pt x="3432617" y="59364"/>
                </a:lnTo>
                <a:lnTo>
                  <a:pt x="3411458" y="28352"/>
                </a:lnTo>
                <a:lnTo>
                  <a:pt x="3380368" y="7580"/>
                </a:lnTo>
                <a:lnTo>
                  <a:pt x="3342767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50935" y="1932940"/>
            <a:ext cx="2054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Roboto"/>
                <a:cs typeface="Roboto"/>
              </a:rPr>
              <a:t>Web </a:t>
            </a:r>
            <a:r>
              <a:rPr sz="3600" b="1" spc="-20" dirty="0">
                <a:solidFill>
                  <a:srgbClr val="FFFFFF"/>
                </a:solidFill>
                <a:latin typeface="Roboto"/>
                <a:cs typeface="Roboto"/>
              </a:rPr>
              <a:t>page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2428" y="1803654"/>
            <a:ext cx="4525010" cy="1149985"/>
          </a:xfrm>
          <a:custGeom>
            <a:avLst/>
            <a:gdLst/>
            <a:ahLst/>
            <a:cxnLst/>
            <a:rect l="l" t="t" r="r" b="b"/>
            <a:pathLst>
              <a:path w="4525009" h="1149985">
                <a:moveTo>
                  <a:pt x="948308" y="0"/>
                </a:moveTo>
                <a:lnTo>
                  <a:pt x="574294" y="0"/>
                </a:lnTo>
                <a:lnTo>
                  <a:pt x="527114" y="1901"/>
                </a:lnTo>
                <a:lnTo>
                  <a:pt x="480999" y="7508"/>
                </a:lnTo>
                <a:lnTo>
                  <a:pt x="436095" y="16673"/>
                </a:lnTo>
                <a:lnTo>
                  <a:pt x="392549" y="29251"/>
                </a:lnTo>
                <a:lnTo>
                  <a:pt x="350508" y="45094"/>
                </a:lnTo>
                <a:lnTo>
                  <a:pt x="310116" y="64057"/>
                </a:lnTo>
                <a:lnTo>
                  <a:pt x="271523" y="85991"/>
                </a:lnTo>
                <a:lnTo>
                  <a:pt x="234872" y="110752"/>
                </a:lnTo>
                <a:lnTo>
                  <a:pt x="200312" y="138191"/>
                </a:lnTo>
                <a:lnTo>
                  <a:pt x="167989" y="168163"/>
                </a:lnTo>
                <a:lnTo>
                  <a:pt x="138048" y="200522"/>
                </a:lnTo>
                <a:lnTo>
                  <a:pt x="110638" y="235119"/>
                </a:lnTo>
                <a:lnTo>
                  <a:pt x="85903" y="271810"/>
                </a:lnTo>
                <a:lnTo>
                  <a:pt x="63991" y="310446"/>
                </a:lnTo>
                <a:lnTo>
                  <a:pt x="45049" y="350883"/>
                </a:lnTo>
                <a:lnTo>
                  <a:pt x="29222" y="392972"/>
                </a:lnTo>
                <a:lnTo>
                  <a:pt x="16657" y="436568"/>
                </a:lnTo>
                <a:lnTo>
                  <a:pt x="7500" y="481524"/>
                </a:lnTo>
                <a:lnTo>
                  <a:pt x="1899" y="527693"/>
                </a:lnTo>
                <a:lnTo>
                  <a:pt x="0" y="574929"/>
                </a:lnTo>
                <a:lnTo>
                  <a:pt x="1899" y="622164"/>
                </a:lnTo>
                <a:lnTo>
                  <a:pt x="7500" y="668333"/>
                </a:lnTo>
                <a:lnTo>
                  <a:pt x="16657" y="713289"/>
                </a:lnTo>
                <a:lnTo>
                  <a:pt x="29222" y="756885"/>
                </a:lnTo>
                <a:lnTo>
                  <a:pt x="45049" y="798974"/>
                </a:lnTo>
                <a:lnTo>
                  <a:pt x="63991" y="839411"/>
                </a:lnTo>
                <a:lnTo>
                  <a:pt x="85903" y="878047"/>
                </a:lnTo>
                <a:lnTo>
                  <a:pt x="110638" y="914738"/>
                </a:lnTo>
                <a:lnTo>
                  <a:pt x="138048" y="949335"/>
                </a:lnTo>
                <a:lnTo>
                  <a:pt x="167989" y="981694"/>
                </a:lnTo>
                <a:lnTo>
                  <a:pt x="200312" y="1011666"/>
                </a:lnTo>
                <a:lnTo>
                  <a:pt x="234872" y="1039105"/>
                </a:lnTo>
                <a:lnTo>
                  <a:pt x="271523" y="1063866"/>
                </a:lnTo>
                <a:lnTo>
                  <a:pt x="310116" y="1085800"/>
                </a:lnTo>
                <a:lnTo>
                  <a:pt x="350508" y="1104763"/>
                </a:lnTo>
                <a:lnTo>
                  <a:pt x="392549" y="1120606"/>
                </a:lnTo>
                <a:lnTo>
                  <a:pt x="436095" y="1133184"/>
                </a:lnTo>
                <a:lnTo>
                  <a:pt x="480999" y="1142349"/>
                </a:lnTo>
                <a:lnTo>
                  <a:pt x="527114" y="1147956"/>
                </a:lnTo>
                <a:lnTo>
                  <a:pt x="574294" y="1149858"/>
                </a:lnTo>
                <a:lnTo>
                  <a:pt x="4427093" y="1149858"/>
                </a:lnTo>
                <a:lnTo>
                  <a:pt x="4464694" y="1142043"/>
                </a:lnTo>
                <a:lnTo>
                  <a:pt x="4495784" y="1120870"/>
                </a:lnTo>
                <a:lnTo>
                  <a:pt x="4516943" y="1089743"/>
                </a:lnTo>
                <a:lnTo>
                  <a:pt x="4524756" y="1052068"/>
                </a:lnTo>
                <a:lnTo>
                  <a:pt x="4524756" y="994156"/>
                </a:lnTo>
                <a:lnTo>
                  <a:pt x="1587119" y="994156"/>
                </a:lnTo>
                <a:lnTo>
                  <a:pt x="1572652" y="992330"/>
                </a:lnTo>
                <a:lnTo>
                  <a:pt x="1559401" y="987075"/>
                </a:lnTo>
                <a:lnTo>
                  <a:pt x="1548006" y="978725"/>
                </a:lnTo>
                <a:lnTo>
                  <a:pt x="1539113" y="967613"/>
                </a:lnTo>
                <a:lnTo>
                  <a:pt x="948308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26071" y="1865884"/>
            <a:ext cx="462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6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261" y="3158235"/>
            <a:ext cx="41548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spacex_url="</a:t>
            </a:r>
            <a:r>
              <a:rPr sz="1800" spc="-10" dirty="0">
                <a:latin typeface="Calibri"/>
                <a:cs typeface="Calibri"/>
                <a:hlinkClick r:id="rId3"/>
              </a:rPr>
              <a:t>https://api.spacexdata.com/v4/ launches/past</a:t>
            </a:r>
            <a:r>
              <a:rPr sz="1800" spc="-10" dirty="0">
                <a:latin typeface="Calibri"/>
                <a:cs typeface="Calibri"/>
              </a:rPr>
              <a:t>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4566" y="3124708"/>
            <a:ext cx="4473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  <a:hlinkClick r:id="rId4"/>
              </a:rPr>
              <a:t>https://en.wikipedia.org/wiki/List_of_Falcon\_9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\_and_Falcon_Heavy_launches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7547" y="4197477"/>
            <a:ext cx="4418965" cy="1786255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431165" indent="-285750">
              <a:lnSpc>
                <a:spcPct val="100000"/>
              </a:lnSpc>
              <a:buFont typeface="Wingdings"/>
              <a:buChar char=""/>
              <a:tabLst>
                <a:tab pos="431165" algn="l"/>
              </a:tabLst>
            </a:pP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API</a:t>
            </a:r>
            <a:endParaRPr sz="1800" dirty="0">
              <a:latin typeface="Calibri"/>
              <a:cs typeface="Calibri"/>
            </a:endParaRPr>
          </a:p>
          <a:p>
            <a:pPr marL="431165" indent="-285750">
              <a:lnSpc>
                <a:spcPct val="100000"/>
              </a:lnSpc>
              <a:buFont typeface="Wingdings"/>
              <a:buChar char=""/>
              <a:tabLst>
                <a:tab pos="431165" algn="l"/>
              </a:tabLst>
            </a:pPr>
            <a:r>
              <a:rPr sz="1800" dirty="0">
                <a:latin typeface="Calibri"/>
                <a:cs typeface="Calibri"/>
              </a:rPr>
              <a:t>Clean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5698" y="4175378"/>
            <a:ext cx="4401820" cy="1786889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249554" rIns="0" bIns="0" rtlCol="0">
            <a:spAutoFit/>
          </a:bodyPr>
          <a:lstStyle/>
          <a:p>
            <a:pPr marL="430530" marR="325755" indent="-285750">
              <a:lnSpc>
                <a:spcPct val="100000"/>
              </a:lnSpc>
              <a:spcBef>
                <a:spcPts val="1964"/>
              </a:spcBef>
              <a:buFont typeface="Wingdings"/>
              <a:buChar char=""/>
              <a:tabLst>
                <a:tab pos="430530" algn="l"/>
              </a:tabLst>
            </a:pPr>
            <a:r>
              <a:rPr sz="1800" dirty="0">
                <a:latin typeface="Calibri"/>
                <a:cs typeface="Calibri"/>
              </a:rPr>
              <a:t>Extract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Falcon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HTML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Wikipedia</a:t>
            </a:r>
            <a:endParaRPr sz="1800">
              <a:latin typeface="Calibri"/>
              <a:cs typeface="Calibri"/>
            </a:endParaRPr>
          </a:p>
          <a:p>
            <a:pPr marL="430530" marR="657225" indent="-285750">
              <a:lnSpc>
                <a:spcPct val="100000"/>
              </a:lnSpc>
              <a:buFont typeface="Wingdings"/>
              <a:buChar char=""/>
              <a:tabLst>
                <a:tab pos="430530" algn="l"/>
              </a:tabLst>
            </a:pPr>
            <a:r>
              <a:rPr sz="1800" dirty="0">
                <a:latin typeface="Calibri"/>
                <a:cs typeface="Calibri"/>
              </a:rPr>
              <a:t>Parse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Pandas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7</a:t>
            </a:fld>
            <a:endParaRPr spc="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8867" y="417575"/>
            <a:ext cx="585724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37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Collection</a:t>
            </a:r>
            <a:r>
              <a:rPr sz="37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760" dirty="0">
                <a:solidFill>
                  <a:srgbClr val="0A48CA"/>
                </a:solidFill>
                <a:latin typeface="Microsoft Sans Serif"/>
                <a:cs typeface="Microsoft Sans Serif"/>
              </a:rPr>
              <a:t>–</a:t>
            </a:r>
            <a:r>
              <a:rPr sz="37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265" dirty="0">
                <a:solidFill>
                  <a:srgbClr val="0A48CA"/>
                </a:solidFill>
                <a:latin typeface="Microsoft Sans Serif"/>
                <a:cs typeface="Microsoft Sans Serif"/>
              </a:rPr>
              <a:t>SpaceX</a:t>
            </a:r>
            <a:r>
              <a:rPr sz="3700" spc="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70" dirty="0">
                <a:solidFill>
                  <a:srgbClr val="0A48CA"/>
                </a:solidFill>
                <a:latin typeface="Microsoft Sans Serif"/>
                <a:cs typeface="Microsoft Sans Serif"/>
              </a:rPr>
              <a:t>API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1494" y="1496263"/>
            <a:ext cx="4474845" cy="36112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1069975" indent="-226060">
              <a:lnSpc>
                <a:spcPts val="216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json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	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594995" indent="-22606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Filter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9` 	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000" dirty="0">
              <a:latin typeface="Microsoft Sans Serif"/>
              <a:cs typeface="Microsoft Sans Serif"/>
            </a:endParaRPr>
          </a:p>
          <a:p>
            <a:pPr marL="239395" indent="-22669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Export</a:t>
            </a:r>
            <a:r>
              <a:rPr sz="20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csv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dirty="0">
                <a:latin typeface="Microsoft Sans Serif"/>
                <a:cs typeface="Microsoft Sans Serif"/>
              </a:rPr>
              <a:t>Link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1730"/>
              </a:lnSpc>
              <a:spcBef>
                <a:spcPts val="1040"/>
              </a:spcBef>
            </a:pPr>
            <a:r>
              <a:rPr lang="en-IN" sz="1600" i="1" spc="-1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https://github.com/Jananijana2712/SpaceX-Falcon_9_First_Stage_Landing_Prediction/blob/main/1.1%20SpaceX%20the%20Data%20Collection%20API%20Lab.ipynb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48550" y="1521713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5"/>
                </a:lnTo>
                <a:lnTo>
                  <a:pt x="3404615" y="1019555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28232" y="1521726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498335"/>
                </a:moveTo>
                <a:lnTo>
                  <a:pt x="1174191" y="498335"/>
                </a:lnTo>
                <a:lnTo>
                  <a:pt x="1019556" y="344411"/>
                </a:lnTo>
                <a:lnTo>
                  <a:pt x="1018794" y="345173"/>
                </a:lnTo>
                <a:lnTo>
                  <a:pt x="1018794" y="0"/>
                </a:lnTo>
                <a:lnTo>
                  <a:pt x="0" y="0"/>
                </a:lnTo>
                <a:lnTo>
                  <a:pt x="0" y="1019543"/>
                </a:lnTo>
                <a:lnTo>
                  <a:pt x="1018794" y="1019543"/>
                </a:lnTo>
                <a:lnTo>
                  <a:pt x="1018794" y="662165"/>
                </a:lnTo>
                <a:lnTo>
                  <a:pt x="1019556" y="662927"/>
                </a:lnTo>
                <a:lnTo>
                  <a:pt x="1174242" y="508241"/>
                </a:lnTo>
                <a:lnTo>
                  <a:pt x="1184148" y="508241"/>
                </a:lnTo>
                <a:lnTo>
                  <a:pt x="1179182" y="503301"/>
                </a:lnTo>
                <a:lnTo>
                  <a:pt x="1184148" y="49833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5119" y="1605026"/>
            <a:ext cx="532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175" dirty="0">
                <a:solidFill>
                  <a:srgbClr val="FFFFFF"/>
                </a:solidFill>
                <a:latin typeface="Roboto Bk"/>
                <a:cs typeface="Roboto Bk"/>
              </a:rPr>
              <a:t>A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0166" y="1872996"/>
            <a:ext cx="137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28232" y="2683001"/>
            <a:ext cx="3404870" cy="1021080"/>
          </a:xfrm>
          <a:custGeom>
            <a:avLst/>
            <a:gdLst/>
            <a:ahLst/>
            <a:cxnLst/>
            <a:rect l="l" t="t" r="r" b="b"/>
            <a:pathLst>
              <a:path w="3404870" h="1021079">
                <a:moveTo>
                  <a:pt x="3404616" y="0"/>
                </a:moveTo>
                <a:lnTo>
                  <a:pt x="0" y="0"/>
                </a:lnTo>
                <a:lnTo>
                  <a:pt x="0" y="1021080"/>
                </a:lnTo>
                <a:lnTo>
                  <a:pt x="3404616" y="1021080"/>
                </a:lnTo>
                <a:lnTo>
                  <a:pt x="3404616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68235" y="3035300"/>
            <a:ext cx="233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Convert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dataframe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67494" y="2671571"/>
            <a:ext cx="1191260" cy="1021080"/>
          </a:xfrm>
          <a:custGeom>
            <a:avLst/>
            <a:gdLst/>
            <a:ahLst/>
            <a:cxnLst/>
            <a:rect l="l" t="t" r="r" b="b"/>
            <a:pathLst>
              <a:path w="1191259" h="1021079">
                <a:moveTo>
                  <a:pt x="1191006" y="0"/>
                </a:moveTo>
                <a:lnTo>
                  <a:pt x="170688" y="0"/>
                </a:lnTo>
                <a:lnTo>
                  <a:pt x="170688" y="408686"/>
                </a:lnTo>
                <a:lnTo>
                  <a:pt x="169672" y="407670"/>
                </a:lnTo>
                <a:lnTo>
                  <a:pt x="9144" y="567690"/>
                </a:lnTo>
                <a:lnTo>
                  <a:pt x="0" y="567690"/>
                </a:lnTo>
                <a:lnTo>
                  <a:pt x="164719" y="731520"/>
                </a:lnTo>
                <a:lnTo>
                  <a:pt x="170688" y="725639"/>
                </a:lnTo>
                <a:lnTo>
                  <a:pt x="170688" y="1021080"/>
                </a:lnTo>
                <a:lnTo>
                  <a:pt x="1191006" y="1021080"/>
                </a:lnTo>
                <a:lnTo>
                  <a:pt x="119100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22916" y="2701289"/>
            <a:ext cx="5048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B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48550" y="3831335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6"/>
                </a:lnTo>
                <a:lnTo>
                  <a:pt x="3404615" y="1019556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28232" y="3831335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508254"/>
                </a:moveTo>
                <a:lnTo>
                  <a:pt x="1019556" y="345948"/>
                </a:lnTo>
                <a:lnTo>
                  <a:pt x="1018794" y="346710"/>
                </a:lnTo>
                <a:lnTo>
                  <a:pt x="1018794" y="0"/>
                </a:lnTo>
                <a:lnTo>
                  <a:pt x="0" y="0"/>
                </a:lnTo>
                <a:lnTo>
                  <a:pt x="0" y="1019556"/>
                </a:lnTo>
                <a:lnTo>
                  <a:pt x="1018794" y="1019556"/>
                </a:lnTo>
                <a:lnTo>
                  <a:pt x="1018794" y="673608"/>
                </a:lnTo>
                <a:lnTo>
                  <a:pt x="1019556" y="674370"/>
                </a:lnTo>
                <a:lnTo>
                  <a:pt x="1184148" y="509778"/>
                </a:lnTo>
                <a:lnTo>
                  <a:pt x="1018794" y="509778"/>
                </a:lnTo>
                <a:lnTo>
                  <a:pt x="1018794" y="508254"/>
                </a:lnTo>
                <a:lnTo>
                  <a:pt x="1184148" y="508254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79945" y="3914140"/>
            <a:ext cx="513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25" dirty="0">
                <a:solidFill>
                  <a:srgbClr val="FFFFFF"/>
                </a:solidFill>
                <a:latin typeface="Roboto Bk"/>
                <a:cs typeface="Roboto Bk"/>
              </a:rPr>
              <a:t>C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9366" y="4182617"/>
            <a:ext cx="153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wrangling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8232" y="4985003"/>
            <a:ext cx="3509010" cy="1021080"/>
          </a:xfrm>
          <a:custGeom>
            <a:avLst/>
            <a:gdLst/>
            <a:ahLst/>
            <a:cxnLst/>
            <a:rect l="l" t="t" r="r" b="b"/>
            <a:pathLst>
              <a:path w="3509009" h="1021079">
                <a:moveTo>
                  <a:pt x="3509010" y="0"/>
                </a:moveTo>
                <a:lnTo>
                  <a:pt x="0" y="0"/>
                </a:lnTo>
                <a:lnTo>
                  <a:pt x="0" y="1021080"/>
                </a:lnTo>
                <a:lnTo>
                  <a:pt x="3509010" y="1021080"/>
                </a:lnTo>
                <a:lnTo>
                  <a:pt x="3509010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14259" y="5337302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csv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0364" y="4965953"/>
            <a:ext cx="1187450" cy="1040130"/>
          </a:xfrm>
          <a:custGeom>
            <a:avLst/>
            <a:gdLst/>
            <a:ahLst/>
            <a:cxnLst/>
            <a:rect l="l" t="t" r="r" b="b"/>
            <a:pathLst>
              <a:path w="1187450" h="1040129">
                <a:moveTo>
                  <a:pt x="1187196" y="0"/>
                </a:moveTo>
                <a:lnTo>
                  <a:pt x="166878" y="0"/>
                </a:lnTo>
                <a:lnTo>
                  <a:pt x="166878" y="360273"/>
                </a:lnTo>
                <a:lnTo>
                  <a:pt x="164719" y="358140"/>
                </a:lnTo>
                <a:lnTo>
                  <a:pt x="4584" y="517398"/>
                </a:lnTo>
                <a:lnTo>
                  <a:pt x="1524" y="517398"/>
                </a:lnTo>
                <a:lnTo>
                  <a:pt x="3048" y="518934"/>
                </a:lnTo>
                <a:lnTo>
                  <a:pt x="0" y="521970"/>
                </a:lnTo>
                <a:lnTo>
                  <a:pt x="6108" y="521970"/>
                </a:lnTo>
                <a:lnTo>
                  <a:pt x="165862" y="681228"/>
                </a:lnTo>
                <a:lnTo>
                  <a:pt x="166878" y="680224"/>
                </a:lnTo>
                <a:lnTo>
                  <a:pt x="166878" y="1021080"/>
                </a:lnTo>
                <a:lnTo>
                  <a:pt x="166878" y="1040130"/>
                </a:lnTo>
                <a:lnTo>
                  <a:pt x="1187196" y="1040130"/>
                </a:lnTo>
                <a:lnTo>
                  <a:pt x="1187196" y="1021080"/>
                </a:lnTo>
                <a:lnTo>
                  <a:pt x="1187196" y="530352"/>
                </a:lnTo>
                <a:lnTo>
                  <a:pt x="11871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5409" y="5045964"/>
            <a:ext cx="5060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D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8</a:t>
            </a:fld>
            <a:endParaRPr spc="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8867" y="417575"/>
            <a:ext cx="533209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37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Collection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760" dirty="0">
                <a:solidFill>
                  <a:srgbClr val="0A48CA"/>
                </a:solidFill>
                <a:latin typeface="Microsoft Sans Serif"/>
                <a:cs typeface="Microsoft Sans Serif"/>
              </a:rPr>
              <a:t>–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10" dirty="0">
                <a:solidFill>
                  <a:srgbClr val="0A48CA"/>
                </a:solidFill>
                <a:latin typeface="Microsoft Sans Serif"/>
                <a:cs typeface="Microsoft Sans Serif"/>
              </a:rPr>
              <a:t>Scraping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31494" y="1593341"/>
            <a:ext cx="4474845" cy="380488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38760" marR="13335" indent="-226060">
              <a:lnSpc>
                <a:spcPts val="2160"/>
              </a:lnSpc>
              <a:spcBef>
                <a:spcPts val="37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Falcon9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Wiki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page 	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20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31750" indent="-22606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Extract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column/variable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 	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HTML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table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header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461645" indent="-226060">
              <a:lnSpc>
                <a:spcPts val="216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frame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parsing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	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HTML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tables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Export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csv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dirty="0">
                <a:latin typeface="Microsoft Sans Serif"/>
                <a:cs typeface="Microsoft Sans Serif"/>
              </a:rPr>
              <a:t>Link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:</a:t>
            </a:r>
            <a:endParaRPr lang="en-IN" sz="2000" spc="-5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1730"/>
              </a:lnSpc>
              <a:spcBef>
                <a:spcPts val="1045"/>
              </a:spcBef>
            </a:pPr>
            <a:r>
              <a:rPr lang="en-IN" sz="1600" i="1" spc="-10" dirty="0">
                <a:solidFill>
                  <a:srgbClr val="4471C4"/>
                </a:solidFill>
                <a:latin typeface="Calibri"/>
                <a:cs typeface="Calibri"/>
                <a:hlinkClick r:id="rId3"/>
              </a:rPr>
              <a:t>https://github.com/Jananijana2712/SpaceX-Falcon_9_First_Stage_Landing_Prediction/blob/main/1.2%20SpaceX%20the%20Data%20Collection%20with%20Web%20Scraping%20lab.ipynb</a:t>
            </a:r>
            <a:endParaRPr lang="en-IN"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48550" y="1521713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5"/>
                </a:lnTo>
                <a:lnTo>
                  <a:pt x="3404615" y="1019555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28232" y="1521726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498335"/>
                </a:moveTo>
                <a:lnTo>
                  <a:pt x="1174191" y="498335"/>
                </a:lnTo>
                <a:lnTo>
                  <a:pt x="1019556" y="344411"/>
                </a:lnTo>
                <a:lnTo>
                  <a:pt x="1018794" y="345173"/>
                </a:lnTo>
                <a:lnTo>
                  <a:pt x="1018794" y="0"/>
                </a:lnTo>
                <a:lnTo>
                  <a:pt x="0" y="0"/>
                </a:lnTo>
                <a:lnTo>
                  <a:pt x="0" y="1019543"/>
                </a:lnTo>
                <a:lnTo>
                  <a:pt x="1018794" y="1019543"/>
                </a:lnTo>
                <a:lnTo>
                  <a:pt x="1018794" y="662165"/>
                </a:lnTo>
                <a:lnTo>
                  <a:pt x="1019556" y="662927"/>
                </a:lnTo>
                <a:lnTo>
                  <a:pt x="1174242" y="508241"/>
                </a:lnTo>
                <a:lnTo>
                  <a:pt x="1184148" y="508241"/>
                </a:lnTo>
                <a:lnTo>
                  <a:pt x="1179182" y="503301"/>
                </a:lnTo>
                <a:lnTo>
                  <a:pt x="1184148" y="49833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6675119" y="1605026"/>
            <a:ext cx="532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175" dirty="0">
                <a:solidFill>
                  <a:srgbClr val="FFFFFF"/>
                </a:solidFill>
                <a:latin typeface="Roboto Bk"/>
                <a:cs typeface="Roboto Bk"/>
              </a:rPr>
              <a:t>A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40166" y="1872996"/>
            <a:ext cx="137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28232" y="2683001"/>
            <a:ext cx="3404870" cy="1021080"/>
          </a:xfrm>
          <a:custGeom>
            <a:avLst/>
            <a:gdLst/>
            <a:ahLst/>
            <a:cxnLst/>
            <a:rect l="l" t="t" r="r" b="b"/>
            <a:pathLst>
              <a:path w="3404870" h="1021079">
                <a:moveTo>
                  <a:pt x="3404616" y="0"/>
                </a:moveTo>
                <a:lnTo>
                  <a:pt x="0" y="0"/>
                </a:lnTo>
                <a:lnTo>
                  <a:pt x="0" y="1021080"/>
                </a:lnTo>
                <a:lnTo>
                  <a:pt x="3404616" y="1021080"/>
                </a:lnTo>
                <a:lnTo>
                  <a:pt x="3404616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89190" y="3035300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Extract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67494" y="2671571"/>
            <a:ext cx="1191260" cy="1021080"/>
          </a:xfrm>
          <a:custGeom>
            <a:avLst/>
            <a:gdLst/>
            <a:ahLst/>
            <a:cxnLst/>
            <a:rect l="l" t="t" r="r" b="b"/>
            <a:pathLst>
              <a:path w="1191259" h="1021079">
                <a:moveTo>
                  <a:pt x="1191006" y="0"/>
                </a:moveTo>
                <a:lnTo>
                  <a:pt x="170688" y="0"/>
                </a:lnTo>
                <a:lnTo>
                  <a:pt x="170688" y="408686"/>
                </a:lnTo>
                <a:lnTo>
                  <a:pt x="169672" y="407670"/>
                </a:lnTo>
                <a:lnTo>
                  <a:pt x="9144" y="567690"/>
                </a:lnTo>
                <a:lnTo>
                  <a:pt x="0" y="567690"/>
                </a:lnTo>
                <a:lnTo>
                  <a:pt x="164719" y="731520"/>
                </a:lnTo>
                <a:lnTo>
                  <a:pt x="170688" y="725639"/>
                </a:lnTo>
                <a:lnTo>
                  <a:pt x="170688" y="1021080"/>
                </a:lnTo>
                <a:lnTo>
                  <a:pt x="1191006" y="1021080"/>
                </a:lnTo>
                <a:lnTo>
                  <a:pt x="119100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122916" y="2701289"/>
            <a:ext cx="5048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B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48550" y="3831335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6"/>
                </a:lnTo>
                <a:lnTo>
                  <a:pt x="3404615" y="1019556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28232" y="3831335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508254"/>
                </a:moveTo>
                <a:lnTo>
                  <a:pt x="1019556" y="345948"/>
                </a:lnTo>
                <a:lnTo>
                  <a:pt x="1018794" y="346710"/>
                </a:lnTo>
                <a:lnTo>
                  <a:pt x="1018794" y="0"/>
                </a:lnTo>
                <a:lnTo>
                  <a:pt x="0" y="0"/>
                </a:lnTo>
                <a:lnTo>
                  <a:pt x="0" y="1019556"/>
                </a:lnTo>
                <a:lnTo>
                  <a:pt x="1018794" y="1019556"/>
                </a:lnTo>
                <a:lnTo>
                  <a:pt x="1018794" y="673608"/>
                </a:lnTo>
                <a:lnTo>
                  <a:pt x="1019556" y="674370"/>
                </a:lnTo>
                <a:lnTo>
                  <a:pt x="1184148" y="509778"/>
                </a:lnTo>
                <a:lnTo>
                  <a:pt x="1018794" y="509778"/>
                </a:lnTo>
                <a:lnTo>
                  <a:pt x="1018794" y="508254"/>
                </a:lnTo>
                <a:lnTo>
                  <a:pt x="1184148" y="508254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79945" y="3914140"/>
            <a:ext cx="513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25" dirty="0">
                <a:solidFill>
                  <a:srgbClr val="FFFFFF"/>
                </a:solidFill>
                <a:latin typeface="Roboto Bk"/>
                <a:cs typeface="Roboto Bk"/>
              </a:rPr>
              <a:t>C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8916" y="4182617"/>
            <a:ext cx="1118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Parse</a:t>
            </a:r>
            <a:r>
              <a:rPr sz="1800" spc="-20" dirty="0">
                <a:latin typeface="Arial MT"/>
                <a:cs typeface="Arial MT"/>
              </a:rPr>
              <a:t> 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8232" y="4985003"/>
            <a:ext cx="3509010" cy="1021080"/>
          </a:xfrm>
          <a:custGeom>
            <a:avLst/>
            <a:gdLst/>
            <a:ahLst/>
            <a:cxnLst/>
            <a:rect l="l" t="t" r="r" b="b"/>
            <a:pathLst>
              <a:path w="3509009" h="1021079">
                <a:moveTo>
                  <a:pt x="3509010" y="0"/>
                </a:moveTo>
                <a:lnTo>
                  <a:pt x="0" y="0"/>
                </a:lnTo>
                <a:lnTo>
                  <a:pt x="0" y="1021080"/>
                </a:lnTo>
                <a:lnTo>
                  <a:pt x="3509010" y="1021080"/>
                </a:lnTo>
                <a:lnTo>
                  <a:pt x="3509010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14259" y="5337302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csv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0364" y="4965953"/>
            <a:ext cx="1187450" cy="1040130"/>
          </a:xfrm>
          <a:custGeom>
            <a:avLst/>
            <a:gdLst/>
            <a:ahLst/>
            <a:cxnLst/>
            <a:rect l="l" t="t" r="r" b="b"/>
            <a:pathLst>
              <a:path w="1187450" h="1040129">
                <a:moveTo>
                  <a:pt x="1187196" y="0"/>
                </a:moveTo>
                <a:lnTo>
                  <a:pt x="166878" y="0"/>
                </a:lnTo>
                <a:lnTo>
                  <a:pt x="166878" y="360273"/>
                </a:lnTo>
                <a:lnTo>
                  <a:pt x="164719" y="358140"/>
                </a:lnTo>
                <a:lnTo>
                  <a:pt x="4584" y="517398"/>
                </a:lnTo>
                <a:lnTo>
                  <a:pt x="1524" y="517398"/>
                </a:lnTo>
                <a:lnTo>
                  <a:pt x="3048" y="518934"/>
                </a:lnTo>
                <a:lnTo>
                  <a:pt x="0" y="521970"/>
                </a:lnTo>
                <a:lnTo>
                  <a:pt x="6108" y="521970"/>
                </a:lnTo>
                <a:lnTo>
                  <a:pt x="165862" y="681228"/>
                </a:lnTo>
                <a:lnTo>
                  <a:pt x="166878" y="680224"/>
                </a:lnTo>
                <a:lnTo>
                  <a:pt x="166878" y="1021080"/>
                </a:lnTo>
                <a:lnTo>
                  <a:pt x="166878" y="1040130"/>
                </a:lnTo>
                <a:lnTo>
                  <a:pt x="1187196" y="1040130"/>
                </a:lnTo>
                <a:lnTo>
                  <a:pt x="1187196" y="1021080"/>
                </a:lnTo>
                <a:lnTo>
                  <a:pt x="1187196" y="530352"/>
                </a:lnTo>
                <a:lnTo>
                  <a:pt x="11871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265409" y="5045964"/>
            <a:ext cx="5060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D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9</a:t>
            </a:fld>
            <a:endParaRPr spc="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Data</a:t>
            </a:r>
            <a:r>
              <a:rPr spc="-175" dirty="0"/>
              <a:t> </a:t>
            </a:r>
            <a:r>
              <a:rPr spc="-80" dirty="0"/>
              <a:t>Wrangling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8791" y="2408173"/>
            <a:ext cx="535114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Specify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site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Create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Link:</a:t>
            </a:r>
            <a:r>
              <a:rPr lang="en-US" sz="1800" b="1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  <a:hlinkClick r:id="rId3"/>
              </a:rPr>
              <a:t>https</a:t>
            </a:r>
            <a:r>
              <a:rPr lang="en-US" sz="1800" b="1" dirty="0">
                <a:latin typeface="Calibri"/>
                <a:cs typeface="Calibri"/>
                <a:hlinkClick r:id="rId3"/>
              </a:rPr>
              <a:t>://github.com/Jananijana2712/SpaceX-Falcon_9_First_Stage_Landing_Prediction/blob/main/1.3%20SpaceX%20Data%20Wrangling.ipynb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5559" y="2014727"/>
            <a:ext cx="5136642" cy="35417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10</a:t>
            </a:fld>
            <a:endParaRPr spc="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EDA</a:t>
            </a:r>
            <a:r>
              <a:rPr spc="30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45" dirty="0"/>
              <a:t>Data</a:t>
            </a:r>
            <a:r>
              <a:rPr spc="25" dirty="0"/>
              <a:t> </a:t>
            </a:r>
            <a:r>
              <a:rPr spc="-60" dirty="0"/>
              <a:t>Visualization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7595" y="5635530"/>
            <a:ext cx="761365" cy="463550"/>
            <a:chOff x="837595" y="5635530"/>
            <a:chExt cx="761365" cy="463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396" y="5801014"/>
              <a:ext cx="259900" cy="206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7595" y="5635530"/>
              <a:ext cx="761365" cy="463550"/>
            </a:xfrm>
            <a:custGeom>
              <a:avLst/>
              <a:gdLst/>
              <a:ahLst/>
              <a:cxnLst/>
              <a:rect l="l" t="t" r="r" b="b"/>
              <a:pathLst>
                <a:path w="761365" h="463550">
                  <a:moveTo>
                    <a:pt x="325346" y="0"/>
                  </a:moveTo>
                  <a:lnTo>
                    <a:pt x="281847" y="4834"/>
                  </a:lnTo>
                  <a:lnTo>
                    <a:pt x="232652" y="25650"/>
                  </a:lnTo>
                  <a:lnTo>
                    <a:pt x="192445" y="59133"/>
                  </a:lnTo>
                  <a:lnTo>
                    <a:pt x="163519" y="102725"/>
                  </a:lnTo>
                  <a:lnTo>
                    <a:pt x="148170" y="153868"/>
                  </a:lnTo>
                  <a:lnTo>
                    <a:pt x="113706" y="158742"/>
                  </a:lnTo>
                  <a:lnTo>
                    <a:pt x="53060" y="190193"/>
                  </a:lnTo>
                  <a:lnTo>
                    <a:pt x="9403" y="252547"/>
                  </a:lnTo>
                  <a:lnTo>
                    <a:pt x="0" y="292744"/>
                  </a:lnTo>
                  <a:lnTo>
                    <a:pt x="1147" y="331012"/>
                  </a:lnTo>
                  <a:lnTo>
                    <a:pt x="13329" y="374190"/>
                  </a:lnTo>
                  <a:lnTo>
                    <a:pt x="35853" y="409135"/>
                  </a:lnTo>
                  <a:lnTo>
                    <a:pt x="66326" y="436360"/>
                  </a:lnTo>
                  <a:lnTo>
                    <a:pt x="102893" y="454606"/>
                  </a:lnTo>
                  <a:lnTo>
                    <a:pt x="143698" y="462617"/>
                  </a:lnTo>
                  <a:lnTo>
                    <a:pt x="634593" y="463528"/>
                  </a:lnTo>
                  <a:lnTo>
                    <a:pt x="684758" y="452166"/>
                  </a:lnTo>
                  <a:lnTo>
                    <a:pt x="725264" y="423449"/>
                  </a:lnTo>
                  <a:lnTo>
                    <a:pt x="732632" y="411945"/>
                  </a:lnTo>
                  <a:lnTo>
                    <a:pt x="634593" y="411945"/>
                  </a:lnTo>
                  <a:lnTo>
                    <a:pt x="145934" y="411200"/>
                  </a:lnTo>
                  <a:lnTo>
                    <a:pt x="94523" y="393616"/>
                  </a:lnTo>
                  <a:lnTo>
                    <a:pt x="59214" y="352332"/>
                  </a:lnTo>
                  <a:lnTo>
                    <a:pt x="50375" y="298064"/>
                  </a:lnTo>
                  <a:lnTo>
                    <a:pt x="56599" y="271277"/>
                  </a:lnTo>
                  <a:lnTo>
                    <a:pt x="69732" y="246600"/>
                  </a:lnTo>
                  <a:lnTo>
                    <a:pt x="89213" y="226772"/>
                  </a:lnTo>
                  <a:lnTo>
                    <a:pt x="112887" y="213151"/>
                  </a:lnTo>
                  <a:lnTo>
                    <a:pt x="139135" y="206370"/>
                  </a:lnTo>
                  <a:lnTo>
                    <a:pt x="196539" y="206370"/>
                  </a:lnTo>
                  <a:lnTo>
                    <a:pt x="196539" y="179287"/>
                  </a:lnTo>
                  <a:lnTo>
                    <a:pt x="203822" y="137187"/>
                  </a:lnTo>
                  <a:lnTo>
                    <a:pt x="223824" y="100645"/>
                  </a:lnTo>
                  <a:lnTo>
                    <a:pt x="254431" y="72376"/>
                  </a:lnTo>
                  <a:lnTo>
                    <a:pt x="293526" y="55092"/>
                  </a:lnTo>
                  <a:lnTo>
                    <a:pt x="336115" y="52259"/>
                  </a:lnTo>
                  <a:lnTo>
                    <a:pt x="446756" y="52259"/>
                  </a:lnTo>
                  <a:lnTo>
                    <a:pt x="442008" y="46619"/>
                  </a:lnTo>
                  <a:lnTo>
                    <a:pt x="407255" y="21623"/>
                  </a:lnTo>
                  <a:lnTo>
                    <a:pt x="367759" y="5840"/>
                  </a:lnTo>
                  <a:lnTo>
                    <a:pt x="325346" y="0"/>
                  </a:lnTo>
                  <a:close/>
                </a:path>
                <a:path w="761365" h="463550">
                  <a:moveTo>
                    <a:pt x="613632" y="128615"/>
                  </a:moveTo>
                  <a:lnTo>
                    <a:pt x="490253" y="128615"/>
                  </a:lnTo>
                  <a:lnTo>
                    <a:pt x="514292" y="129096"/>
                  </a:lnTo>
                  <a:lnTo>
                    <a:pt x="537543" y="135216"/>
                  </a:lnTo>
                  <a:lnTo>
                    <a:pt x="576910" y="163541"/>
                  </a:lnTo>
                  <a:lnTo>
                    <a:pt x="598695" y="206370"/>
                  </a:lnTo>
                  <a:lnTo>
                    <a:pt x="601629" y="230703"/>
                  </a:lnTo>
                  <a:lnTo>
                    <a:pt x="601629" y="256536"/>
                  </a:lnTo>
                  <a:lnTo>
                    <a:pt x="635421" y="256536"/>
                  </a:lnTo>
                  <a:lnTo>
                    <a:pt x="665439" y="263778"/>
                  </a:lnTo>
                  <a:lnTo>
                    <a:pt x="689515" y="281356"/>
                  </a:lnTo>
                  <a:lnTo>
                    <a:pt x="705241" y="306678"/>
                  </a:lnTo>
                  <a:lnTo>
                    <a:pt x="710211" y="337152"/>
                  </a:lnTo>
                  <a:lnTo>
                    <a:pt x="703512" y="365962"/>
                  </a:lnTo>
                  <a:lnTo>
                    <a:pt x="687196" y="389494"/>
                  </a:lnTo>
                  <a:lnTo>
                    <a:pt x="663483" y="405553"/>
                  </a:lnTo>
                  <a:lnTo>
                    <a:pt x="634593" y="411945"/>
                  </a:lnTo>
                  <a:lnTo>
                    <a:pt x="732632" y="411945"/>
                  </a:lnTo>
                  <a:lnTo>
                    <a:pt x="752042" y="381642"/>
                  </a:lnTo>
                  <a:lnTo>
                    <a:pt x="761023" y="331012"/>
                  </a:lnTo>
                  <a:lnTo>
                    <a:pt x="751880" y="286148"/>
                  </a:lnTo>
                  <a:lnTo>
                    <a:pt x="728535" y="248261"/>
                  </a:lnTo>
                  <a:lnTo>
                    <a:pt x="693761" y="220484"/>
                  </a:lnTo>
                  <a:lnTo>
                    <a:pt x="650329" y="205947"/>
                  </a:lnTo>
                  <a:lnTo>
                    <a:pt x="642521" y="176493"/>
                  </a:lnTo>
                  <a:lnTo>
                    <a:pt x="629292" y="149351"/>
                  </a:lnTo>
                  <a:lnTo>
                    <a:pt x="613632" y="128615"/>
                  </a:lnTo>
                  <a:close/>
                </a:path>
                <a:path w="761365" h="463550">
                  <a:moveTo>
                    <a:pt x="196539" y="206370"/>
                  </a:moveTo>
                  <a:lnTo>
                    <a:pt x="142002" y="206370"/>
                  </a:lnTo>
                  <a:lnTo>
                    <a:pt x="167137" y="206858"/>
                  </a:lnTo>
                  <a:lnTo>
                    <a:pt x="196539" y="211743"/>
                  </a:lnTo>
                  <a:lnTo>
                    <a:pt x="196539" y="206370"/>
                  </a:lnTo>
                  <a:close/>
                </a:path>
                <a:path w="761365" h="463550">
                  <a:moveTo>
                    <a:pt x="446756" y="52259"/>
                  </a:moveTo>
                  <a:lnTo>
                    <a:pt x="336115" y="52259"/>
                  </a:lnTo>
                  <a:lnTo>
                    <a:pt x="376173" y="63366"/>
                  </a:lnTo>
                  <a:lnTo>
                    <a:pt x="410439" y="86895"/>
                  </a:lnTo>
                  <a:lnTo>
                    <a:pt x="435651" y="121329"/>
                  </a:lnTo>
                  <a:lnTo>
                    <a:pt x="445672" y="141283"/>
                  </a:lnTo>
                  <a:lnTo>
                    <a:pt x="466461" y="133914"/>
                  </a:lnTo>
                  <a:lnTo>
                    <a:pt x="490253" y="128615"/>
                  </a:lnTo>
                  <a:lnTo>
                    <a:pt x="613632" y="128615"/>
                  </a:lnTo>
                  <a:lnTo>
                    <a:pt x="611094" y="125253"/>
                  </a:lnTo>
                  <a:lnTo>
                    <a:pt x="588377" y="104935"/>
                  </a:lnTo>
                  <a:lnTo>
                    <a:pt x="561241" y="89630"/>
                  </a:lnTo>
                  <a:lnTo>
                    <a:pt x="531861" y="80257"/>
                  </a:lnTo>
                  <a:lnTo>
                    <a:pt x="530344" y="80096"/>
                  </a:lnTo>
                  <a:lnTo>
                    <a:pt x="470188" y="80096"/>
                  </a:lnTo>
                  <a:lnTo>
                    <a:pt x="446756" y="52259"/>
                  </a:lnTo>
                  <a:close/>
                </a:path>
                <a:path w="761365" h="463550">
                  <a:moveTo>
                    <a:pt x="501191" y="77013"/>
                  </a:moveTo>
                  <a:lnTo>
                    <a:pt x="470188" y="80096"/>
                  </a:lnTo>
                  <a:lnTo>
                    <a:pt x="530344" y="80096"/>
                  </a:lnTo>
                  <a:lnTo>
                    <a:pt x="501191" y="770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1410" y="1864106"/>
            <a:ext cx="9595485" cy="45621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yearly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several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2000" dirty="0">
              <a:latin typeface="Calibri"/>
              <a:cs typeface="Calibri"/>
            </a:endParaRPr>
          </a:p>
          <a:p>
            <a:pPr marL="702310" marR="5080">
              <a:lnSpc>
                <a:spcPct val="100000"/>
              </a:lnSpc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https://github.com/Jananijana2712/SpaceX-Falcon_9_First_Stage_Landing_Prediction/blob/main/1.4%20SpaceX%20%20the%20EDA%20with%20Visualization.ipynb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11</a:t>
            </a:fld>
            <a:endParaRPr spc="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EDA</a:t>
            </a:r>
            <a:r>
              <a:rPr spc="120" dirty="0"/>
              <a:t> </a:t>
            </a:r>
            <a:r>
              <a:rPr dirty="0"/>
              <a:t>with</a:t>
            </a:r>
            <a:r>
              <a:rPr spc="120" dirty="0"/>
              <a:t> </a:t>
            </a:r>
            <a:r>
              <a:rPr spc="-350" dirty="0"/>
              <a:t>SQL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7595" y="5635530"/>
            <a:ext cx="761365" cy="463550"/>
            <a:chOff x="837595" y="5635530"/>
            <a:chExt cx="761365" cy="463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396" y="5801014"/>
              <a:ext cx="259900" cy="206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7595" y="5635530"/>
              <a:ext cx="761365" cy="463550"/>
            </a:xfrm>
            <a:custGeom>
              <a:avLst/>
              <a:gdLst/>
              <a:ahLst/>
              <a:cxnLst/>
              <a:rect l="l" t="t" r="r" b="b"/>
              <a:pathLst>
                <a:path w="761365" h="463550">
                  <a:moveTo>
                    <a:pt x="325346" y="0"/>
                  </a:moveTo>
                  <a:lnTo>
                    <a:pt x="281847" y="4834"/>
                  </a:lnTo>
                  <a:lnTo>
                    <a:pt x="232652" y="25650"/>
                  </a:lnTo>
                  <a:lnTo>
                    <a:pt x="192445" y="59133"/>
                  </a:lnTo>
                  <a:lnTo>
                    <a:pt x="163519" y="102725"/>
                  </a:lnTo>
                  <a:lnTo>
                    <a:pt x="148170" y="153868"/>
                  </a:lnTo>
                  <a:lnTo>
                    <a:pt x="113706" y="158742"/>
                  </a:lnTo>
                  <a:lnTo>
                    <a:pt x="53060" y="190193"/>
                  </a:lnTo>
                  <a:lnTo>
                    <a:pt x="9403" y="252547"/>
                  </a:lnTo>
                  <a:lnTo>
                    <a:pt x="0" y="292744"/>
                  </a:lnTo>
                  <a:lnTo>
                    <a:pt x="1147" y="331012"/>
                  </a:lnTo>
                  <a:lnTo>
                    <a:pt x="13329" y="374190"/>
                  </a:lnTo>
                  <a:lnTo>
                    <a:pt x="35853" y="409135"/>
                  </a:lnTo>
                  <a:lnTo>
                    <a:pt x="66326" y="436360"/>
                  </a:lnTo>
                  <a:lnTo>
                    <a:pt x="102893" y="454606"/>
                  </a:lnTo>
                  <a:lnTo>
                    <a:pt x="143698" y="462617"/>
                  </a:lnTo>
                  <a:lnTo>
                    <a:pt x="634593" y="463528"/>
                  </a:lnTo>
                  <a:lnTo>
                    <a:pt x="684758" y="452166"/>
                  </a:lnTo>
                  <a:lnTo>
                    <a:pt x="725264" y="423449"/>
                  </a:lnTo>
                  <a:lnTo>
                    <a:pt x="732632" y="411945"/>
                  </a:lnTo>
                  <a:lnTo>
                    <a:pt x="634593" y="411945"/>
                  </a:lnTo>
                  <a:lnTo>
                    <a:pt x="145934" y="411200"/>
                  </a:lnTo>
                  <a:lnTo>
                    <a:pt x="94523" y="393616"/>
                  </a:lnTo>
                  <a:lnTo>
                    <a:pt x="59214" y="352332"/>
                  </a:lnTo>
                  <a:lnTo>
                    <a:pt x="50375" y="298064"/>
                  </a:lnTo>
                  <a:lnTo>
                    <a:pt x="56599" y="271277"/>
                  </a:lnTo>
                  <a:lnTo>
                    <a:pt x="69732" y="246600"/>
                  </a:lnTo>
                  <a:lnTo>
                    <a:pt x="89213" y="226772"/>
                  </a:lnTo>
                  <a:lnTo>
                    <a:pt x="112887" y="213151"/>
                  </a:lnTo>
                  <a:lnTo>
                    <a:pt x="139135" y="206370"/>
                  </a:lnTo>
                  <a:lnTo>
                    <a:pt x="196539" y="206370"/>
                  </a:lnTo>
                  <a:lnTo>
                    <a:pt x="196539" y="179287"/>
                  </a:lnTo>
                  <a:lnTo>
                    <a:pt x="203822" y="137187"/>
                  </a:lnTo>
                  <a:lnTo>
                    <a:pt x="223824" y="100645"/>
                  </a:lnTo>
                  <a:lnTo>
                    <a:pt x="254431" y="72376"/>
                  </a:lnTo>
                  <a:lnTo>
                    <a:pt x="293526" y="55092"/>
                  </a:lnTo>
                  <a:lnTo>
                    <a:pt x="336115" y="52259"/>
                  </a:lnTo>
                  <a:lnTo>
                    <a:pt x="446756" y="52259"/>
                  </a:lnTo>
                  <a:lnTo>
                    <a:pt x="442008" y="46619"/>
                  </a:lnTo>
                  <a:lnTo>
                    <a:pt x="407255" y="21623"/>
                  </a:lnTo>
                  <a:lnTo>
                    <a:pt x="367759" y="5840"/>
                  </a:lnTo>
                  <a:lnTo>
                    <a:pt x="325346" y="0"/>
                  </a:lnTo>
                  <a:close/>
                </a:path>
                <a:path w="761365" h="463550">
                  <a:moveTo>
                    <a:pt x="613632" y="128615"/>
                  </a:moveTo>
                  <a:lnTo>
                    <a:pt x="490253" y="128615"/>
                  </a:lnTo>
                  <a:lnTo>
                    <a:pt x="514292" y="129096"/>
                  </a:lnTo>
                  <a:lnTo>
                    <a:pt x="537543" y="135216"/>
                  </a:lnTo>
                  <a:lnTo>
                    <a:pt x="576910" y="163541"/>
                  </a:lnTo>
                  <a:lnTo>
                    <a:pt x="598695" y="206370"/>
                  </a:lnTo>
                  <a:lnTo>
                    <a:pt x="601629" y="230703"/>
                  </a:lnTo>
                  <a:lnTo>
                    <a:pt x="601629" y="256536"/>
                  </a:lnTo>
                  <a:lnTo>
                    <a:pt x="635421" y="256536"/>
                  </a:lnTo>
                  <a:lnTo>
                    <a:pt x="665439" y="263778"/>
                  </a:lnTo>
                  <a:lnTo>
                    <a:pt x="689515" y="281356"/>
                  </a:lnTo>
                  <a:lnTo>
                    <a:pt x="705241" y="306678"/>
                  </a:lnTo>
                  <a:lnTo>
                    <a:pt x="710211" y="337152"/>
                  </a:lnTo>
                  <a:lnTo>
                    <a:pt x="703512" y="365962"/>
                  </a:lnTo>
                  <a:lnTo>
                    <a:pt x="687196" y="389494"/>
                  </a:lnTo>
                  <a:lnTo>
                    <a:pt x="663483" y="405553"/>
                  </a:lnTo>
                  <a:lnTo>
                    <a:pt x="634593" y="411945"/>
                  </a:lnTo>
                  <a:lnTo>
                    <a:pt x="732632" y="411945"/>
                  </a:lnTo>
                  <a:lnTo>
                    <a:pt x="752042" y="381642"/>
                  </a:lnTo>
                  <a:lnTo>
                    <a:pt x="761023" y="331012"/>
                  </a:lnTo>
                  <a:lnTo>
                    <a:pt x="751880" y="286148"/>
                  </a:lnTo>
                  <a:lnTo>
                    <a:pt x="728535" y="248261"/>
                  </a:lnTo>
                  <a:lnTo>
                    <a:pt x="693761" y="220484"/>
                  </a:lnTo>
                  <a:lnTo>
                    <a:pt x="650329" y="205947"/>
                  </a:lnTo>
                  <a:lnTo>
                    <a:pt x="642521" y="176493"/>
                  </a:lnTo>
                  <a:lnTo>
                    <a:pt x="629292" y="149351"/>
                  </a:lnTo>
                  <a:lnTo>
                    <a:pt x="613632" y="128615"/>
                  </a:lnTo>
                  <a:close/>
                </a:path>
                <a:path w="761365" h="463550">
                  <a:moveTo>
                    <a:pt x="196539" y="206370"/>
                  </a:moveTo>
                  <a:lnTo>
                    <a:pt x="142002" y="206370"/>
                  </a:lnTo>
                  <a:lnTo>
                    <a:pt x="167137" y="206858"/>
                  </a:lnTo>
                  <a:lnTo>
                    <a:pt x="196539" y="211743"/>
                  </a:lnTo>
                  <a:lnTo>
                    <a:pt x="196539" y="206370"/>
                  </a:lnTo>
                  <a:close/>
                </a:path>
                <a:path w="761365" h="463550">
                  <a:moveTo>
                    <a:pt x="446756" y="52259"/>
                  </a:moveTo>
                  <a:lnTo>
                    <a:pt x="336115" y="52259"/>
                  </a:lnTo>
                  <a:lnTo>
                    <a:pt x="376173" y="63366"/>
                  </a:lnTo>
                  <a:lnTo>
                    <a:pt x="410439" y="86895"/>
                  </a:lnTo>
                  <a:lnTo>
                    <a:pt x="435651" y="121329"/>
                  </a:lnTo>
                  <a:lnTo>
                    <a:pt x="445672" y="141283"/>
                  </a:lnTo>
                  <a:lnTo>
                    <a:pt x="466461" y="133914"/>
                  </a:lnTo>
                  <a:lnTo>
                    <a:pt x="490253" y="128615"/>
                  </a:lnTo>
                  <a:lnTo>
                    <a:pt x="613632" y="128615"/>
                  </a:lnTo>
                  <a:lnTo>
                    <a:pt x="611094" y="125253"/>
                  </a:lnTo>
                  <a:lnTo>
                    <a:pt x="588377" y="104935"/>
                  </a:lnTo>
                  <a:lnTo>
                    <a:pt x="561241" y="89630"/>
                  </a:lnTo>
                  <a:lnTo>
                    <a:pt x="531861" y="80257"/>
                  </a:lnTo>
                  <a:lnTo>
                    <a:pt x="530344" y="80096"/>
                  </a:lnTo>
                  <a:lnTo>
                    <a:pt x="470188" y="80096"/>
                  </a:lnTo>
                  <a:lnTo>
                    <a:pt x="446756" y="52259"/>
                  </a:lnTo>
                  <a:close/>
                </a:path>
                <a:path w="761365" h="463550">
                  <a:moveTo>
                    <a:pt x="501191" y="77013"/>
                  </a:moveTo>
                  <a:lnTo>
                    <a:pt x="470188" y="80096"/>
                  </a:lnTo>
                  <a:lnTo>
                    <a:pt x="530344" y="80096"/>
                  </a:lnTo>
                  <a:lnTo>
                    <a:pt x="501191" y="770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1032" y="1752853"/>
            <a:ext cx="10539095" cy="4688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mission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'CCA’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NASA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(CRS)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F9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v1.1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achieved.</a:t>
            </a:r>
            <a:endParaRPr sz="1800" dirty="0">
              <a:latin typeface="Calibri"/>
              <a:cs typeface="Calibri"/>
            </a:endParaRPr>
          </a:p>
          <a:p>
            <a:pPr marL="298450" marR="2667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greater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4000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but </a:t>
            </a:r>
            <a:r>
              <a:rPr sz="1800" dirty="0">
                <a:latin typeface="Calibri"/>
                <a:cs typeface="Calibri"/>
              </a:rPr>
              <a:t>less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20" dirty="0">
                <a:latin typeface="Calibri"/>
                <a:cs typeface="Calibri"/>
              </a:rPr>
              <a:t> 6000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outcomes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booster_versions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maximum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mass.</a:t>
            </a:r>
            <a:endParaRPr sz="1800" dirty="0">
              <a:latin typeface="Calibri"/>
              <a:cs typeface="Calibri"/>
            </a:endParaRPr>
          </a:p>
          <a:p>
            <a:pPr marL="298450" marR="508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landing_outcomes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,booster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versions, launch_site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months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2015.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Rank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landing_outcomes</a:t>
            </a:r>
            <a:r>
              <a:rPr sz="1800" dirty="0">
                <a:latin typeface="Calibri"/>
                <a:cs typeface="Calibri"/>
              </a:rPr>
              <a:t> between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04-06-</a:t>
            </a:r>
            <a:r>
              <a:rPr sz="1800" dirty="0">
                <a:latin typeface="Calibri"/>
                <a:cs typeface="Calibri"/>
              </a:rPr>
              <a:t>2010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20-</a:t>
            </a:r>
            <a:r>
              <a:rPr sz="1800" spc="-10" dirty="0">
                <a:latin typeface="Calibri"/>
                <a:cs typeface="Calibri"/>
              </a:rPr>
              <a:t>03-</a:t>
            </a:r>
            <a:r>
              <a:rPr sz="1800" dirty="0">
                <a:latin typeface="Calibri"/>
                <a:cs typeface="Calibri"/>
              </a:rPr>
              <a:t>2017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descending</a:t>
            </a:r>
            <a:endParaRPr sz="1800" dirty="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order.</a:t>
            </a:r>
            <a:endParaRPr sz="1800" dirty="0">
              <a:latin typeface="Calibri"/>
              <a:cs typeface="Calibri"/>
            </a:endParaRPr>
          </a:p>
          <a:p>
            <a:pPr marL="932180" marR="1534160">
              <a:lnSpc>
                <a:spcPct val="100000"/>
              </a:lnSpc>
              <a:spcBef>
                <a:spcPts val="1900"/>
              </a:spcBef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https://github.com/Jananijana2712/SpaceX-Falcon_9_First_Stage_Landing_Prediction/blob/main/Assignment%20SQL%20Notebook%20for%20Peer%20Assignment.ipynb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12</a:t>
            </a:fld>
            <a:endParaRPr spc="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735774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Build</a:t>
            </a:r>
            <a:r>
              <a:rPr spc="-125" dirty="0"/>
              <a:t> </a:t>
            </a:r>
            <a:r>
              <a:rPr dirty="0"/>
              <a:t>an</a:t>
            </a:r>
            <a:r>
              <a:rPr spc="-114" dirty="0"/>
              <a:t> </a:t>
            </a:r>
            <a:r>
              <a:rPr spc="-60" dirty="0"/>
              <a:t>Interactive</a:t>
            </a:r>
            <a:r>
              <a:rPr spc="-114" dirty="0"/>
              <a:t> </a:t>
            </a:r>
            <a:r>
              <a:rPr spc="-35" dirty="0"/>
              <a:t>Map</a:t>
            </a:r>
            <a:r>
              <a:rPr spc="-11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spc="-50" dirty="0"/>
              <a:t>Folium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3450" y="532637"/>
            <a:ext cx="3291078" cy="4091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97232" y="4933132"/>
            <a:ext cx="762000" cy="464184"/>
            <a:chOff x="797232" y="4933132"/>
            <a:chExt cx="762000" cy="46418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6268" y="5098772"/>
              <a:ext cx="260144" cy="2071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7232" y="4933132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9603" y="1875789"/>
            <a:ext cx="10217150" cy="39337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Mark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map</a:t>
            </a:r>
            <a:endParaRPr sz="20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Mark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success/failed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map</a:t>
            </a:r>
            <a:endParaRPr sz="20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Calculate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proximities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coast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railway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highway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city</a:t>
            </a:r>
            <a:endParaRPr sz="20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1889"/>
              </a:spcBef>
            </a:pPr>
            <a:r>
              <a:rPr sz="2000" b="1" spc="-85" dirty="0">
                <a:latin typeface="Calibri"/>
                <a:cs typeface="Calibri"/>
              </a:rPr>
              <a:t>To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find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some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geographical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patterns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about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launch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sites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 dirty="0">
              <a:latin typeface="Calibri"/>
              <a:cs typeface="Calibri"/>
            </a:endParaRPr>
          </a:p>
          <a:p>
            <a:pPr marL="673735" marR="5080">
              <a:lnSpc>
                <a:spcPct val="100000"/>
              </a:lnSpc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https://github.com/Jananijana2712/SpaceX-Falcon_9_First_Stage_Landing_Prediction/blob/main/1.5%20SpaceX%20Interactive%20Visual%20Analytics%20with%20Folium.ipynb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3261" y="4248949"/>
            <a:ext cx="311150" cy="353060"/>
            <a:chOff x="953261" y="4248949"/>
            <a:chExt cx="311150" cy="35306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" y="4248949"/>
              <a:ext cx="311150" cy="3528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1173" y="4287773"/>
              <a:ext cx="204215" cy="24612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13</a:t>
            </a:fld>
            <a:endParaRPr spc="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714755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85" dirty="0"/>
              <a:t> </a:t>
            </a:r>
            <a:r>
              <a:rPr spc="-270" dirty="0"/>
              <a:t>a</a:t>
            </a:r>
            <a:r>
              <a:rPr spc="20" dirty="0"/>
              <a:t> </a:t>
            </a:r>
            <a:r>
              <a:rPr spc="-85" dirty="0"/>
              <a:t>Dashboard</a:t>
            </a:r>
            <a:r>
              <a:rPr spc="-2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Plotly</a:t>
            </a:r>
            <a:r>
              <a:rPr spc="-30" dirty="0"/>
              <a:t> </a:t>
            </a:r>
            <a:r>
              <a:rPr spc="-110" dirty="0"/>
              <a:t>Dash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5997" y="430530"/>
            <a:ext cx="3232404" cy="4015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7363" y="1942592"/>
            <a:ext cx="8741410" cy="2014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drop-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success-</a:t>
            </a:r>
            <a:r>
              <a:rPr sz="2000" spc="-10" dirty="0">
                <a:latin typeface="Calibri"/>
                <a:cs typeface="Calibri"/>
              </a:rPr>
              <a:t>pie-</a:t>
            </a:r>
            <a:r>
              <a:rPr sz="2000" dirty="0">
                <a:latin typeface="Calibri"/>
                <a:cs typeface="Calibri"/>
              </a:rPr>
              <a:t>chart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10" dirty="0">
                <a:latin typeface="Calibri"/>
                <a:cs typeface="Calibri"/>
              </a:rPr>
              <a:t> dropdown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slicer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success-payload-</a:t>
            </a:r>
            <a:r>
              <a:rPr sz="2000" spc="-25" dirty="0">
                <a:latin typeface="Calibri"/>
                <a:cs typeface="Calibri"/>
              </a:rPr>
              <a:t>scatter-</a:t>
            </a:r>
            <a:r>
              <a:rPr sz="2000" dirty="0">
                <a:latin typeface="Calibri"/>
                <a:cs typeface="Calibri"/>
              </a:rPr>
              <a:t>chart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dirty="0">
                <a:latin typeface="Calibri"/>
                <a:cs typeface="Calibri"/>
              </a:rPr>
              <a:t> plot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 site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dropdown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0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</a:pPr>
            <a:r>
              <a:rPr sz="2000" b="1" spc="-80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inspect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relationship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success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rate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between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lauch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site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payload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3261" y="3625634"/>
            <a:ext cx="311150" cy="353060"/>
            <a:chOff x="953261" y="3625634"/>
            <a:chExt cx="311150" cy="3530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261" y="3625634"/>
              <a:ext cx="311150" cy="3528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1173" y="3664458"/>
              <a:ext cx="204215" cy="24612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97232" y="4933132"/>
            <a:ext cx="762000" cy="464184"/>
            <a:chOff x="797232" y="4933132"/>
            <a:chExt cx="762000" cy="464184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6268" y="5098772"/>
              <a:ext cx="260144" cy="2071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7232" y="4933132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61311" y="4892547"/>
            <a:ext cx="64160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6"/>
              </a:rPr>
              <a:t>https://github.com/Jananijana2712/SpaceX-Falcon_9_First_Stage_Landing_Prediction/blob/main/spacex%20dash%20app.py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14</a:t>
            </a:fld>
            <a:endParaRPr spc="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Predictive</a:t>
            </a:r>
            <a:r>
              <a:rPr spc="-140" dirty="0"/>
              <a:t> </a:t>
            </a:r>
            <a:r>
              <a:rPr spc="-105" dirty="0"/>
              <a:t>Analysis</a:t>
            </a:r>
            <a:r>
              <a:rPr spc="-140" dirty="0"/>
              <a:t> </a:t>
            </a:r>
            <a:r>
              <a:rPr spc="-120" dirty="0"/>
              <a:t>(Classification)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943" y="430530"/>
            <a:ext cx="3524250" cy="4381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331" y="1549327"/>
            <a:ext cx="10132405" cy="18320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48635" y="2135885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7814" y="2074926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0388" y="2099309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3761" y="2083308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987" y="3656076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Microsoft Sans Serif"/>
                <a:cs typeface="Microsoft Sans Serif"/>
              </a:rPr>
              <a:t>Data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wrangling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6144" y="3656076"/>
            <a:ext cx="2137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Microsoft Sans Serif"/>
                <a:cs typeface="Microsoft Sans Serif"/>
              </a:rPr>
              <a:t>Data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standarization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1805" y="3656076"/>
            <a:ext cx="1887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Microsoft Sans Serif"/>
                <a:cs typeface="Microsoft Sans Serif"/>
              </a:rPr>
              <a:t>Split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traning and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test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datasets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2618" y="3656076"/>
            <a:ext cx="2628900" cy="2223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5645" marR="71437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Microsoft Sans Serif"/>
                <a:cs typeface="Microsoft Sans Serif"/>
              </a:rPr>
              <a:t>Predictive model </a:t>
            </a:r>
            <a:r>
              <a:rPr sz="2000" spc="-40" dirty="0">
                <a:latin typeface="Microsoft Sans Serif"/>
                <a:cs typeface="Microsoft Sans Serif"/>
              </a:rPr>
              <a:t>evalutation</a:t>
            </a:r>
            <a:endParaRPr sz="20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Microsoft Sans Serif"/>
                <a:cs typeface="Microsoft Sans Serif"/>
              </a:rPr>
              <a:t>Logistic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regression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Support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machine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45" dirty="0">
                <a:latin typeface="Microsoft Sans Serif"/>
                <a:cs typeface="Microsoft Sans Serif"/>
              </a:rPr>
              <a:t>Decision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classifer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0" dirty="0">
                <a:latin typeface="Microsoft Sans Serif"/>
                <a:cs typeface="Microsoft Sans Serif"/>
              </a:rPr>
              <a:t>K-</a:t>
            </a:r>
            <a:r>
              <a:rPr sz="1800" spc="-40" dirty="0">
                <a:latin typeface="Microsoft Sans Serif"/>
                <a:cs typeface="Microsoft Sans Serif"/>
              </a:rPr>
              <a:t>nearest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neighnors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8121" y="3656076"/>
            <a:ext cx="2270125" cy="140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847090">
              <a:lnSpc>
                <a:spcPct val="100000"/>
              </a:lnSpc>
              <a:spcBef>
                <a:spcPts val="95"/>
              </a:spcBef>
            </a:pPr>
            <a:r>
              <a:rPr sz="2000" spc="-55" dirty="0">
                <a:latin typeface="Microsoft Sans Serif"/>
                <a:cs typeface="Microsoft Sans Serif"/>
              </a:rPr>
              <a:t>Predictive </a:t>
            </a:r>
            <a:r>
              <a:rPr sz="2000" spc="-10" dirty="0">
                <a:latin typeface="Microsoft Sans Serif"/>
                <a:cs typeface="Microsoft Sans Serif"/>
              </a:rPr>
              <a:t>model selection</a:t>
            </a:r>
            <a:endParaRPr sz="20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00" dirty="0">
                <a:latin typeface="Microsoft Sans Serif"/>
                <a:cs typeface="Microsoft Sans Serif"/>
              </a:rPr>
              <a:t>K-</a:t>
            </a:r>
            <a:r>
              <a:rPr sz="1800" spc="-40" dirty="0">
                <a:latin typeface="Microsoft Sans Serif"/>
                <a:cs typeface="Microsoft Sans Serif"/>
              </a:rPr>
              <a:t>nearest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neighnors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7316" y="5094676"/>
            <a:ext cx="762000" cy="464184"/>
            <a:chOff x="707316" y="5094676"/>
            <a:chExt cx="762000" cy="464184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352" y="5260316"/>
              <a:ext cx="260144" cy="2071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7316" y="5094676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49805" y="4788407"/>
            <a:ext cx="444246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Calibri"/>
                <a:cs typeface="Calibri"/>
                <a:hlinkClick r:id="rId5"/>
              </a:rPr>
              <a:t>https://github.com/Jananijana2712/SpaceX-Falcon_9_First_Stage_Landing_Prediction/blob/main/1.6%20SpaceX%20Machine%20Learning%20Prediction.ipynb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15</a:t>
            </a:fld>
            <a:endParaRPr spc="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145732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0907" y="1639442"/>
            <a:ext cx="3016885" cy="45123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30"/>
              </a:spcBef>
            </a:pPr>
            <a:r>
              <a:rPr sz="2000" b="1" spc="-25" dirty="0">
                <a:solidFill>
                  <a:srgbClr val="4471C4"/>
                </a:solidFill>
                <a:latin typeface="Calibri"/>
                <a:cs typeface="Calibri"/>
              </a:rPr>
              <a:t>EDA</a:t>
            </a:r>
            <a:endParaRPr sz="2000">
              <a:latin typeface="Calibri"/>
              <a:cs typeface="Calibri"/>
            </a:endParaRPr>
          </a:p>
          <a:p>
            <a:pPr marL="376555" indent="-285750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KSC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LC-</a:t>
            </a:r>
            <a:r>
              <a:rPr sz="1800" dirty="0">
                <a:latin typeface="Calibri"/>
                <a:cs typeface="Calibri"/>
              </a:rPr>
              <a:t>39A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VAFB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SLC</a:t>
            </a:r>
            <a:endParaRPr sz="1800">
              <a:latin typeface="Calibri"/>
              <a:cs typeface="Calibri"/>
            </a:endParaRPr>
          </a:p>
          <a:p>
            <a:pPr marL="376555" marR="4591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4E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77%</a:t>
            </a:r>
            <a:endParaRPr sz="1800">
              <a:latin typeface="Calibri"/>
              <a:cs typeface="Calibri"/>
            </a:endParaRPr>
          </a:p>
          <a:p>
            <a:pPr marL="376555" marR="38608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VAFB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10000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  <a:p>
            <a:pPr marL="376555" marR="172085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</a:t>
            </a:r>
            <a:r>
              <a:rPr sz="1800" spc="-25" dirty="0">
                <a:latin typeface="Calibri"/>
                <a:cs typeface="Calibri"/>
              </a:rPr>
              <a:t> the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flights</a:t>
            </a:r>
            <a:endParaRPr sz="1800">
              <a:latin typeface="Calibri"/>
              <a:cs typeface="Calibri"/>
            </a:endParaRPr>
          </a:p>
          <a:p>
            <a:pPr marL="376555" marR="17780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heavy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Polar,LEO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ISS</a:t>
            </a:r>
            <a:endParaRPr sz="1800">
              <a:latin typeface="Calibri"/>
              <a:cs typeface="Calibri"/>
            </a:endParaRPr>
          </a:p>
          <a:p>
            <a:pPr marL="376555" marR="17272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2013 </a:t>
            </a:r>
            <a:r>
              <a:rPr sz="1800" dirty="0">
                <a:latin typeface="Calibri"/>
                <a:cs typeface="Calibri"/>
              </a:rPr>
              <a:t>kept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5919" y="1639442"/>
            <a:ext cx="3016885" cy="4466590"/>
          </a:xfrm>
          <a:prstGeom prst="rect">
            <a:avLst/>
          </a:prstGeom>
          <a:ln w="12700">
            <a:solidFill>
              <a:srgbClr val="AEABAB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166370" marR="1727835">
              <a:lnSpc>
                <a:spcPct val="100000"/>
              </a:lnSpc>
              <a:spcBef>
                <a:spcPts val="535"/>
              </a:spcBef>
            </a:pPr>
            <a:r>
              <a:rPr sz="2000" spc="-50" dirty="0">
                <a:solidFill>
                  <a:srgbClr val="7E7E7E"/>
                </a:solidFill>
                <a:latin typeface="Microsoft Sans Serif"/>
                <a:cs typeface="Microsoft Sans Serif"/>
              </a:rPr>
              <a:t>Interactive </a:t>
            </a:r>
            <a:r>
              <a:rPr sz="2000" spc="-10" dirty="0">
                <a:solidFill>
                  <a:srgbClr val="7E7E7E"/>
                </a:solidFill>
                <a:latin typeface="Microsoft Sans Serif"/>
                <a:cs typeface="Microsoft Sans Serif"/>
              </a:rPr>
              <a:t>analytics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1777" y="1639442"/>
            <a:ext cx="3016885" cy="446659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80975" marR="1777364">
              <a:lnSpc>
                <a:spcPct val="100000"/>
              </a:lnSpc>
              <a:spcBef>
                <a:spcPts val="530"/>
              </a:spcBef>
            </a:pPr>
            <a:r>
              <a:rPr sz="2000" b="1" spc="-10" dirty="0">
                <a:solidFill>
                  <a:srgbClr val="EC7C30"/>
                </a:solidFill>
                <a:latin typeface="Calibri"/>
                <a:cs typeface="Calibri"/>
              </a:rPr>
              <a:t>Predictive analysis</a:t>
            </a:r>
            <a:endParaRPr sz="2000">
              <a:latin typeface="Calibri"/>
              <a:cs typeface="Calibri"/>
            </a:endParaRPr>
          </a:p>
          <a:p>
            <a:pPr marL="180975" marR="250190">
              <a:lnSpc>
                <a:spcPct val="100000"/>
              </a:lnSpc>
              <a:spcBef>
                <a:spcPts val="919"/>
              </a:spcBef>
            </a:pPr>
            <a:r>
              <a:rPr sz="1800" spc="-25" dirty="0">
                <a:latin typeface="Microsoft Sans Serif"/>
                <a:cs typeface="Microsoft Sans Serif"/>
              </a:rPr>
              <a:t>According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decision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classifier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model,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spc="-10" dirty="0">
                <a:latin typeface="Microsoft Sans Serif"/>
                <a:cs typeface="Microsoft Sans Serif"/>
              </a:rPr>
              <a:t>predictive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model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tells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us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4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ture </a:t>
            </a:r>
            <a:r>
              <a:rPr sz="1800" dirty="0">
                <a:latin typeface="Microsoft Sans Serif"/>
                <a:cs typeface="Microsoft Sans Serif"/>
              </a:rPr>
              <a:t>postive,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7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negative, </a:t>
            </a:r>
            <a:r>
              <a:rPr sz="1800" spc="80" dirty="0">
                <a:latin typeface="Microsoft Sans Serif"/>
                <a:cs typeface="Microsoft Sans Serif"/>
              </a:rPr>
              <a:t>5</a:t>
            </a:r>
            <a:r>
              <a:rPr sz="1800" spc="-40" dirty="0">
                <a:latin typeface="Microsoft Sans Serif"/>
                <a:cs typeface="Microsoft Sans Serif"/>
              </a:rPr>
              <a:t> false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postive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2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false </a:t>
            </a:r>
            <a:r>
              <a:rPr sz="1800" spc="-25" dirty="0">
                <a:latin typeface="Microsoft Sans Serif"/>
                <a:cs typeface="Microsoft Sans Serif"/>
              </a:rPr>
              <a:t>negative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accuracy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mode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around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35" dirty="0">
                <a:latin typeface="Microsoft Sans Serif"/>
                <a:cs typeface="Microsoft Sans Serif"/>
              </a:rPr>
              <a:t>89%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best</a:t>
            </a:r>
            <a:r>
              <a:rPr sz="1800" spc="-10" dirty="0">
                <a:latin typeface="Microsoft Sans Serif"/>
                <a:cs typeface="Microsoft Sans Serif"/>
              </a:rPr>
              <a:t> parameters.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16</a:t>
            </a:fld>
            <a:endParaRPr spc="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DA4702-B12B-7F9D-A3FB-E8A4EB027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761" y="2362200"/>
            <a:ext cx="2743200" cy="17222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86F8D6-7E38-25AA-19CA-5D64FE047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760" y="4135987"/>
            <a:ext cx="2743201" cy="18838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602742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Flight</a:t>
            </a:r>
            <a:r>
              <a:rPr spc="-110" dirty="0"/>
              <a:t> </a:t>
            </a:r>
            <a:r>
              <a:rPr spc="-95" dirty="0"/>
              <a:t>Number</a:t>
            </a:r>
            <a:r>
              <a:rPr spc="-114" dirty="0"/>
              <a:t> </a:t>
            </a:r>
            <a:r>
              <a:rPr spc="-70" dirty="0"/>
              <a:t>vs.</a:t>
            </a:r>
            <a:r>
              <a:rPr spc="-100" dirty="0"/>
              <a:t> </a:t>
            </a:r>
            <a:r>
              <a:rPr spc="-135" dirty="0"/>
              <a:t>Launch</a:t>
            </a:r>
            <a:r>
              <a:rPr spc="-110" dirty="0"/>
              <a:t> </a:t>
            </a:r>
            <a:r>
              <a:rPr spc="-5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183" y="1616202"/>
            <a:ext cx="9111234" cy="44096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18</a:t>
            </a:fld>
            <a:endParaRPr spc="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E7BEBD-DF8F-B161-AF0A-4B68EE206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881" y="1455083"/>
            <a:ext cx="9876376" cy="4892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73710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Payload</a:t>
            </a:r>
            <a:r>
              <a:rPr spc="-130" dirty="0"/>
              <a:t> </a:t>
            </a:r>
            <a:r>
              <a:rPr spc="-70" dirty="0"/>
              <a:t>vs.</a:t>
            </a:r>
            <a:r>
              <a:rPr spc="-125" dirty="0"/>
              <a:t> Launch</a:t>
            </a:r>
            <a:r>
              <a:rPr spc="-120" dirty="0"/>
              <a:t> </a:t>
            </a:r>
            <a:r>
              <a:rPr spc="-85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8150"/>
            <a:ext cx="2420874" cy="300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9408" y="1492758"/>
            <a:ext cx="9606534" cy="47335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19</a:t>
            </a:fld>
            <a:endParaRPr spc="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FEB2BB-DCC8-4436-C9DB-E7BB74079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682" y="1459654"/>
            <a:ext cx="9914479" cy="49000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554355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Success</a:t>
            </a:r>
            <a:r>
              <a:rPr spc="5" dirty="0"/>
              <a:t> </a:t>
            </a:r>
            <a:r>
              <a:rPr spc="-165" dirty="0"/>
              <a:t>Rate</a:t>
            </a:r>
            <a:r>
              <a:rPr spc="-30" dirty="0"/>
              <a:t> </a:t>
            </a:r>
            <a:r>
              <a:rPr spc="-70" dirty="0"/>
              <a:t>vs.</a:t>
            </a:r>
            <a:r>
              <a:rPr spc="-10" dirty="0"/>
              <a:t> </a:t>
            </a:r>
            <a:r>
              <a:rPr dirty="0"/>
              <a:t>Orbit</a:t>
            </a:r>
            <a:r>
              <a:rPr spc="-15" dirty="0"/>
              <a:t> </a:t>
            </a:r>
            <a:r>
              <a:rPr spc="-145" dirty="0"/>
              <a:t>Type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3688" y="1697735"/>
            <a:ext cx="8843010" cy="31005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34922" y="4994655"/>
            <a:ext cx="5147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20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682DF7-680F-4110-E600-5DA5ED743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7" y="1826975"/>
            <a:ext cx="10074513" cy="3467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582422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Flight</a:t>
            </a:r>
            <a:r>
              <a:rPr spc="-80" dirty="0"/>
              <a:t> </a:t>
            </a:r>
            <a:r>
              <a:rPr spc="-95" dirty="0"/>
              <a:t>Number</a:t>
            </a:r>
            <a:r>
              <a:rPr spc="-85" dirty="0"/>
              <a:t> </a:t>
            </a:r>
            <a:r>
              <a:rPr spc="-70" dirty="0"/>
              <a:t>vs.</a:t>
            </a:r>
            <a:r>
              <a:rPr spc="-75" dirty="0"/>
              <a:t> </a:t>
            </a:r>
            <a:r>
              <a:rPr dirty="0"/>
              <a:t>Orbit</a:t>
            </a:r>
            <a:r>
              <a:rPr spc="-75" dirty="0"/>
              <a:t> </a:t>
            </a:r>
            <a:r>
              <a:rPr spc="-114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21</a:t>
            </a:fld>
            <a:endParaRPr spc="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0020E2-B9F4-477A-8B4B-F71CEAD42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1" y="1377108"/>
            <a:ext cx="9960203" cy="48543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453453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Payload</a:t>
            </a:r>
            <a:r>
              <a:rPr spc="-85" dirty="0"/>
              <a:t> </a:t>
            </a:r>
            <a:r>
              <a:rPr spc="-70" dirty="0"/>
              <a:t>vs.</a:t>
            </a:r>
            <a:r>
              <a:rPr spc="-80" dirty="0"/>
              <a:t> </a:t>
            </a:r>
            <a:r>
              <a:rPr dirty="0"/>
              <a:t>Orbit</a:t>
            </a:r>
            <a:r>
              <a:rPr spc="-75" dirty="0"/>
              <a:t> </a:t>
            </a:r>
            <a:r>
              <a:rPr spc="-145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22</a:t>
            </a:fld>
            <a:endParaRPr spc="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0B3EF-F739-A14F-BDDC-8DC7A0276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67" y="1582866"/>
            <a:ext cx="9960203" cy="46486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580009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</a:t>
            </a:r>
            <a:r>
              <a:rPr spc="-60" dirty="0"/>
              <a:t> </a:t>
            </a:r>
            <a:r>
              <a:rPr spc="-254" dirty="0"/>
              <a:t>Success</a:t>
            </a:r>
            <a:r>
              <a:rPr spc="5" dirty="0"/>
              <a:t> </a:t>
            </a:r>
            <a:r>
              <a:rPr spc="-114" dirty="0"/>
              <a:t>Yearly</a:t>
            </a:r>
            <a:r>
              <a:rPr spc="-10" dirty="0"/>
              <a:t> </a:t>
            </a:r>
            <a:r>
              <a:rPr spc="-110" dirty="0"/>
              <a:t>Trend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23</a:t>
            </a:fld>
            <a:endParaRPr spc="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BE29EB-F158-404A-A1EC-151B75DF4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586873"/>
            <a:ext cx="9883997" cy="37341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48945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75" dirty="0"/>
              <a:t> </a:t>
            </a:r>
            <a:r>
              <a:rPr spc="-135" dirty="0"/>
              <a:t>Launch</a:t>
            </a:r>
            <a:r>
              <a:rPr spc="-70" dirty="0"/>
              <a:t> </a:t>
            </a:r>
            <a:r>
              <a:rPr spc="-60" dirty="0"/>
              <a:t>Site</a:t>
            </a:r>
            <a:r>
              <a:rPr spc="-70" dirty="0"/>
              <a:t> </a:t>
            </a:r>
            <a:r>
              <a:rPr spc="-190" dirty="0"/>
              <a:t>Names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24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88D794-7209-BA31-DD0E-0608806C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8" y="1635455"/>
            <a:ext cx="7619605" cy="29365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 </a:t>
            </a:r>
            <a:r>
              <a:rPr spc="-50" dirty="0"/>
              <a:t>Site</a:t>
            </a:r>
            <a:r>
              <a:rPr spc="-70" dirty="0"/>
              <a:t> </a:t>
            </a:r>
            <a:r>
              <a:rPr spc="-210" dirty="0"/>
              <a:t>Names</a:t>
            </a:r>
            <a:r>
              <a:rPr spc="-35" dirty="0"/>
              <a:t> </a:t>
            </a:r>
            <a:r>
              <a:rPr spc="-25" dirty="0"/>
              <a:t>Begin</a:t>
            </a:r>
            <a:r>
              <a:rPr spc="-6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spc="-210" dirty="0"/>
              <a:t>'CCA'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25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C1305-3DE0-879D-1D89-CACF2B12D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801989"/>
            <a:ext cx="6790008" cy="325402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388492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Total</a:t>
            </a:r>
            <a:r>
              <a:rPr spc="-145" dirty="0"/>
              <a:t> </a:t>
            </a:r>
            <a:r>
              <a:rPr spc="-120" dirty="0"/>
              <a:t>Payload</a:t>
            </a:r>
            <a:r>
              <a:rPr spc="-125" dirty="0"/>
              <a:t> </a:t>
            </a:r>
            <a:r>
              <a:rPr spc="-185" dirty="0"/>
              <a:t>Mass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26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CAE6F9-8C29-D823-688E-AC77D8915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799" y="1705927"/>
            <a:ext cx="7902625" cy="21871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Average</a:t>
            </a:r>
            <a:r>
              <a:rPr spc="-55" dirty="0"/>
              <a:t> </a:t>
            </a:r>
            <a:r>
              <a:rPr spc="-125" dirty="0"/>
              <a:t>Payload</a:t>
            </a:r>
            <a:r>
              <a:rPr spc="-65" dirty="0"/>
              <a:t> </a:t>
            </a:r>
            <a:r>
              <a:rPr spc="-200" dirty="0"/>
              <a:t>Mass</a:t>
            </a:r>
            <a:r>
              <a:rPr spc="-4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F9</a:t>
            </a:r>
            <a:r>
              <a:rPr spc="-50" dirty="0"/>
              <a:t> </a:t>
            </a:r>
            <a:r>
              <a:rPr spc="-20" dirty="0"/>
              <a:t>v1.1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9527" y="3929633"/>
            <a:ext cx="7198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F9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v1.1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2,928.40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27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6A8E9-C82E-1667-C6AA-D6381022F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27" y="2057400"/>
            <a:ext cx="7978831" cy="23243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755586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First</a:t>
            </a:r>
            <a:r>
              <a:rPr spc="-185" dirty="0"/>
              <a:t> </a:t>
            </a:r>
            <a:r>
              <a:rPr spc="-175" dirty="0"/>
              <a:t>Successful</a:t>
            </a:r>
            <a:r>
              <a:rPr spc="-70" dirty="0"/>
              <a:t> </a:t>
            </a:r>
            <a:r>
              <a:rPr spc="-80" dirty="0"/>
              <a:t>Ground</a:t>
            </a:r>
            <a:r>
              <a:rPr spc="-120" dirty="0"/>
              <a:t> </a:t>
            </a:r>
            <a:r>
              <a:rPr spc="-45" dirty="0"/>
              <a:t>Landing</a:t>
            </a:r>
            <a:r>
              <a:rPr spc="-125" dirty="0"/>
              <a:t> </a:t>
            </a:r>
            <a:r>
              <a:rPr spc="-30" dirty="0"/>
              <a:t>Date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9527" y="3929633"/>
            <a:ext cx="5043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01.05.2017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28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21C03-160F-53B5-D0E8-D25BF16A3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3600"/>
            <a:ext cx="8047417" cy="245385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14" dirty="0"/>
              <a:t>Successful</a:t>
            </a:r>
            <a:r>
              <a:rPr sz="2500" spc="-50" dirty="0"/>
              <a:t> </a:t>
            </a:r>
            <a:r>
              <a:rPr sz="2500" spc="-10" dirty="0"/>
              <a:t>Drone</a:t>
            </a:r>
            <a:r>
              <a:rPr sz="2500" spc="-65" dirty="0"/>
              <a:t> </a:t>
            </a:r>
            <a:r>
              <a:rPr sz="2500" spc="-40" dirty="0"/>
              <a:t>Ship</a:t>
            </a:r>
            <a:r>
              <a:rPr sz="2500" spc="-50" dirty="0"/>
              <a:t> </a:t>
            </a:r>
            <a:r>
              <a:rPr sz="2500" spc="-25" dirty="0"/>
              <a:t>Landing</a:t>
            </a:r>
            <a:r>
              <a:rPr sz="2500" spc="-50" dirty="0"/>
              <a:t> </a:t>
            </a:r>
            <a:r>
              <a:rPr sz="2500" dirty="0"/>
              <a:t>with</a:t>
            </a:r>
            <a:r>
              <a:rPr sz="2500" spc="-45" dirty="0"/>
              <a:t> </a:t>
            </a:r>
            <a:r>
              <a:rPr sz="2500" spc="-80" dirty="0"/>
              <a:t>Payload</a:t>
            </a:r>
            <a:r>
              <a:rPr sz="2500" spc="-50" dirty="0"/>
              <a:t> </a:t>
            </a:r>
            <a:r>
              <a:rPr sz="2500" spc="-30" dirty="0"/>
              <a:t>between</a:t>
            </a:r>
            <a:r>
              <a:rPr sz="2500" spc="-60" dirty="0"/>
              <a:t> </a:t>
            </a:r>
            <a:r>
              <a:rPr sz="2500" spc="110" dirty="0"/>
              <a:t>4000</a:t>
            </a:r>
            <a:r>
              <a:rPr sz="2500" spc="-45" dirty="0"/>
              <a:t> </a:t>
            </a:r>
            <a:r>
              <a:rPr sz="2500" dirty="0"/>
              <a:t>and</a:t>
            </a:r>
            <a:r>
              <a:rPr sz="2500" spc="-50" dirty="0"/>
              <a:t> </a:t>
            </a:r>
            <a:r>
              <a:rPr sz="2500" spc="90" dirty="0"/>
              <a:t>6000</a:t>
            </a:r>
            <a:endParaRPr sz="25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9894" y="4869433"/>
            <a:ext cx="4415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ship.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29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2E30D7-1AAD-91B0-BC0E-AA4F800BF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2" y="1942563"/>
            <a:ext cx="10912786" cy="32540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30" dirty="0"/>
              <a:t>Total</a:t>
            </a:r>
            <a:r>
              <a:rPr sz="3100" spc="-125" dirty="0"/>
              <a:t> </a:t>
            </a:r>
            <a:r>
              <a:rPr sz="3100" spc="-80" dirty="0"/>
              <a:t>Number</a:t>
            </a:r>
            <a:r>
              <a:rPr sz="3100" spc="-110" dirty="0"/>
              <a:t> </a:t>
            </a:r>
            <a:r>
              <a:rPr sz="3100" dirty="0"/>
              <a:t>of</a:t>
            </a:r>
            <a:r>
              <a:rPr sz="3100" spc="-105" dirty="0"/>
              <a:t> </a:t>
            </a:r>
            <a:r>
              <a:rPr sz="3100" spc="-140" dirty="0"/>
              <a:t>Successful</a:t>
            </a:r>
            <a:r>
              <a:rPr sz="3100" spc="-70" dirty="0"/>
              <a:t> </a:t>
            </a:r>
            <a:r>
              <a:rPr sz="3100" dirty="0"/>
              <a:t>and</a:t>
            </a:r>
            <a:r>
              <a:rPr sz="3100" spc="-100" dirty="0"/>
              <a:t> </a:t>
            </a:r>
            <a:r>
              <a:rPr sz="3100" spc="-55" dirty="0"/>
              <a:t>Failure</a:t>
            </a:r>
            <a:r>
              <a:rPr sz="3100" spc="-75" dirty="0"/>
              <a:t> </a:t>
            </a:r>
            <a:r>
              <a:rPr sz="3100" spc="-50" dirty="0"/>
              <a:t>Mission</a:t>
            </a:r>
            <a:r>
              <a:rPr sz="3100" spc="-90" dirty="0"/>
              <a:t> </a:t>
            </a:r>
            <a:r>
              <a:rPr sz="3100" spc="-60" dirty="0"/>
              <a:t>Outcomes</a:t>
            </a:r>
            <a:endParaRPr sz="31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30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F08E37-E25A-0787-8996-932CA007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676400"/>
            <a:ext cx="7773074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Boosters</a:t>
            </a:r>
            <a:r>
              <a:rPr spc="-160" dirty="0"/>
              <a:t> </a:t>
            </a:r>
            <a:r>
              <a:rPr spc="-85" dirty="0"/>
              <a:t>Carried</a:t>
            </a:r>
            <a:r>
              <a:rPr spc="-125" dirty="0"/>
              <a:t> </a:t>
            </a:r>
            <a:r>
              <a:rPr spc="-135" dirty="0"/>
              <a:t>Maximum</a:t>
            </a:r>
            <a:r>
              <a:rPr spc="-110" dirty="0"/>
              <a:t> </a:t>
            </a:r>
            <a:r>
              <a:rPr spc="-130" dirty="0"/>
              <a:t>Payload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73302" y="6022340"/>
            <a:ext cx="561276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payload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mass.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31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732977-2D96-4D72-5495-F1B09928B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82" y="1647530"/>
            <a:ext cx="9957301" cy="46878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47167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2015</a:t>
            </a:r>
            <a:r>
              <a:rPr spc="20" dirty="0"/>
              <a:t> </a:t>
            </a:r>
            <a:r>
              <a:rPr spc="-125" dirty="0"/>
              <a:t>Launch</a:t>
            </a:r>
            <a:r>
              <a:rPr spc="15" dirty="0"/>
              <a:t> </a:t>
            </a:r>
            <a:r>
              <a:rPr spc="-160" dirty="0"/>
              <a:t>Records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2743200"/>
            <a:ext cx="6477000" cy="2286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32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4437CF-28A8-0A58-7840-F1F036454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935473"/>
            <a:ext cx="10874682" cy="20194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/>
              <a:t>Rank</a:t>
            </a:r>
            <a:r>
              <a:rPr sz="2800" spc="-35" dirty="0"/>
              <a:t> </a:t>
            </a:r>
            <a:r>
              <a:rPr sz="2800" spc="-40" dirty="0"/>
              <a:t>Landing</a:t>
            </a:r>
            <a:r>
              <a:rPr sz="2800" spc="-50" dirty="0"/>
              <a:t> </a:t>
            </a:r>
            <a:r>
              <a:rPr sz="2800" spc="-90" dirty="0"/>
              <a:t>Outcomes</a:t>
            </a:r>
            <a:r>
              <a:rPr sz="2800" spc="-60" dirty="0"/>
              <a:t> </a:t>
            </a:r>
            <a:r>
              <a:rPr sz="2800" spc="-90" dirty="0"/>
              <a:t>Between</a:t>
            </a:r>
            <a:r>
              <a:rPr sz="2800" spc="-55" dirty="0"/>
              <a:t> </a:t>
            </a:r>
            <a:r>
              <a:rPr sz="2800" spc="95" dirty="0"/>
              <a:t>2010-</a:t>
            </a:r>
            <a:r>
              <a:rPr sz="2800" spc="75" dirty="0"/>
              <a:t>06-</a:t>
            </a:r>
            <a:r>
              <a:rPr sz="2800" spc="125" dirty="0"/>
              <a:t>04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40" dirty="0"/>
              <a:t> </a:t>
            </a:r>
            <a:r>
              <a:rPr sz="2800" spc="95" dirty="0"/>
              <a:t>2017-</a:t>
            </a:r>
            <a:r>
              <a:rPr sz="2800" spc="70" dirty="0"/>
              <a:t>03-</a:t>
            </a:r>
            <a:r>
              <a:rPr sz="2800" spc="95" dirty="0"/>
              <a:t>20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2105196"/>
            <a:ext cx="6019800" cy="2667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33</a:t>
            </a:fld>
            <a:endParaRPr spc="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8E358D-3F8A-8290-EECC-C0611B10F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22" y="1680819"/>
            <a:ext cx="11027096" cy="17603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366267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&lt;All</a:t>
            </a:r>
            <a:r>
              <a:rPr spc="-20" dirty="0"/>
              <a:t> </a:t>
            </a:r>
            <a:r>
              <a:rPr spc="-75" dirty="0"/>
              <a:t>launch</a:t>
            </a:r>
            <a:r>
              <a:rPr spc="-5" dirty="0"/>
              <a:t> </a:t>
            </a:r>
            <a:r>
              <a:rPr spc="-10" dirty="0"/>
              <a:t>sites&gt;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35</a:t>
            </a:fld>
            <a:endParaRPr spc="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E10B7-E833-479A-D1AE-E7F21928F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479165"/>
            <a:ext cx="9411165" cy="47523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</a:t>
            </a:r>
            <a:r>
              <a:rPr spc="-100" dirty="0"/>
              <a:t> </a:t>
            </a:r>
            <a:r>
              <a:rPr spc="-55" dirty="0"/>
              <a:t>outcome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different</a:t>
            </a:r>
            <a:r>
              <a:rPr spc="-95" dirty="0"/>
              <a:t> </a:t>
            </a:r>
            <a:r>
              <a:rPr spc="-20" dirty="0"/>
              <a:t>site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7257" y="1498179"/>
            <a:ext cx="8242554" cy="484936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36</a:t>
            </a:fld>
            <a:endParaRPr spc="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654558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The</a:t>
            </a:r>
            <a:r>
              <a:rPr spc="10" dirty="0"/>
              <a:t> </a:t>
            </a:r>
            <a:r>
              <a:rPr dirty="0"/>
              <a:t>proximity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85" dirty="0"/>
              <a:t>launch</a:t>
            </a:r>
            <a:r>
              <a:rPr spc="-15" dirty="0"/>
              <a:t> </a:t>
            </a:r>
            <a:r>
              <a:rPr spc="-45" dirty="0"/>
              <a:t>sites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1534755"/>
            <a:ext cx="7959852" cy="48097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37</a:t>
            </a:fld>
            <a:endParaRPr spc="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283210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35" dirty="0"/>
              <a:t> </a:t>
            </a:r>
            <a:r>
              <a:rPr dirty="0"/>
              <a:t>site</a:t>
            </a:r>
            <a:r>
              <a:rPr spc="-25" dirty="0"/>
              <a:t> </a:t>
            </a:r>
            <a:r>
              <a:rPr spc="-110" dirty="0"/>
              <a:t>launch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59" y="1749551"/>
            <a:ext cx="8281416" cy="41940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39</a:t>
            </a:fld>
            <a:endParaRPr spc="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Highest</a:t>
            </a:r>
            <a:r>
              <a:rPr spc="-190" dirty="0"/>
              <a:t> </a:t>
            </a:r>
            <a:r>
              <a:rPr spc="-185" dirty="0"/>
              <a:t>success</a:t>
            </a:r>
            <a:r>
              <a:rPr spc="-60" dirty="0"/>
              <a:t> </a:t>
            </a:r>
            <a:r>
              <a:rPr spc="-80" dirty="0"/>
              <a:t>launch</a:t>
            </a:r>
            <a:r>
              <a:rPr spc="-125" dirty="0"/>
              <a:t> </a:t>
            </a:r>
            <a:r>
              <a:rPr spc="-10" dirty="0"/>
              <a:t>ratio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538" y="1496567"/>
            <a:ext cx="7693913" cy="38648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40</a:t>
            </a:fld>
            <a:endParaRPr spc="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Classification</a:t>
            </a:r>
            <a:r>
              <a:rPr spc="-114" dirty="0"/>
              <a:t> </a:t>
            </a:r>
            <a:r>
              <a:rPr spc="-155" dirty="0"/>
              <a:t>Accuracy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42</a:t>
            </a:fld>
            <a:endParaRPr spc="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011902-28CB-A54D-D91D-538FC0777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693" y="2111942"/>
            <a:ext cx="7681626" cy="256816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Conclusions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760" marR="43180" indent="-226060">
              <a:lnSpc>
                <a:spcPct val="100000"/>
              </a:lnSpc>
              <a:spcBef>
                <a:spcPts val="95"/>
              </a:spcBef>
              <a:buClr>
                <a:srgbClr val="202429"/>
              </a:buClr>
              <a:buFont typeface="Arial MT"/>
              <a:buChar char="•"/>
              <a:tabLst>
                <a:tab pos="241300" algn="l"/>
              </a:tabLst>
            </a:pPr>
            <a:r>
              <a:rPr spc="-80" dirty="0"/>
              <a:t>There</a:t>
            </a:r>
            <a:r>
              <a:rPr spc="-55" dirty="0"/>
              <a:t> </a:t>
            </a:r>
            <a:r>
              <a:rPr dirty="0"/>
              <a:t>is</a:t>
            </a:r>
            <a:r>
              <a:rPr spc="-114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correlation</a:t>
            </a:r>
            <a:r>
              <a:rPr spc="-65" dirty="0"/>
              <a:t> </a:t>
            </a:r>
            <a:r>
              <a:rPr spc="-35" dirty="0"/>
              <a:t>between</a:t>
            </a:r>
            <a:r>
              <a:rPr spc="-45" dirty="0"/>
              <a:t> launch</a:t>
            </a:r>
            <a:r>
              <a:rPr spc="-55" dirty="0"/>
              <a:t> </a:t>
            </a:r>
            <a:r>
              <a:rPr dirty="0"/>
              <a:t>site</a:t>
            </a:r>
            <a:r>
              <a:rPr spc="-50" dirty="0"/>
              <a:t> </a:t>
            </a:r>
            <a:r>
              <a:rPr spc="-10" dirty="0"/>
              <a:t>and</a:t>
            </a:r>
            <a:r>
              <a:rPr spc="-55" dirty="0"/>
              <a:t> </a:t>
            </a:r>
            <a:r>
              <a:rPr spc="-110" dirty="0"/>
              <a:t>success</a:t>
            </a:r>
            <a:r>
              <a:rPr spc="-20" dirty="0"/>
              <a:t> </a:t>
            </a:r>
            <a:r>
              <a:rPr dirty="0"/>
              <a:t>rate</a:t>
            </a:r>
            <a:r>
              <a:rPr spc="-55" dirty="0"/>
              <a:t> </a:t>
            </a:r>
            <a:r>
              <a:rPr spc="-75" dirty="0"/>
              <a:t>Payload</a:t>
            </a:r>
            <a:r>
              <a:rPr spc="-55" dirty="0"/>
              <a:t> </a:t>
            </a:r>
            <a:r>
              <a:rPr spc="-110" dirty="0"/>
              <a:t>mass</a:t>
            </a:r>
            <a:r>
              <a:rPr spc="-2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25" dirty="0"/>
              <a:t>also</a:t>
            </a:r>
            <a:r>
              <a:rPr spc="-60" dirty="0"/>
              <a:t> </a:t>
            </a:r>
            <a:r>
              <a:rPr spc="-35" dirty="0"/>
              <a:t>associated 	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10" dirty="0"/>
              <a:t>success</a:t>
            </a:r>
            <a:r>
              <a:rPr spc="-25" dirty="0"/>
              <a:t> rate.: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more</a:t>
            </a:r>
            <a:r>
              <a:rPr spc="-30" dirty="0"/>
              <a:t> </a:t>
            </a:r>
            <a:r>
              <a:rPr spc="-85" dirty="0"/>
              <a:t>massive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40" dirty="0"/>
              <a:t>payload,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60" dirty="0"/>
              <a:t>less</a:t>
            </a:r>
            <a:r>
              <a:rPr spc="-35" dirty="0"/>
              <a:t> </a:t>
            </a:r>
            <a:r>
              <a:rPr dirty="0"/>
              <a:t>likely</a:t>
            </a:r>
            <a:r>
              <a:rPr spc="-4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first</a:t>
            </a:r>
            <a:r>
              <a:rPr spc="-25" dirty="0"/>
              <a:t> stage</a:t>
            </a:r>
            <a:r>
              <a:rPr spc="-30" dirty="0"/>
              <a:t> </a:t>
            </a:r>
            <a:r>
              <a:rPr spc="-20" dirty="0"/>
              <a:t>will 	</a:t>
            </a:r>
            <a:r>
              <a:rPr spc="-10" dirty="0"/>
              <a:t>return</a:t>
            </a:r>
          </a:p>
          <a:p>
            <a:pPr marL="238760" marR="583565" indent="-22606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For</a:t>
            </a:r>
            <a:r>
              <a:rPr spc="-135" dirty="0"/>
              <a:t> </a:t>
            </a:r>
            <a:r>
              <a:rPr dirty="0"/>
              <a:t>orbit</a:t>
            </a:r>
            <a:r>
              <a:rPr spc="-135" dirty="0"/>
              <a:t> </a:t>
            </a:r>
            <a:r>
              <a:rPr spc="-10" dirty="0"/>
              <a:t>type,</a:t>
            </a:r>
            <a:r>
              <a:rPr spc="-95" dirty="0"/>
              <a:t> </a:t>
            </a:r>
            <a:r>
              <a:rPr spc="-225" dirty="0"/>
              <a:t>SO</a:t>
            </a:r>
            <a:r>
              <a:rPr spc="70" dirty="0"/>
              <a:t> </a:t>
            </a:r>
            <a:r>
              <a:rPr spc="-65" dirty="0"/>
              <a:t>has</a:t>
            </a:r>
            <a:r>
              <a:rPr spc="-2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30" dirty="0"/>
              <a:t>least</a:t>
            </a:r>
            <a:r>
              <a:rPr spc="-25" dirty="0"/>
              <a:t> </a:t>
            </a:r>
            <a:r>
              <a:rPr spc="-110" dirty="0"/>
              <a:t>success</a:t>
            </a:r>
            <a:r>
              <a:rPr spc="-15" dirty="0"/>
              <a:t> </a:t>
            </a:r>
            <a:r>
              <a:rPr dirty="0"/>
              <a:t>rate</a:t>
            </a:r>
            <a:r>
              <a:rPr spc="-15" dirty="0"/>
              <a:t> </a:t>
            </a:r>
            <a:r>
              <a:rPr dirty="0"/>
              <a:t>while</a:t>
            </a:r>
            <a:r>
              <a:rPr spc="-20" dirty="0"/>
              <a:t> </a:t>
            </a:r>
            <a:r>
              <a:rPr spc="-190" dirty="0"/>
              <a:t>ES-</a:t>
            </a:r>
            <a:r>
              <a:rPr dirty="0"/>
              <a:t>L1,</a:t>
            </a:r>
            <a:r>
              <a:rPr spc="-5" dirty="0"/>
              <a:t> </a:t>
            </a:r>
            <a:r>
              <a:rPr spc="-215" dirty="0"/>
              <a:t>GEO,</a:t>
            </a:r>
            <a:r>
              <a:rPr spc="80" dirty="0"/>
              <a:t> </a:t>
            </a:r>
            <a:r>
              <a:rPr spc="-215" dirty="0"/>
              <a:t>HEO</a:t>
            </a:r>
            <a:r>
              <a:rPr spc="7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spc="-250" dirty="0"/>
              <a:t>SSO</a:t>
            </a:r>
            <a:r>
              <a:rPr spc="75" dirty="0"/>
              <a:t> </a:t>
            </a:r>
            <a:r>
              <a:rPr spc="-70" dirty="0"/>
              <a:t>have</a:t>
            </a:r>
            <a:r>
              <a:rPr spc="-20" dirty="0"/>
              <a:t> </a:t>
            </a:r>
            <a:r>
              <a:rPr spc="-25" dirty="0"/>
              <a:t>the 	</a:t>
            </a:r>
            <a:r>
              <a:rPr spc="-20" dirty="0"/>
              <a:t>highest</a:t>
            </a:r>
            <a:r>
              <a:rPr spc="-15" dirty="0"/>
              <a:t> </a:t>
            </a:r>
            <a:r>
              <a:rPr spc="-105" dirty="0"/>
              <a:t>success</a:t>
            </a:r>
            <a:r>
              <a:rPr spc="-20" dirty="0"/>
              <a:t> </a:t>
            </a:r>
            <a:r>
              <a:rPr dirty="0"/>
              <a:t>rate</a:t>
            </a:r>
            <a:r>
              <a:rPr spc="-20" dirty="0"/>
              <a:t> </a:t>
            </a:r>
            <a:r>
              <a:rPr spc="-25" dirty="0"/>
              <a:t>According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40" dirty="0"/>
              <a:t>yearly</a:t>
            </a:r>
            <a:r>
              <a:rPr spc="-30" dirty="0"/>
              <a:t> </a:t>
            </a:r>
            <a:r>
              <a:rPr spc="-10" dirty="0"/>
              <a:t>trend</a:t>
            </a:r>
          </a:p>
          <a:p>
            <a:pPr marL="238760" indent="-22606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38760" algn="l"/>
              </a:tabLst>
            </a:pPr>
            <a:r>
              <a:rPr spc="-80" dirty="0"/>
              <a:t>There</a:t>
            </a:r>
            <a:r>
              <a:rPr spc="-15" dirty="0"/>
              <a:t> </a:t>
            </a:r>
            <a:r>
              <a:rPr spc="-65" dirty="0"/>
              <a:t>has</a:t>
            </a:r>
            <a:r>
              <a:rPr spc="-15" dirty="0"/>
              <a:t> </a:t>
            </a:r>
            <a:r>
              <a:rPr spc="-25" dirty="0"/>
              <a:t>been</a:t>
            </a:r>
            <a:r>
              <a:rPr spc="-5" dirty="0"/>
              <a:t> </a:t>
            </a:r>
            <a:r>
              <a:rPr dirty="0"/>
              <a:t>an</a:t>
            </a:r>
            <a:r>
              <a:rPr spc="-5" dirty="0"/>
              <a:t> </a:t>
            </a:r>
            <a:r>
              <a:rPr spc="-80" dirty="0"/>
              <a:t>increase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 </a:t>
            </a:r>
            <a:r>
              <a:rPr spc="-105" dirty="0"/>
              <a:t>success</a:t>
            </a:r>
            <a:r>
              <a:rPr spc="-5" dirty="0"/>
              <a:t> </a:t>
            </a:r>
            <a:r>
              <a:rPr dirty="0"/>
              <a:t>rate</a:t>
            </a:r>
            <a:r>
              <a:rPr spc="-10" dirty="0"/>
              <a:t> </a:t>
            </a:r>
            <a:r>
              <a:rPr spc="-60" dirty="0"/>
              <a:t>since</a:t>
            </a:r>
            <a:r>
              <a:rPr spc="-10" dirty="0"/>
              <a:t> </a:t>
            </a:r>
            <a:r>
              <a:rPr spc="85" dirty="0"/>
              <a:t>2013</a:t>
            </a:r>
            <a:r>
              <a:rPr spc="5" dirty="0"/>
              <a:t> </a:t>
            </a:r>
            <a:r>
              <a:rPr dirty="0"/>
              <a:t>kept</a:t>
            </a:r>
            <a:r>
              <a:rPr spc="-5" dirty="0"/>
              <a:t> </a:t>
            </a:r>
            <a:r>
              <a:rPr spc="-45" dirty="0"/>
              <a:t>increasing</a:t>
            </a:r>
            <a:r>
              <a:rPr spc="-20" dirty="0"/>
              <a:t> </a:t>
            </a:r>
            <a:r>
              <a:rPr dirty="0"/>
              <a:t>till</a:t>
            </a:r>
            <a:r>
              <a:rPr spc="-25" dirty="0"/>
              <a:t> </a:t>
            </a:r>
            <a:r>
              <a:rPr spc="65" dirty="0"/>
              <a:t>2020</a:t>
            </a:r>
          </a:p>
          <a:p>
            <a:pPr marL="238760" marR="5080" indent="-22606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best</a:t>
            </a:r>
            <a:r>
              <a:rPr spc="-60" dirty="0"/>
              <a:t> </a:t>
            </a:r>
            <a:r>
              <a:rPr spc="-40" dirty="0"/>
              <a:t>parameter</a:t>
            </a:r>
            <a:r>
              <a:rPr spc="-60" dirty="0"/>
              <a:t> </a:t>
            </a:r>
            <a:r>
              <a:rPr spc="-10" dirty="0"/>
              <a:t>provided,</a:t>
            </a:r>
            <a:r>
              <a:rPr spc="-65" dirty="0"/>
              <a:t> </a:t>
            </a:r>
            <a:r>
              <a:rPr spc="-30" dirty="0"/>
              <a:t>decision</a:t>
            </a:r>
            <a:r>
              <a:rPr spc="-70" dirty="0"/>
              <a:t> </a:t>
            </a:r>
            <a:r>
              <a:rPr dirty="0"/>
              <a:t>tree</a:t>
            </a:r>
            <a:r>
              <a:rPr spc="-60" dirty="0"/>
              <a:t> </a:t>
            </a:r>
            <a:r>
              <a:rPr spc="-50" dirty="0"/>
              <a:t>classifier</a:t>
            </a:r>
            <a:r>
              <a:rPr spc="-75" dirty="0"/>
              <a:t> </a:t>
            </a:r>
            <a:r>
              <a:rPr spc="-40" dirty="0"/>
              <a:t>used</a:t>
            </a:r>
            <a:r>
              <a:rPr spc="-6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prediction</a:t>
            </a:r>
            <a:r>
              <a:rPr spc="-70" dirty="0"/>
              <a:t> </a:t>
            </a:r>
            <a:r>
              <a:rPr spc="-20" dirty="0"/>
              <a:t>yielded</a:t>
            </a:r>
            <a:r>
              <a:rPr spc="-7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highest 	</a:t>
            </a:r>
            <a:r>
              <a:rPr spc="-95" dirty="0"/>
              <a:t>accuracy</a:t>
            </a:r>
            <a:r>
              <a:rPr spc="7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89%.</a:t>
            </a:r>
            <a:r>
              <a:rPr spc="114" dirty="0"/>
              <a:t> </a:t>
            </a:r>
            <a:r>
              <a:rPr spc="-50" dirty="0"/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43</a:t>
            </a:fld>
            <a:endParaRPr spc="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48867" y="1698955"/>
            <a:ext cx="8542655" cy="129458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495"/>
              </a:spcBef>
              <a:buFont typeface="Arial MT"/>
              <a:buChar char="•"/>
              <a:tabLst>
                <a:tab pos="238760" algn="l"/>
              </a:tabLst>
            </a:pPr>
            <a:r>
              <a:rPr lang="en-IN"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https://github.com/Jananijana2712/SpaceX-Falcon_9_First_Stage_Landing_Prediction</a:t>
            </a:r>
            <a:endParaRPr lang="en-IN" sz="2000" dirty="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 MT"/>
              <a:buChar char="•"/>
              <a:tabLst>
                <a:tab pos="238760" algn="l"/>
              </a:tabLst>
            </a:pP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https://www.coursera.org/learn/applied-data-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science-capstone/home/welcome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44</a:t>
            </a:fld>
            <a:endParaRPr spc="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1660</Words>
  <Application>Microsoft Office PowerPoint</Application>
  <PresentationFormat>Widescreen</PresentationFormat>
  <Paragraphs>257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 MT</vt:lpstr>
      <vt:lpstr>Calibri</vt:lpstr>
      <vt:lpstr>Courier New</vt:lpstr>
      <vt:lpstr>Microsoft Sans Serif</vt:lpstr>
      <vt:lpstr>Roboto</vt:lpstr>
      <vt:lpstr>Roboto Bk</vt:lpstr>
      <vt:lpstr>Tahoma</vt:lpstr>
      <vt:lpstr>Times New Roman</vt:lpstr>
      <vt:lpstr>Wingdings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PowerPoint Presentation</vt:lpstr>
      <vt:lpstr>A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&lt;All launch sites&gt;</vt:lpstr>
      <vt:lpstr>Launch outcome of different site</vt:lpstr>
      <vt:lpstr>The proximity of the launch sites</vt:lpstr>
      <vt:lpstr>PowerPoint Presentation</vt:lpstr>
      <vt:lpstr>All site launch</vt:lpstr>
      <vt:lpstr>Highest success launch ratio</vt:lpstr>
      <vt:lpstr>PowerPoint Presentation</vt:lpstr>
      <vt:lpstr>Classification Accuracy</vt:lpstr>
      <vt:lpstr>Conclusions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JANANI GOPALAKRISHNAN</cp:lastModifiedBy>
  <cp:revision>4</cp:revision>
  <dcterms:created xsi:type="dcterms:W3CDTF">2026-09-27T08:50:48Z</dcterms:created>
  <dcterms:modified xsi:type="dcterms:W3CDTF">2026-09-27T09:38:15Z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2022-12-15T00:00:00Z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2026-09-27T00:00:00Z</vt:filetime>
  </property>
  <property fmtid="{D5CDD505-2E9C-101B-9397-08002B2CF9AE}" pid="6" name="Producer">
    <vt:lpwstr>Microsoft® PowerPoint® 2019</vt:lpwstr>
  </property>
</Properties>
</file>