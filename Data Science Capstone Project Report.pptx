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4" r:id="rId47"/>
    <p:sldId id="305" r:id="rId48"/>
    <p:sldId id="302" r:id="rId49"/>
    <p:sldId id="303" r:id="rId5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2C794-85B4-4ABD-B315-CE0F4E987F43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B17BC-CE81-4F55-B72B-9042080592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91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FB17BC-CE81-4F55-B72B-9042080592A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95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723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867" y="417575"/>
            <a:ext cx="9919335" cy="589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8867" y="1893062"/>
            <a:ext cx="10187940" cy="299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2024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873" y="6103200"/>
            <a:ext cx="436245" cy="2565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‹#›</a:t>
            </a:fld>
            <a:endParaRPr spc="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spacexdata.com/v4/launches/pas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List_of_Falcon/_9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Jananijana2712/SpaceX-Falcon_9_First_Stage_Landing_Prediction/blob/main/1.1%20SpaceX%20the%20Data%20Collection%20API%20Lab.ipynb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anijana2712/SpaceX-Falcon_9_First_Stage_Landing_Prediction/blob/main/1.2%20SpaceX%20the%20Data%20Collection%20with%20Web%20Scraping%20lab.ipynb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anijana2712/SpaceX-Falcon_9_First_Stage_Landing_Prediction/blob/main/1.3%20SpaceX%20Data%20Wrangling.ipynb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ananijana2712/SpaceX-Falcon_9_First_Stage_Landing_Prediction/blob/main/1.4%20SpaceX%20%20the%20EDA%20with%20Visualization.ipynb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ananijana2712/SpaceX-Falcon_9_First_Stage_Landing_Prediction/blob/main/Assignment%20SQL%20Notebook%20for%20Peer%20Assignment.ipynb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github.com/Jananijana2712/SpaceX-Falcon_9_First_Stage_Landing_Prediction/blob/main/1.5%20SpaceX%20Interactive%20Visual%20Analytics%20with%20Folium.ipynb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s://github.com/Jananijana2712/SpaceX-Falcon_9_First_Stage_Landing_Prediction/blob/main/1.6%20SpaceX%20Machine%20Learning%20Prediction.ipyn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xiaojie-qian/SpaceX-Falcon-" TargetMode="Externa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anijana2712/SpaceX-Falcon_9_First_Stage_Landing_Predictio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ursera.org/learn/applied-data-science-capstone/home/welcome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4" name="object 4" descr="IBM Skills Network Logo - Horizontal-noai copy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016" y="676655"/>
            <a:ext cx="2103882" cy="6294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7232" y="4588509"/>
            <a:ext cx="109016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solidFill>
                  <a:schemeClr val="bg1"/>
                </a:solidFill>
                <a:latin typeface="Microsoft Sans Serif"/>
                <a:cs typeface="Microsoft Sans Serif"/>
              </a:rPr>
              <a:t>Janani G</a:t>
            </a:r>
            <a:endParaRPr sz="1800" dirty="0">
              <a:solidFill>
                <a:schemeClr val="bg1"/>
              </a:solidFill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Outline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68858" y="2124405"/>
            <a:ext cx="4608195" cy="1130300"/>
            <a:chOff x="768858" y="2124405"/>
            <a:chExt cx="4608195" cy="1130300"/>
          </a:xfrm>
        </p:grpSpPr>
        <p:sp>
          <p:nvSpPr>
            <p:cNvPr id="5" name="object 5"/>
            <p:cNvSpPr/>
            <p:nvPr/>
          </p:nvSpPr>
          <p:spPr>
            <a:xfrm>
              <a:off x="809244" y="2165604"/>
              <a:ext cx="4443095" cy="906780"/>
            </a:xfrm>
            <a:custGeom>
              <a:avLst/>
              <a:gdLst/>
              <a:ahLst/>
              <a:cxnLst/>
              <a:rect l="l" t="t" r="r" b="b"/>
              <a:pathLst>
                <a:path w="4443095" h="906780">
                  <a:moveTo>
                    <a:pt x="4442968" y="0"/>
                  </a:moveTo>
                  <a:lnTo>
                    <a:pt x="81953" y="0"/>
                  </a:lnTo>
                  <a:lnTo>
                    <a:pt x="50331" y="4780"/>
                  </a:lnTo>
                  <a:lnTo>
                    <a:pt x="24250" y="17764"/>
                  </a:lnTo>
                  <a:lnTo>
                    <a:pt x="6532" y="36915"/>
                  </a:lnTo>
                  <a:lnTo>
                    <a:pt x="0" y="60198"/>
                  </a:lnTo>
                  <a:lnTo>
                    <a:pt x="0" y="844169"/>
                  </a:lnTo>
                  <a:lnTo>
                    <a:pt x="6532" y="868592"/>
                  </a:lnTo>
                  <a:lnTo>
                    <a:pt x="24250" y="888396"/>
                  </a:lnTo>
                  <a:lnTo>
                    <a:pt x="50331" y="901676"/>
                  </a:lnTo>
                  <a:lnTo>
                    <a:pt x="81953" y="906526"/>
                  </a:lnTo>
                  <a:lnTo>
                    <a:pt x="4442968" y="906526"/>
                  </a:lnTo>
                  <a:lnTo>
                    <a:pt x="444296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858" y="2124405"/>
              <a:ext cx="1061732" cy="112984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38784" y="2163318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19" h="812800">
                  <a:moveTo>
                    <a:pt x="679450" y="0"/>
                  </a:moveTo>
                  <a:lnTo>
                    <a:pt x="0" y="0"/>
                  </a:lnTo>
                  <a:lnTo>
                    <a:pt x="24253" y="5020"/>
                  </a:lnTo>
                  <a:lnTo>
                    <a:pt x="44278" y="18637"/>
                  </a:lnTo>
                  <a:lnTo>
                    <a:pt x="57892" y="38683"/>
                  </a:lnTo>
                  <a:lnTo>
                    <a:pt x="62915" y="62992"/>
                  </a:lnTo>
                  <a:lnTo>
                    <a:pt x="62915" y="775081"/>
                  </a:lnTo>
                  <a:lnTo>
                    <a:pt x="66071" y="790082"/>
                  </a:lnTo>
                  <a:lnTo>
                    <a:pt x="74633" y="802036"/>
                  </a:lnTo>
                  <a:lnTo>
                    <a:pt x="87245" y="809942"/>
                  </a:lnTo>
                  <a:lnTo>
                    <a:pt x="102552" y="812800"/>
                  </a:lnTo>
                  <a:lnTo>
                    <a:pt x="704596" y="812800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20" y="775081"/>
                  </a:lnTo>
                  <a:lnTo>
                    <a:pt x="744220" y="62992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9371" y="2163318"/>
              <a:ext cx="93345" cy="47625"/>
            </a:xfrm>
            <a:custGeom>
              <a:avLst/>
              <a:gdLst/>
              <a:ahLst/>
              <a:cxnLst/>
              <a:rect l="l" t="t" r="r" b="b"/>
              <a:pathLst>
                <a:path w="93344" h="47625">
                  <a:moveTo>
                    <a:pt x="46418" y="0"/>
                  </a:moveTo>
                  <a:lnTo>
                    <a:pt x="28321" y="3700"/>
                  </a:lnTo>
                  <a:lnTo>
                    <a:pt x="13569" y="13795"/>
                  </a:lnTo>
                  <a:lnTo>
                    <a:pt x="3638" y="28771"/>
                  </a:lnTo>
                  <a:lnTo>
                    <a:pt x="0" y="47117"/>
                  </a:lnTo>
                  <a:lnTo>
                    <a:pt x="92837" y="47117"/>
                  </a:lnTo>
                  <a:lnTo>
                    <a:pt x="89164" y="28771"/>
                  </a:lnTo>
                  <a:lnTo>
                    <a:pt x="79176" y="13795"/>
                  </a:lnTo>
                  <a:lnTo>
                    <a:pt x="64413" y="3700"/>
                  </a:lnTo>
                  <a:lnTo>
                    <a:pt x="4641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52847" y="2163699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80">
                  <a:moveTo>
                    <a:pt x="57530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5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52847" y="2163699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80">
                  <a:moveTo>
                    <a:pt x="57530" y="0"/>
                  </a:moveTo>
                  <a:lnTo>
                    <a:pt x="24270" y="0"/>
                  </a:lnTo>
                  <a:lnTo>
                    <a:pt x="7191" y="0"/>
                  </a:lnTo>
                  <a:lnTo>
                    <a:pt x="898" y="0"/>
                  </a:lnTo>
                  <a:lnTo>
                    <a:pt x="0" y="0"/>
                  </a:lnTo>
                  <a:lnTo>
                    <a:pt x="0" y="524085"/>
                  </a:lnTo>
                  <a:lnTo>
                    <a:pt x="0" y="793210"/>
                  </a:lnTo>
                  <a:lnTo>
                    <a:pt x="0" y="892361"/>
                  </a:lnTo>
                  <a:lnTo>
                    <a:pt x="0" y="906526"/>
                  </a:lnTo>
                  <a:lnTo>
                    <a:pt x="33260" y="906526"/>
                  </a:lnTo>
                  <a:lnTo>
                    <a:pt x="50339" y="906526"/>
                  </a:lnTo>
                  <a:lnTo>
                    <a:pt x="56632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5"/>
                  </a:lnTo>
                  <a:lnTo>
                    <a:pt x="119379" y="391965"/>
                  </a:lnTo>
                  <a:lnTo>
                    <a:pt x="119379" y="159035"/>
                  </a:lnTo>
                  <a:lnTo>
                    <a:pt x="119379" y="73219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98296" y="2290826"/>
            <a:ext cx="492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01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9442" y="2416047"/>
            <a:ext cx="2524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Executive </a:t>
            </a:r>
            <a:r>
              <a:rPr sz="240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807707" y="2148027"/>
            <a:ext cx="4608195" cy="1130300"/>
            <a:chOff x="6807707" y="2148027"/>
            <a:chExt cx="4608195" cy="1130300"/>
          </a:xfrm>
        </p:grpSpPr>
        <p:sp>
          <p:nvSpPr>
            <p:cNvPr id="47" name="object 47"/>
            <p:cNvSpPr/>
            <p:nvPr/>
          </p:nvSpPr>
          <p:spPr>
            <a:xfrm>
              <a:off x="6848093" y="2188464"/>
              <a:ext cx="4443095" cy="906780"/>
            </a:xfrm>
            <a:custGeom>
              <a:avLst/>
              <a:gdLst/>
              <a:ahLst/>
              <a:cxnLst/>
              <a:rect l="l" t="t" r="r" b="b"/>
              <a:pathLst>
                <a:path w="4443095" h="906780">
                  <a:moveTo>
                    <a:pt x="4442967" y="0"/>
                  </a:moveTo>
                  <a:lnTo>
                    <a:pt x="81914" y="0"/>
                  </a:lnTo>
                  <a:lnTo>
                    <a:pt x="50309" y="4780"/>
                  </a:lnTo>
                  <a:lnTo>
                    <a:pt x="24241" y="17764"/>
                  </a:lnTo>
                  <a:lnTo>
                    <a:pt x="6530" y="36915"/>
                  </a:lnTo>
                  <a:lnTo>
                    <a:pt x="0" y="60198"/>
                  </a:lnTo>
                  <a:lnTo>
                    <a:pt x="0" y="844169"/>
                  </a:lnTo>
                  <a:lnTo>
                    <a:pt x="6530" y="868592"/>
                  </a:lnTo>
                  <a:lnTo>
                    <a:pt x="24241" y="888396"/>
                  </a:lnTo>
                  <a:lnTo>
                    <a:pt x="50309" y="901676"/>
                  </a:lnTo>
                  <a:lnTo>
                    <a:pt x="81914" y="906526"/>
                  </a:lnTo>
                  <a:lnTo>
                    <a:pt x="4442967" y="906526"/>
                  </a:lnTo>
                  <a:lnTo>
                    <a:pt x="444296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7707" y="2148027"/>
              <a:ext cx="1061732" cy="112984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977633" y="2186940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20" h="812800">
                  <a:moveTo>
                    <a:pt x="679450" y="0"/>
                  </a:moveTo>
                  <a:lnTo>
                    <a:pt x="0" y="0"/>
                  </a:lnTo>
                  <a:lnTo>
                    <a:pt x="24235" y="5020"/>
                  </a:lnTo>
                  <a:lnTo>
                    <a:pt x="44243" y="18637"/>
                  </a:lnTo>
                  <a:lnTo>
                    <a:pt x="57846" y="38683"/>
                  </a:lnTo>
                  <a:lnTo>
                    <a:pt x="62865" y="62992"/>
                  </a:lnTo>
                  <a:lnTo>
                    <a:pt x="62865" y="775081"/>
                  </a:lnTo>
                  <a:lnTo>
                    <a:pt x="66020" y="790082"/>
                  </a:lnTo>
                  <a:lnTo>
                    <a:pt x="74580" y="802036"/>
                  </a:lnTo>
                  <a:lnTo>
                    <a:pt x="87189" y="809942"/>
                  </a:lnTo>
                  <a:lnTo>
                    <a:pt x="102489" y="812800"/>
                  </a:lnTo>
                  <a:lnTo>
                    <a:pt x="704596" y="812800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20" y="775081"/>
                  </a:lnTo>
                  <a:lnTo>
                    <a:pt x="744220" y="62992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848220" y="2186940"/>
              <a:ext cx="93345" cy="46355"/>
            </a:xfrm>
            <a:custGeom>
              <a:avLst/>
              <a:gdLst/>
              <a:ahLst/>
              <a:cxnLst/>
              <a:rect l="l" t="t" r="r" b="b"/>
              <a:pathLst>
                <a:path w="93345" h="46355">
                  <a:moveTo>
                    <a:pt x="46354" y="0"/>
                  </a:moveTo>
                  <a:lnTo>
                    <a:pt x="28289" y="3635"/>
                  </a:lnTo>
                  <a:lnTo>
                    <a:pt x="13557" y="13557"/>
                  </a:lnTo>
                  <a:lnTo>
                    <a:pt x="3635" y="28289"/>
                  </a:lnTo>
                  <a:lnTo>
                    <a:pt x="0" y="46355"/>
                  </a:lnTo>
                  <a:lnTo>
                    <a:pt x="92836" y="46355"/>
                  </a:lnTo>
                  <a:lnTo>
                    <a:pt x="89163" y="28289"/>
                  </a:lnTo>
                  <a:lnTo>
                    <a:pt x="79168" y="13557"/>
                  </a:lnTo>
                  <a:lnTo>
                    <a:pt x="64387" y="3635"/>
                  </a:lnTo>
                  <a:lnTo>
                    <a:pt x="46354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291696" y="2187321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80">
                  <a:moveTo>
                    <a:pt x="57530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5"/>
                  </a:lnTo>
                  <a:lnTo>
                    <a:pt x="119379" y="60959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  <a:close/>
                </a:path>
              </a:pathLst>
            </a:custGeom>
            <a:solidFill>
              <a:srgbClr val="0A4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291696" y="2187321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80">
                  <a:moveTo>
                    <a:pt x="57530" y="0"/>
                  </a:moveTo>
                  <a:lnTo>
                    <a:pt x="24270" y="0"/>
                  </a:lnTo>
                  <a:lnTo>
                    <a:pt x="7191" y="0"/>
                  </a:lnTo>
                  <a:lnTo>
                    <a:pt x="898" y="0"/>
                  </a:lnTo>
                  <a:lnTo>
                    <a:pt x="0" y="0"/>
                  </a:lnTo>
                  <a:lnTo>
                    <a:pt x="0" y="524085"/>
                  </a:lnTo>
                  <a:lnTo>
                    <a:pt x="0" y="793210"/>
                  </a:lnTo>
                  <a:lnTo>
                    <a:pt x="0" y="892361"/>
                  </a:lnTo>
                  <a:lnTo>
                    <a:pt x="0" y="906526"/>
                  </a:lnTo>
                  <a:lnTo>
                    <a:pt x="33260" y="906526"/>
                  </a:lnTo>
                  <a:lnTo>
                    <a:pt x="50339" y="906526"/>
                  </a:lnTo>
                  <a:lnTo>
                    <a:pt x="56632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5"/>
                  </a:lnTo>
                  <a:lnTo>
                    <a:pt x="119379" y="391965"/>
                  </a:lnTo>
                  <a:lnTo>
                    <a:pt x="119379" y="159035"/>
                  </a:lnTo>
                  <a:lnTo>
                    <a:pt x="119379" y="73219"/>
                  </a:lnTo>
                  <a:lnTo>
                    <a:pt x="119379" y="60959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</a:path>
              </a:pathLst>
            </a:custGeom>
            <a:ln w="9525">
              <a:solidFill>
                <a:srgbClr val="8FAA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137145" y="2314701"/>
            <a:ext cx="492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04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879078" y="2443988"/>
            <a:ext cx="953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3430" y="3313887"/>
            <a:ext cx="4603115" cy="1130300"/>
            <a:chOff x="773430" y="3313887"/>
            <a:chExt cx="4603115" cy="1130300"/>
          </a:xfrm>
        </p:grpSpPr>
        <p:sp>
          <p:nvSpPr>
            <p:cNvPr id="14" name="object 14"/>
            <p:cNvSpPr/>
            <p:nvPr/>
          </p:nvSpPr>
          <p:spPr>
            <a:xfrm>
              <a:off x="813816" y="3355086"/>
              <a:ext cx="4443095" cy="906144"/>
            </a:xfrm>
            <a:custGeom>
              <a:avLst/>
              <a:gdLst/>
              <a:ahLst/>
              <a:cxnLst/>
              <a:rect l="l" t="t" r="r" b="b"/>
              <a:pathLst>
                <a:path w="4443095" h="906145">
                  <a:moveTo>
                    <a:pt x="4442968" y="0"/>
                  </a:moveTo>
                  <a:lnTo>
                    <a:pt x="81953" y="0"/>
                  </a:lnTo>
                  <a:lnTo>
                    <a:pt x="50331" y="4780"/>
                  </a:lnTo>
                  <a:lnTo>
                    <a:pt x="24250" y="17764"/>
                  </a:lnTo>
                  <a:lnTo>
                    <a:pt x="6532" y="36915"/>
                  </a:lnTo>
                  <a:lnTo>
                    <a:pt x="0" y="60198"/>
                  </a:lnTo>
                  <a:lnTo>
                    <a:pt x="0" y="843407"/>
                  </a:lnTo>
                  <a:lnTo>
                    <a:pt x="6532" y="867830"/>
                  </a:lnTo>
                  <a:lnTo>
                    <a:pt x="24250" y="887634"/>
                  </a:lnTo>
                  <a:lnTo>
                    <a:pt x="50331" y="900914"/>
                  </a:lnTo>
                  <a:lnTo>
                    <a:pt x="81953" y="905763"/>
                  </a:lnTo>
                  <a:lnTo>
                    <a:pt x="4442968" y="905763"/>
                  </a:lnTo>
                  <a:lnTo>
                    <a:pt x="444296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30" y="3313887"/>
              <a:ext cx="1061732" cy="112984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43356" y="3352800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19" h="812800">
                  <a:moveTo>
                    <a:pt x="679450" y="0"/>
                  </a:moveTo>
                  <a:lnTo>
                    <a:pt x="0" y="0"/>
                  </a:lnTo>
                  <a:lnTo>
                    <a:pt x="24253" y="5020"/>
                  </a:lnTo>
                  <a:lnTo>
                    <a:pt x="44278" y="18637"/>
                  </a:lnTo>
                  <a:lnTo>
                    <a:pt x="57892" y="38683"/>
                  </a:lnTo>
                  <a:lnTo>
                    <a:pt x="62915" y="62991"/>
                  </a:lnTo>
                  <a:lnTo>
                    <a:pt x="62915" y="775081"/>
                  </a:lnTo>
                  <a:lnTo>
                    <a:pt x="66071" y="790082"/>
                  </a:lnTo>
                  <a:lnTo>
                    <a:pt x="74633" y="802036"/>
                  </a:lnTo>
                  <a:lnTo>
                    <a:pt x="87245" y="809942"/>
                  </a:lnTo>
                  <a:lnTo>
                    <a:pt x="102552" y="812800"/>
                  </a:lnTo>
                  <a:lnTo>
                    <a:pt x="704595" y="812800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19" y="775081"/>
                  </a:lnTo>
                  <a:lnTo>
                    <a:pt x="744219" y="62991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3943" y="3352800"/>
              <a:ext cx="93345" cy="46355"/>
            </a:xfrm>
            <a:custGeom>
              <a:avLst/>
              <a:gdLst/>
              <a:ahLst/>
              <a:cxnLst/>
              <a:rect l="l" t="t" r="r" b="b"/>
              <a:pathLst>
                <a:path w="93344" h="46354">
                  <a:moveTo>
                    <a:pt x="46418" y="0"/>
                  </a:moveTo>
                  <a:lnTo>
                    <a:pt x="28321" y="3635"/>
                  </a:lnTo>
                  <a:lnTo>
                    <a:pt x="13569" y="13557"/>
                  </a:lnTo>
                  <a:lnTo>
                    <a:pt x="3638" y="28289"/>
                  </a:lnTo>
                  <a:lnTo>
                    <a:pt x="0" y="46354"/>
                  </a:lnTo>
                  <a:lnTo>
                    <a:pt x="92837" y="46354"/>
                  </a:lnTo>
                  <a:lnTo>
                    <a:pt x="89164" y="28289"/>
                  </a:lnTo>
                  <a:lnTo>
                    <a:pt x="79176" y="13557"/>
                  </a:lnTo>
                  <a:lnTo>
                    <a:pt x="64413" y="3635"/>
                  </a:lnTo>
                  <a:lnTo>
                    <a:pt x="4641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57038" y="3352800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79">
                  <a:moveTo>
                    <a:pt x="57531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531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6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1" y="0"/>
                  </a:lnTo>
                  <a:close/>
                </a:path>
              </a:pathLst>
            </a:custGeom>
            <a:solidFill>
              <a:srgbClr val="005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02867" y="3480561"/>
            <a:ext cx="492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02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92577" y="3577082"/>
            <a:ext cx="1598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Introduction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818376" y="3316947"/>
            <a:ext cx="4602480" cy="1130935"/>
            <a:chOff x="6818376" y="3316947"/>
            <a:chExt cx="4602480" cy="1130935"/>
          </a:xfrm>
        </p:grpSpPr>
        <p:sp>
          <p:nvSpPr>
            <p:cNvPr id="29" name="object 29"/>
            <p:cNvSpPr/>
            <p:nvPr/>
          </p:nvSpPr>
          <p:spPr>
            <a:xfrm>
              <a:off x="6858762" y="3358134"/>
              <a:ext cx="4443095" cy="906780"/>
            </a:xfrm>
            <a:custGeom>
              <a:avLst/>
              <a:gdLst/>
              <a:ahLst/>
              <a:cxnLst/>
              <a:rect l="l" t="t" r="r" b="b"/>
              <a:pathLst>
                <a:path w="4443095" h="906779">
                  <a:moveTo>
                    <a:pt x="4442968" y="0"/>
                  </a:moveTo>
                  <a:lnTo>
                    <a:pt x="81915" y="0"/>
                  </a:lnTo>
                  <a:lnTo>
                    <a:pt x="50309" y="4780"/>
                  </a:lnTo>
                  <a:lnTo>
                    <a:pt x="24241" y="17764"/>
                  </a:lnTo>
                  <a:lnTo>
                    <a:pt x="6530" y="36915"/>
                  </a:lnTo>
                  <a:lnTo>
                    <a:pt x="0" y="60198"/>
                  </a:lnTo>
                  <a:lnTo>
                    <a:pt x="0" y="844168"/>
                  </a:lnTo>
                  <a:lnTo>
                    <a:pt x="6530" y="868592"/>
                  </a:lnTo>
                  <a:lnTo>
                    <a:pt x="24241" y="888396"/>
                  </a:lnTo>
                  <a:lnTo>
                    <a:pt x="50309" y="901676"/>
                  </a:lnTo>
                  <a:lnTo>
                    <a:pt x="81915" y="906526"/>
                  </a:lnTo>
                  <a:lnTo>
                    <a:pt x="4442968" y="906526"/>
                  </a:lnTo>
                  <a:lnTo>
                    <a:pt x="444296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8376" y="3316947"/>
              <a:ext cx="1061732" cy="113059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988302" y="3355848"/>
              <a:ext cx="744220" cy="814069"/>
            </a:xfrm>
            <a:custGeom>
              <a:avLst/>
              <a:gdLst/>
              <a:ahLst/>
              <a:cxnLst/>
              <a:rect l="l" t="t" r="r" b="b"/>
              <a:pathLst>
                <a:path w="744220" h="814070">
                  <a:moveTo>
                    <a:pt x="679450" y="0"/>
                  </a:moveTo>
                  <a:lnTo>
                    <a:pt x="0" y="0"/>
                  </a:lnTo>
                  <a:lnTo>
                    <a:pt x="24235" y="5020"/>
                  </a:lnTo>
                  <a:lnTo>
                    <a:pt x="44243" y="18637"/>
                  </a:lnTo>
                  <a:lnTo>
                    <a:pt x="57846" y="38683"/>
                  </a:lnTo>
                  <a:lnTo>
                    <a:pt x="62865" y="62991"/>
                  </a:lnTo>
                  <a:lnTo>
                    <a:pt x="62865" y="775843"/>
                  </a:lnTo>
                  <a:lnTo>
                    <a:pt x="66020" y="790844"/>
                  </a:lnTo>
                  <a:lnTo>
                    <a:pt x="74580" y="802798"/>
                  </a:lnTo>
                  <a:lnTo>
                    <a:pt x="87189" y="810704"/>
                  </a:lnTo>
                  <a:lnTo>
                    <a:pt x="102489" y="813562"/>
                  </a:lnTo>
                  <a:lnTo>
                    <a:pt x="704596" y="813562"/>
                  </a:lnTo>
                  <a:lnTo>
                    <a:pt x="719895" y="810704"/>
                  </a:lnTo>
                  <a:lnTo>
                    <a:pt x="732504" y="802798"/>
                  </a:lnTo>
                  <a:lnTo>
                    <a:pt x="741064" y="790844"/>
                  </a:lnTo>
                  <a:lnTo>
                    <a:pt x="744220" y="775843"/>
                  </a:lnTo>
                  <a:lnTo>
                    <a:pt x="744220" y="62991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58889" y="3355848"/>
              <a:ext cx="93345" cy="47625"/>
            </a:xfrm>
            <a:custGeom>
              <a:avLst/>
              <a:gdLst/>
              <a:ahLst/>
              <a:cxnLst/>
              <a:rect l="l" t="t" r="r" b="b"/>
              <a:pathLst>
                <a:path w="93345" h="47625">
                  <a:moveTo>
                    <a:pt x="46354" y="0"/>
                  </a:moveTo>
                  <a:lnTo>
                    <a:pt x="28289" y="3700"/>
                  </a:lnTo>
                  <a:lnTo>
                    <a:pt x="13557" y="13795"/>
                  </a:lnTo>
                  <a:lnTo>
                    <a:pt x="3635" y="28771"/>
                  </a:lnTo>
                  <a:lnTo>
                    <a:pt x="0" y="47116"/>
                  </a:lnTo>
                  <a:lnTo>
                    <a:pt x="92836" y="47116"/>
                  </a:lnTo>
                  <a:lnTo>
                    <a:pt x="89163" y="28771"/>
                  </a:lnTo>
                  <a:lnTo>
                    <a:pt x="79168" y="13795"/>
                  </a:lnTo>
                  <a:lnTo>
                    <a:pt x="64387" y="3700"/>
                  </a:lnTo>
                  <a:lnTo>
                    <a:pt x="46354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301984" y="3355848"/>
              <a:ext cx="118745" cy="906780"/>
            </a:xfrm>
            <a:custGeom>
              <a:avLst/>
              <a:gdLst/>
              <a:ahLst/>
              <a:cxnLst/>
              <a:rect l="l" t="t" r="r" b="b"/>
              <a:pathLst>
                <a:path w="118745" h="906779">
                  <a:moveTo>
                    <a:pt x="57150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150" y="906526"/>
                  </a:lnTo>
                  <a:lnTo>
                    <a:pt x="81166" y="901698"/>
                  </a:lnTo>
                  <a:lnTo>
                    <a:pt x="100695" y="888571"/>
                  </a:lnTo>
                  <a:lnTo>
                    <a:pt x="113817" y="869182"/>
                  </a:lnTo>
                  <a:lnTo>
                    <a:pt x="118618" y="845565"/>
                  </a:lnTo>
                  <a:lnTo>
                    <a:pt x="118618" y="60960"/>
                  </a:lnTo>
                  <a:lnTo>
                    <a:pt x="113817" y="37343"/>
                  </a:lnTo>
                  <a:lnTo>
                    <a:pt x="100695" y="17954"/>
                  </a:lnTo>
                  <a:lnTo>
                    <a:pt x="81166" y="4827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147814" y="3483864"/>
            <a:ext cx="492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05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45981" y="3570223"/>
            <a:ext cx="1437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Conclusion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73430" y="4574285"/>
            <a:ext cx="4608195" cy="1130300"/>
            <a:chOff x="773430" y="4574285"/>
            <a:chExt cx="4608195" cy="1130300"/>
          </a:xfrm>
        </p:grpSpPr>
        <p:sp>
          <p:nvSpPr>
            <p:cNvPr id="21" name="object 21"/>
            <p:cNvSpPr/>
            <p:nvPr/>
          </p:nvSpPr>
          <p:spPr>
            <a:xfrm>
              <a:off x="813816" y="4615433"/>
              <a:ext cx="4443095" cy="906144"/>
            </a:xfrm>
            <a:custGeom>
              <a:avLst/>
              <a:gdLst/>
              <a:ahLst/>
              <a:cxnLst/>
              <a:rect l="l" t="t" r="r" b="b"/>
              <a:pathLst>
                <a:path w="4443095" h="906145">
                  <a:moveTo>
                    <a:pt x="4442968" y="0"/>
                  </a:moveTo>
                  <a:lnTo>
                    <a:pt x="81953" y="0"/>
                  </a:lnTo>
                  <a:lnTo>
                    <a:pt x="50331" y="4780"/>
                  </a:lnTo>
                  <a:lnTo>
                    <a:pt x="24250" y="17764"/>
                  </a:lnTo>
                  <a:lnTo>
                    <a:pt x="6532" y="36915"/>
                  </a:lnTo>
                  <a:lnTo>
                    <a:pt x="0" y="60198"/>
                  </a:lnTo>
                  <a:lnTo>
                    <a:pt x="0" y="843407"/>
                  </a:lnTo>
                  <a:lnTo>
                    <a:pt x="6532" y="867830"/>
                  </a:lnTo>
                  <a:lnTo>
                    <a:pt x="24250" y="887634"/>
                  </a:lnTo>
                  <a:lnTo>
                    <a:pt x="50331" y="900914"/>
                  </a:lnTo>
                  <a:lnTo>
                    <a:pt x="81953" y="905764"/>
                  </a:lnTo>
                  <a:lnTo>
                    <a:pt x="4442968" y="905764"/>
                  </a:lnTo>
                  <a:lnTo>
                    <a:pt x="444296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430" y="4574285"/>
              <a:ext cx="1061732" cy="112984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43356" y="4613147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19" h="812800">
                  <a:moveTo>
                    <a:pt x="679450" y="0"/>
                  </a:moveTo>
                  <a:lnTo>
                    <a:pt x="0" y="0"/>
                  </a:lnTo>
                  <a:lnTo>
                    <a:pt x="24253" y="5020"/>
                  </a:lnTo>
                  <a:lnTo>
                    <a:pt x="44278" y="18637"/>
                  </a:lnTo>
                  <a:lnTo>
                    <a:pt x="57892" y="38683"/>
                  </a:lnTo>
                  <a:lnTo>
                    <a:pt x="62915" y="62991"/>
                  </a:lnTo>
                  <a:lnTo>
                    <a:pt x="62915" y="775080"/>
                  </a:lnTo>
                  <a:lnTo>
                    <a:pt x="66071" y="790082"/>
                  </a:lnTo>
                  <a:lnTo>
                    <a:pt x="74633" y="802036"/>
                  </a:lnTo>
                  <a:lnTo>
                    <a:pt x="87245" y="809942"/>
                  </a:lnTo>
                  <a:lnTo>
                    <a:pt x="102552" y="812799"/>
                  </a:lnTo>
                  <a:lnTo>
                    <a:pt x="704595" y="812799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19" y="775080"/>
                  </a:lnTo>
                  <a:lnTo>
                    <a:pt x="744219" y="62991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3943" y="4613147"/>
              <a:ext cx="93345" cy="47625"/>
            </a:xfrm>
            <a:custGeom>
              <a:avLst/>
              <a:gdLst/>
              <a:ahLst/>
              <a:cxnLst/>
              <a:rect l="l" t="t" r="r" b="b"/>
              <a:pathLst>
                <a:path w="93344" h="47625">
                  <a:moveTo>
                    <a:pt x="46418" y="0"/>
                  </a:moveTo>
                  <a:lnTo>
                    <a:pt x="28321" y="3700"/>
                  </a:lnTo>
                  <a:lnTo>
                    <a:pt x="13569" y="13795"/>
                  </a:lnTo>
                  <a:lnTo>
                    <a:pt x="3638" y="28771"/>
                  </a:lnTo>
                  <a:lnTo>
                    <a:pt x="0" y="47116"/>
                  </a:lnTo>
                  <a:lnTo>
                    <a:pt x="92837" y="47116"/>
                  </a:lnTo>
                  <a:lnTo>
                    <a:pt x="89164" y="28771"/>
                  </a:lnTo>
                  <a:lnTo>
                    <a:pt x="79176" y="13795"/>
                  </a:lnTo>
                  <a:lnTo>
                    <a:pt x="64413" y="3700"/>
                  </a:lnTo>
                  <a:lnTo>
                    <a:pt x="46418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57419" y="4613528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79">
                  <a:moveTo>
                    <a:pt x="57530" y="0"/>
                  </a:moveTo>
                  <a:lnTo>
                    <a:pt x="0" y="0"/>
                  </a:lnTo>
                  <a:lnTo>
                    <a:pt x="0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6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57419" y="4613528"/>
              <a:ext cx="119380" cy="906780"/>
            </a:xfrm>
            <a:custGeom>
              <a:avLst/>
              <a:gdLst/>
              <a:ahLst/>
              <a:cxnLst/>
              <a:rect l="l" t="t" r="r" b="b"/>
              <a:pathLst>
                <a:path w="119379" h="906779">
                  <a:moveTo>
                    <a:pt x="57530" y="0"/>
                  </a:moveTo>
                  <a:lnTo>
                    <a:pt x="24270" y="0"/>
                  </a:lnTo>
                  <a:lnTo>
                    <a:pt x="7191" y="0"/>
                  </a:lnTo>
                  <a:lnTo>
                    <a:pt x="898" y="0"/>
                  </a:lnTo>
                  <a:lnTo>
                    <a:pt x="0" y="0"/>
                  </a:lnTo>
                  <a:lnTo>
                    <a:pt x="0" y="524085"/>
                  </a:lnTo>
                  <a:lnTo>
                    <a:pt x="0" y="793210"/>
                  </a:lnTo>
                  <a:lnTo>
                    <a:pt x="0" y="892361"/>
                  </a:lnTo>
                  <a:lnTo>
                    <a:pt x="0" y="906526"/>
                  </a:lnTo>
                  <a:lnTo>
                    <a:pt x="33260" y="906526"/>
                  </a:lnTo>
                  <a:lnTo>
                    <a:pt x="50339" y="906526"/>
                  </a:lnTo>
                  <a:lnTo>
                    <a:pt x="56632" y="906526"/>
                  </a:lnTo>
                  <a:lnTo>
                    <a:pt x="57530" y="906526"/>
                  </a:lnTo>
                  <a:lnTo>
                    <a:pt x="81714" y="901698"/>
                  </a:lnTo>
                  <a:lnTo>
                    <a:pt x="101361" y="888571"/>
                  </a:lnTo>
                  <a:lnTo>
                    <a:pt x="114555" y="869182"/>
                  </a:lnTo>
                  <a:lnTo>
                    <a:pt x="119379" y="845566"/>
                  </a:lnTo>
                  <a:lnTo>
                    <a:pt x="119379" y="391965"/>
                  </a:lnTo>
                  <a:lnTo>
                    <a:pt x="119379" y="159035"/>
                  </a:lnTo>
                  <a:lnTo>
                    <a:pt x="119379" y="73219"/>
                  </a:lnTo>
                  <a:lnTo>
                    <a:pt x="119379" y="60960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</a:path>
              </a:pathLst>
            </a:custGeom>
            <a:ln w="9525">
              <a:solidFill>
                <a:srgbClr val="1354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02867" y="4741164"/>
            <a:ext cx="4921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03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22473" y="4798059"/>
            <a:ext cx="1736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07707" y="4572761"/>
            <a:ext cx="4603115" cy="1130300"/>
            <a:chOff x="6807707" y="4572761"/>
            <a:chExt cx="4603115" cy="1130300"/>
          </a:xfrm>
        </p:grpSpPr>
        <p:sp>
          <p:nvSpPr>
            <p:cNvPr id="36" name="object 36"/>
            <p:cNvSpPr/>
            <p:nvPr/>
          </p:nvSpPr>
          <p:spPr>
            <a:xfrm>
              <a:off x="6848093" y="4613147"/>
              <a:ext cx="4443095" cy="906780"/>
            </a:xfrm>
            <a:custGeom>
              <a:avLst/>
              <a:gdLst/>
              <a:ahLst/>
              <a:cxnLst/>
              <a:rect l="l" t="t" r="r" b="b"/>
              <a:pathLst>
                <a:path w="4443095" h="906779">
                  <a:moveTo>
                    <a:pt x="4442967" y="0"/>
                  </a:moveTo>
                  <a:lnTo>
                    <a:pt x="81914" y="0"/>
                  </a:lnTo>
                  <a:lnTo>
                    <a:pt x="50309" y="4780"/>
                  </a:lnTo>
                  <a:lnTo>
                    <a:pt x="24241" y="17764"/>
                  </a:lnTo>
                  <a:lnTo>
                    <a:pt x="6530" y="36915"/>
                  </a:lnTo>
                  <a:lnTo>
                    <a:pt x="0" y="60197"/>
                  </a:lnTo>
                  <a:lnTo>
                    <a:pt x="0" y="844168"/>
                  </a:lnTo>
                  <a:lnTo>
                    <a:pt x="6530" y="868592"/>
                  </a:lnTo>
                  <a:lnTo>
                    <a:pt x="24241" y="888396"/>
                  </a:lnTo>
                  <a:lnTo>
                    <a:pt x="50309" y="901676"/>
                  </a:lnTo>
                  <a:lnTo>
                    <a:pt x="81914" y="906526"/>
                  </a:lnTo>
                  <a:lnTo>
                    <a:pt x="4442967" y="906526"/>
                  </a:lnTo>
                  <a:lnTo>
                    <a:pt x="444296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7707" y="4572761"/>
              <a:ext cx="1061732" cy="112984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977633" y="4611623"/>
              <a:ext cx="744220" cy="812800"/>
            </a:xfrm>
            <a:custGeom>
              <a:avLst/>
              <a:gdLst/>
              <a:ahLst/>
              <a:cxnLst/>
              <a:rect l="l" t="t" r="r" b="b"/>
              <a:pathLst>
                <a:path w="744220" h="812800">
                  <a:moveTo>
                    <a:pt x="679450" y="0"/>
                  </a:moveTo>
                  <a:lnTo>
                    <a:pt x="0" y="0"/>
                  </a:lnTo>
                  <a:lnTo>
                    <a:pt x="24235" y="5020"/>
                  </a:lnTo>
                  <a:lnTo>
                    <a:pt x="44243" y="18637"/>
                  </a:lnTo>
                  <a:lnTo>
                    <a:pt x="57846" y="38683"/>
                  </a:lnTo>
                  <a:lnTo>
                    <a:pt x="62865" y="62992"/>
                  </a:lnTo>
                  <a:lnTo>
                    <a:pt x="62865" y="775081"/>
                  </a:lnTo>
                  <a:lnTo>
                    <a:pt x="66020" y="790082"/>
                  </a:lnTo>
                  <a:lnTo>
                    <a:pt x="74580" y="802036"/>
                  </a:lnTo>
                  <a:lnTo>
                    <a:pt x="87189" y="809942"/>
                  </a:lnTo>
                  <a:lnTo>
                    <a:pt x="102489" y="812800"/>
                  </a:lnTo>
                  <a:lnTo>
                    <a:pt x="704596" y="812800"/>
                  </a:lnTo>
                  <a:lnTo>
                    <a:pt x="719895" y="809942"/>
                  </a:lnTo>
                  <a:lnTo>
                    <a:pt x="732504" y="802036"/>
                  </a:lnTo>
                  <a:lnTo>
                    <a:pt x="741064" y="790082"/>
                  </a:lnTo>
                  <a:lnTo>
                    <a:pt x="744220" y="775081"/>
                  </a:lnTo>
                  <a:lnTo>
                    <a:pt x="744220" y="62992"/>
                  </a:lnTo>
                  <a:lnTo>
                    <a:pt x="739171" y="38683"/>
                  </a:lnTo>
                  <a:lnTo>
                    <a:pt x="725360" y="18637"/>
                  </a:lnTo>
                  <a:lnTo>
                    <a:pt x="704786" y="502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48220" y="4611623"/>
              <a:ext cx="93345" cy="46355"/>
            </a:xfrm>
            <a:custGeom>
              <a:avLst/>
              <a:gdLst/>
              <a:ahLst/>
              <a:cxnLst/>
              <a:rect l="l" t="t" r="r" b="b"/>
              <a:pathLst>
                <a:path w="93345" h="46354">
                  <a:moveTo>
                    <a:pt x="46354" y="0"/>
                  </a:moveTo>
                  <a:lnTo>
                    <a:pt x="28289" y="3635"/>
                  </a:lnTo>
                  <a:lnTo>
                    <a:pt x="13557" y="13557"/>
                  </a:lnTo>
                  <a:lnTo>
                    <a:pt x="3635" y="28289"/>
                  </a:lnTo>
                  <a:lnTo>
                    <a:pt x="0" y="46355"/>
                  </a:lnTo>
                  <a:lnTo>
                    <a:pt x="92836" y="46355"/>
                  </a:lnTo>
                  <a:lnTo>
                    <a:pt x="89163" y="28289"/>
                  </a:lnTo>
                  <a:lnTo>
                    <a:pt x="79168" y="13557"/>
                  </a:lnTo>
                  <a:lnTo>
                    <a:pt x="64387" y="3635"/>
                  </a:lnTo>
                  <a:lnTo>
                    <a:pt x="46354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291315" y="4611623"/>
              <a:ext cx="119380" cy="906144"/>
            </a:xfrm>
            <a:custGeom>
              <a:avLst/>
              <a:gdLst/>
              <a:ahLst/>
              <a:cxnLst/>
              <a:rect l="l" t="t" r="r" b="b"/>
              <a:pathLst>
                <a:path w="119379" h="906145">
                  <a:moveTo>
                    <a:pt x="57530" y="0"/>
                  </a:moveTo>
                  <a:lnTo>
                    <a:pt x="0" y="0"/>
                  </a:lnTo>
                  <a:lnTo>
                    <a:pt x="0" y="905763"/>
                  </a:lnTo>
                  <a:lnTo>
                    <a:pt x="57530" y="905763"/>
                  </a:lnTo>
                  <a:lnTo>
                    <a:pt x="81714" y="900953"/>
                  </a:lnTo>
                  <a:lnTo>
                    <a:pt x="101361" y="887857"/>
                  </a:lnTo>
                  <a:lnTo>
                    <a:pt x="114555" y="868473"/>
                  </a:lnTo>
                  <a:lnTo>
                    <a:pt x="119379" y="844804"/>
                  </a:lnTo>
                  <a:lnTo>
                    <a:pt x="119379" y="60959"/>
                  </a:lnTo>
                  <a:lnTo>
                    <a:pt x="114555" y="37343"/>
                  </a:lnTo>
                  <a:lnTo>
                    <a:pt x="101361" y="17954"/>
                  </a:lnTo>
                  <a:lnTo>
                    <a:pt x="81714" y="4827"/>
                  </a:lnTo>
                  <a:lnTo>
                    <a:pt x="57530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137145" y="4738878"/>
            <a:ext cx="4921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FFFFFF"/>
                </a:solidFill>
                <a:latin typeface="Roboto"/>
                <a:cs typeface="Roboto"/>
              </a:rPr>
              <a:t>06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748014" y="4865370"/>
            <a:ext cx="12547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Appendix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0" dirty="0"/>
              <a:t>Executive</a:t>
            </a:r>
            <a:r>
              <a:rPr spc="-55" dirty="0"/>
              <a:t> </a:t>
            </a:r>
            <a:r>
              <a:rPr spc="-180" dirty="0"/>
              <a:t>Summary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230356" y="6080252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25" dirty="0">
                <a:solidFill>
                  <a:srgbClr val="1C7CDB"/>
                </a:solidFill>
                <a:latin typeface="Microsoft Sans Serif"/>
                <a:cs typeface="Microsoft Sans Serif"/>
              </a:rPr>
              <a:t>4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9A05D2-B338-72E0-F5B2-4EC60D8A3B28}"/>
              </a:ext>
            </a:extLst>
          </p:cNvPr>
          <p:cNvSpPr txBox="1"/>
          <p:nvPr/>
        </p:nvSpPr>
        <p:spPr>
          <a:xfrm>
            <a:off x="769238" y="1400054"/>
            <a:ext cx="10011156" cy="4950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dirty="0"/>
              <a:t>• The following methodologies were used to </a:t>
            </a:r>
            <a:r>
              <a:rPr lang="en-IN" dirty="0" err="1"/>
              <a:t>analyze</a:t>
            </a:r>
            <a:r>
              <a:rPr lang="en-IN" dirty="0"/>
              <a:t> data:</a:t>
            </a:r>
          </a:p>
          <a:p>
            <a:pPr algn="l">
              <a:lnSpc>
                <a:spcPct val="150000"/>
              </a:lnSpc>
            </a:pPr>
            <a:r>
              <a:rPr lang="en-IN" dirty="0"/>
              <a:t>• Data Collection using web scraping and SpaceX API;</a:t>
            </a:r>
          </a:p>
          <a:p>
            <a:pPr algn="l">
              <a:lnSpc>
                <a:spcPct val="150000"/>
              </a:lnSpc>
            </a:pPr>
            <a:r>
              <a:rPr lang="en-IN" dirty="0"/>
              <a:t>• Exploratory Data Analysis (EDA), including data wrangling, data visualization and interactive</a:t>
            </a:r>
          </a:p>
          <a:p>
            <a:pPr algn="l">
              <a:lnSpc>
                <a:spcPct val="150000"/>
              </a:lnSpc>
            </a:pPr>
            <a:r>
              <a:rPr lang="en-IN" dirty="0"/>
              <a:t>visual analytics;</a:t>
            </a:r>
          </a:p>
          <a:p>
            <a:pPr algn="l">
              <a:lnSpc>
                <a:spcPct val="150000"/>
              </a:lnSpc>
            </a:pPr>
            <a:r>
              <a:rPr lang="en-IN" dirty="0"/>
              <a:t>• Machine Learning Prediction.</a:t>
            </a:r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sz="2000" b="1" dirty="0"/>
              <a:t> Summary of all results</a:t>
            </a:r>
          </a:p>
          <a:p>
            <a:pPr algn="l"/>
            <a:endParaRPr lang="en-IN" sz="2000" b="1" dirty="0"/>
          </a:p>
          <a:p>
            <a:pPr algn="l">
              <a:lnSpc>
                <a:spcPct val="150000"/>
              </a:lnSpc>
            </a:pPr>
            <a:r>
              <a:rPr lang="en-IN" dirty="0"/>
              <a:t>• It was possible to collected valuable data from public sources;</a:t>
            </a:r>
          </a:p>
          <a:p>
            <a:pPr algn="l">
              <a:lnSpc>
                <a:spcPct val="150000"/>
              </a:lnSpc>
            </a:pPr>
            <a:r>
              <a:rPr lang="en-IN" dirty="0"/>
              <a:t>• EDA allowed to identify which features are the best to predict success of launchings;</a:t>
            </a:r>
          </a:p>
          <a:p>
            <a:pPr algn="l">
              <a:lnSpc>
                <a:spcPct val="150000"/>
              </a:lnSpc>
            </a:pPr>
            <a:r>
              <a:rPr lang="en-IN" dirty="0"/>
              <a:t>• Machine Learning Prediction showed the best model to predict which characteristics are</a:t>
            </a:r>
          </a:p>
          <a:p>
            <a:pPr algn="l">
              <a:lnSpc>
                <a:spcPct val="150000"/>
              </a:lnSpc>
            </a:pPr>
            <a:r>
              <a:rPr lang="en-IN" dirty="0"/>
              <a:t>important to drive this opportunity by the best way, using all collected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Introduction</a:t>
            </a: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6780" y="1480565"/>
            <a:ext cx="7526020" cy="1219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70" dirty="0">
                <a:solidFill>
                  <a:srgbClr val="1F1F1F"/>
                </a:solidFill>
                <a:latin typeface="Tahoma"/>
                <a:cs typeface="Tahoma"/>
              </a:rPr>
              <a:t>SpaceX’s</a:t>
            </a:r>
            <a:r>
              <a:rPr sz="2400" b="1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1F1F1F"/>
                </a:solidFill>
                <a:latin typeface="Tahoma"/>
                <a:cs typeface="Tahoma"/>
              </a:rPr>
              <a:t>goal:</a:t>
            </a:r>
            <a:endParaRPr sz="24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Sending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spacecraft</a:t>
            </a:r>
            <a:r>
              <a:rPr sz="18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International</a:t>
            </a:r>
            <a:r>
              <a:rPr sz="1800" spc="-114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Space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Station.</a:t>
            </a:r>
            <a:endParaRPr sz="1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Starlink,</a:t>
            </a:r>
            <a:r>
              <a:rPr sz="1800" spc="-13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satellite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internet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constellation</a:t>
            </a:r>
            <a:r>
              <a:rPr sz="1800" spc="-12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providing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satellite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Internet</a:t>
            </a:r>
            <a:r>
              <a:rPr sz="18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access.</a:t>
            </a:r>
            <a:endParaRPr sz="1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Sending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manned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missions</a:t>
            </a:r>
            <a:r>
              <a:rPr sz="18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Space.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5894" y="3008426"/>
            <a:ext cx="1527810" cy="599440"/>
            <a:chOff x="675894" y="3008426"/>
            <a:chExt cx="1527810" cy="59944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894" y="3008426"/>
              <a:ext cx="1527809" cy="54249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736" y="3020580"/>
              <a:ext cx="1007427" cy="58685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806" y="3047238"/>
              <a:ext cx="1421130" cy="43586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33805" y="3047238"/>
            <a:ext cx="1421130" cy="43624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96875">
              <a:lnSpc>
                <a:spcPct val="100000"/>
              </a:lnSpc>
              <a:spcBef>
                <a:spcPts val="52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23414" y="3132582"/>
            <a:ext cx="2564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Spaces</a:t>
            </a:r>
            <a:r>
              <a:rPr sz="18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X’s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Falcon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5" dirty="0">
                <a:solidFill>
                  <a:srgbClr val="1F1F1F"/>
                </a:solidFill>
                <a:latin typeface="Tahoma"/>
                <a:cs typeface="Tahoma"/>
              </a:rPr>
              <a:t>9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launch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75894" y="3685082"/>
            <a:ext cx="1527810" cy="599440"/>
            <a:chOff x="675894" y="3685082"/>
            <a:chExt cx="1527810" cy="59944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894" y="3685082"/>
              <a:ext cx="1527809" cy="5424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0224" y="3697236"/>
              <a:ext cx="818337" cy="58685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806" y="3723894"/>
              <a:ext cx="1421130" cy="43586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33805" y="3723894"/>
            <a:ext cx="1421130" cy="4362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Goal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23414" y="3814826"/>
            <a:ext cx="3689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determine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price</a:t>
            </a:r>
            <a:r>
              <a:rPr sz="18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of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each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launch.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5894" y="4361624"/>
            <a:ext cx="1527810" cy="600075"/>
            <a:chOff x="675894" y="4361624"/>
            <a:chExt cx="1527810" cy="600075"/>
          </a:xfrm>
        </p:grpSpPr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5894" y="4361624"/>
              <a:ext cx="1527809" cy="5432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4494" y="4374654"/>
              <a:ext cx="1070597" cy="58685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3806" y="4400549"/>
              <a:ext cx="1421130" cy="4366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33805" y="4400550"/>
            <a:ext cx="1421130" cy="43688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52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Reason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53639" y="4517644"/>
            <a:ext cx="7988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35" dirty="0">
                <a:solidFill>
                  <a:srgbClr val="1F1F1F"/>
                </a:solidFill>
                <a:latin typeface="Tahoma"/>
                <a:cs typeface="Tahoma"/>
              </a:rPr>
              <a:t>If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1F1F1F"/>
                </a:solidFill>
                <a:latin typeface="Tahoma"/>
                <a:cs typeface="Tahoma"/>
              </a:rPr>
              <a:t>we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can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determine</a:t>
            </a:r>
            <a:r>
              <a:rPr sz="1800" spc="-19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if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first</a:t>
            </a:r>
            <a:r>
              <a:rPr sz="18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1F1F1F"/>
                </a:solidFill>
                <a:latin typeface="Tahoma"/>
                <a:cs typeface="Tahoma"/>
              </a:rPr>
              <a:t>stage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will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land,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65" dirty="0">
                <a:solidFill>
                  <a:srgbClr val="1F1F1F"/>
                </a:solidFill>
                <a:latin typeface="Tahoma"/>
                <a:cs typeface="Tahoma"/>
              </a:rPr>
              <a:t>we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can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determine</a:t>
            </a:r>
            <a:r>
              <a:rPr sz="1800" spc="-20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cost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of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launch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5894" y="5039156"/>
            <a:ext cx="1527810" cy="599440"/>
            <a:chOff x="675894" y="5039156"/>
            <a:chExt cx="1527810" cy="5994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894" y="5039156"/>
              <a:ext cx="1527809" cy="5424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8680" y="5051297"/>
              <a:ext cx="1141488" cy="5868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3806" y="5077967"/>
              <a:ext cx="1421130" cy="43586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33805" y="5077967"/>
            <a:ext cx="1421130" cy="4362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52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23414" y="5096764"/>
            <a:ext cx="82321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By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1F1F1F"/>
                </a:solidFill>
                <a:latin typeface="Tahoma"/>
                <a:cs typeface="Tahoma"/>
              </a:rPr>
              <a:t>gathering</a:t>
            </a:r>
            <a:r>
              <a:rPr sz="1800" spc="-15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information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about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5" dirty="0">
                <a:solidFill>
                  <a:srgbClr val="1F1F1F"/>
                </a:solidFill>
                <a:latin typeface="Tahoma"/>
                <a:cs typeface="Tahoma"/>
              </a:rPr>
              <a:t>Space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45" dirty="0">
                <a:solidFill>
                  <a:srgbClr val="1F1F1F"/>
                </a:solidFill>
                <a:latin typeface="Tahoma"/>
                <a:cs typeface="Tahoma"/>
              </a:rPr>
              <a:t>X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and</a:t>
            </a:r>
            <a:r>
              <a:rPr sz="1800" spc="-15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creating</a:t>
            </a:r>
            <a:r>
              <a:rPr sz="18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dashboards:</a:t>
            </a:r>
            <a:endParaRPr sz="1800">
              <a:latin typeface="Tahoma"/>
              <a:cs typeface="Tahoma"/>
            </a:endParaRPr>
          </a:p>
          <a:p>
            <a:pPr marL="297180" indent="-284480">
              <a:lnSpc>
                <a:spcPct val="100000"/>
              </a:lnSpc>
              <a:buFont typeface="Courier New"/>
              <a:buChar char="o"/>
              <a:tabLst>
                <a:tab pos="297180" algn="l"/>
              </a:tabLst>
            </a:pPr>
            <a:r>
              <a:rPr sz="1800" spc="-60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determine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if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SpaceX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will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1F1F1F"/>
                </a:solidFill>
                <a:latin typeface="Tahoma"/>
                <a:cs typeface="Tahoma"/>
              </a:rPr>
              <a:t>reuse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first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stage</a:t>
            </a:r>
            <a:endParaRPr sz="1800">
              <a:latin typeface="Tahoma"/>
              <a:cs typeface="Tahoma"/>
            </a:endParaRPr>
          </a:p>
          <a:p>
            <a:pPr marL="297180" marR="5080" indent="-28448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298450" algn="l"/>
              </a:tabLst>
            </a:pPr>
            <a:r>
              <a:rPr sz="1800" spc="-40" dirty="0">
                <a:solidFill>
                  <a:srgbClr val="1F1F1F"/>
                </a:solidFill>
                <a:latin typeface="Tahoma"/>
                <a:cs typeface="Tahoma"/>
              </a:rPr>
              <a:t>Train</a:t>
            </a:r>
            <a:r>
              <a:rPr sz="1800" spc="-16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a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machine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1F1F1F"/>
                </a:solidFill>
                <a:latin typeface="Tahoma"/>
                <a:cs typeface="Tahoma"/>
              </a:rPr>
              <a:t>learning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model</a:t>
            </a:r>
            <a:r>
              <a:rPr sz="1800" spc="-18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and</a:t>
            </a:r>
            <a:r>
              <a:rPr sz="1800" spc="-16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use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public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information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1F1F1F"/>
                </a:solidFill>
                <a:latin typeface="Tahoma"/>
                <a:cs typeface="Tahoma"/>
              </a:rPr>
              <a:t>to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predict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if</a:t>
            </a:r>
            <a:r>
              <a:rPr sz="1800" spc="-17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1F1F1F"/>
                </a:solidFill>
                <a:latin typeface="Tahoma"/>
                <a:cs typeface="Tahoma"/>
              </a:rPr>
              <a:t>SpaceX</a:t>
            </a:r>
            <a:r>
              <a:rPr sz="1800" spc="-14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F1F1F"/>
                </a:solidFill>
                <a:latin typeface="Tahoma"/>
                <a:cs typeface="Tahoma"/>
              </a:rPr>
              <a:t>will 	</a:t>
            </a:r>
            <a:r>
              <a:rPr sz="1800" spc="-50" dirty="0">
                <a:solidFill>
                  <a:srgbClr val="1F1F1F"/>
                </a:solidFill>
                <a:latin typeface="Tahoma"/>
                <a:cs typeface="Tahoma"/>
              </a:rPr>
              <a:t>reuse</a:t>
            </a:r>
            <a:r>
              <a:rPr sz="1800" spc="-19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1F1F1F"/>
                </a:solidFill>
                <a:latin typeface="Tahoma"/>
                <a:cs typeface="Tahoma"/>
              </a:rPr>
              <a:t>the</a:t>
            </a:r>
            <a:r>
              <a:rPr sz="1800" spc="-175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1F1F1F"/>
                </a:solidFill>
                <a:latin typeface="Tahoma"/>
                <a:cs typeface="Tahoma"/>
              </a:rPr>
              <a:t>first</a:t>
            </a:r>
            <a:r>
              <a:rPr sz="1800" spc="-180" dirty="0">
                <a:solidFill>
                  <a:srgbClr val="1F1F1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1F1F1F"/>
                </a:solidFill>
                <a:latin typeface="Tahoma"/>
                <a:cs typeface="Tahoma"/>
              </a:rPr>
              <a:t>stage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230356" y="6080252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25" dirty="0">
                <a:solidFill>
                  <a:srgbClr val="1C7CDB"/>
                </a:solidFill>
                <a:latin typeface="Microsoft Sans Serif"/>
                <a:cs typeface="Microsoft Sans Serif"/>
              </a:rPr>
              <a:t>5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5048" y="2812542"/>
            <a:ext cx="1058545" cy="369570"/>
          </a:xfrm>
          <a:prstGeom prst="rect">
            <a:avLst/>
          </a:prstGeom>
          <a:solidFill>
            <a:srgbClr val="0947CA"/>
          </a:solidFill>
        </p:spPr>
        <p:txBody>
          <a:bodyPr vert="horz" wrap="square" lIns="0" tIns="31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64416" y="6392671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25" dirty="0">
                <a:solidFill>
                  <a:srgbClr val="1C7CDB"/>
                </a:solidFill>
                <a:latin typeface="Microsoft Sans Serif"/>
                <a:cs typeface="Microsoft Sans Serif"/>
              </a:rPr>
              <a:t>6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Methodology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230356" y="6080252"/>
            <a:ext cx="1485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25" dirty="0">
                <a:solidFill>
                  <a:srgbClr val="1C7CDB"/>
                </a:solidFill>
                <a:latin typeface="Microsoft Sans Serif"/>
                <a:cs typeface="Microsoft Sans Serif"/>
              </a:rPr>
              <a:t>7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2113" y="1322069"/>
            <a:ext cx="10752455" cy="4769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collection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methodology:</a:t>
            </a:r>
            <a:endParaRPr sz="22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Require</a:t>
            </a:r>
            <a:r>
              <a:rPr sz="19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from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30" dirty="0">
                <a:solidFill>
                  <a:srgbClr val="767070"/>
                </a:solidFill>
                <a:latin typeface="Microsoft Sans Serif"/>
                <a:cs typeface="Microsoft Sans Serif"/>
              </a:rPr>
              <a:t>SpaceX</a:t>
            </a:r>
            <a:r>
              <a:rPr sz="1900" spc="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API</a:t>
            </a:r>
            <a:endParaRPr sz="19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Collect</a:t>
            </a:r>
            <a:r>
              <a:rPr sz="19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from</a:t>
            </a:r>
            <a:r>
              <a:rPr sz="1900" spc="-7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a</a:t>
            </a:r>
            <a:r>
              <a:rPr sz="19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Wikipedia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page</a:t>
            </a:r>
            <a:endParaRPr sz="19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38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endParaRPr sz="22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Perform</a:t>
            </a:r>
            <a:r>
              <a:rPr sz="19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20" dirty="0">
                <a:solidFill>
                  <a:srgbClr val="767070"/>
                </a:solidFill>
                <a:latin typeface="Microsoft Sans Serif"/>
                <a:cs typeface="Microsoft Sans Serif"/>
              </a:rPr>
              <a:t>EDA</a:t>
            </a:r>
            <a:r>
              <a:rPr sz="1900" spc="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to</a:t>
            </a:r>
            <a:r>
              <a:rPr sz="19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find</a:t>
            </a:r>
            <a:r>
              <a:rPr sz="1900" spc="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some</a:t>
            </a:r>
            <a:r>
              <a:rPr sz="19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patterns</a:t>
            </a:r>
            <a:endParaRPr sz="19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Determine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what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would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be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label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for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training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supervised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model</a:t>
            </a:r>
            <a:endParaRPr sz="19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30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23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3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3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(EDA)</a:t>
            </a:r>
            <a:r>
              <a:rPr sz="23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3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visualization</a:t>
            </a:r>
            <a:r>
              <a:rPr sz="23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3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3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SQL</a:t>
            </a:r>
            <a:endParaRPr sz="23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22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2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r>
              <a:rPr sz="22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20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Plotly</a:t>
            </a:r>
            <a:r>
              <a:rPr sz="22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Dash</a:t>
            </a:r>
            <a:endParaRPr sz="22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predictive</a:t>
            </a:r>
            <a:r>
              <a:rPr sz="22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2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classification</a:t>
            </a:r>
            <a:r>
              <a:rPr sz="22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</a:t>
            </a:r>
            <a:endParaRPr sz="2200">
              <a:latin typeface="Microsoft Sans Serif"/>
              <a:cs typeface="Microsoft Sans Serif"/>
            </a:endParaRPr>
          </a:p>
          <a:p>
            <a:pPr marL="697230" lvl="1" indent="-227329">
              <a:lnSpc>
                <a:spcPct val="100000"/>
              </a:lnSpc>
              <a:spcBef>
                <a:spcPts val="1425"/>
              </a:spcBef>
              <a:buFont typeface="Arial MT"/>
              <a:buChar char="•"/>
              <a:tabLst>
                <a:tab pos="697230" algn="l"/>
              </a:tabLst>
            </a:pPr>
            <a:r>
              <a:rPr sz="19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Compare</a:t>
            </a:r>
            <a:r>
              <a:rPr sz="19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logistic</a:t>
            </a:r>
            <a:r>
              <a:rPr sz="19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regression 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model,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support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vector</a:t>
            </a:r>
            <a:r>
              <a:rPr sz="19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70" dirty="0">
                <a:solidFill>
                  <a:srgbClr val="767070"/>
                </a:solidFill>
                <a:latin typeface="Microsoft Sans Serif"/>
                <a:cs typeface="Microsoft Sans Serif"/>
              </a:rPr>
              <a:t>machine</a:t>
            </a:r>
            <a:r>
              <a:rPr sz="19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tree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decision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classifier,</a:t>
            </a:r>
            <a:r>
              <a:rPr sz="19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25" dirty="0">
                <a:solidFill>
                  <a:srgbClr val="767070"/>
                </a:solidFill>
                <a:latin typeface="Microsoft Sans Serif"/>
                <a:cs typeface="Microsoft Sans Serif"/>
              </a:rPr>
              <a:t>KNN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 by</a:t>
            </a:r>
            <a:r>
              <a:rPr sz="19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7913" y="6065265"/>
            <a:ext cx="427926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14" dirty="0">
                <a:solidFill>
                  <a:srgbClr val="767070"/>
                </a:solidFill>
                <a:latin typeface="Microsoft Sans Serif"/>
                <a:cs typeface="Microsoft Sans Serif"/>
              </a:rPr>
              <a:t>GridSearchCV</a:t>
            </a:r>
            <a:r>
              <a:rPr sz="1900" spc="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to</a:t>
            </a:r>
            <a:r>
              <a:rPr sz="1900" spc="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select</a:t>
            </a:r>
            <a:r>
              <a:rPr sz="1900" spc="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900" spc="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best</a:t>
            </a:r>
            <a:r>
              <a:rPr sz="1900" spc="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767070"/>
                </a:solidFill>
                <a:latin typeface="Microsoft Sans Serif"/>
                <a:cs typeface="Microsoft Sans Serif"/>
              </a:rPr>
              <a:t>fit</a:t>
            </a:r>
            <a:r>
              <a:rPr sz="1900" spc="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model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Data</a:t>
            </a:r>
            <a:r>
              <a:rPr spc="-185" dirty="0"/>
              <a:t> </a:t>
            </a:r>
            <a:r>
              <a:rPr spc="-75" dirty="0"/>
              <a:t>Collection</a:t>
            </a: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25573" y="1840992"/>
            <a:ext cx="3440429" cy="878205"/>
          </a:xfrm>
          <a:custGeom>
            <a:avLst/>
            <a:gdLst/>
            <a:ahLst/>
            <a:cxnLst/>
            <a:rect l="l" t="t" r="r" b="b"/>
            <a:pathLst>
              <a:path w="3440429" h="878205">
                <a:moveTo>
                  <a:pt x="3342766" y="0"/>
                </a:moveTo>
                <a:lnTo>
                  <a:pt x="0" y="0"/>
                </a:lnTo>
                <a:lnTo>
                  <a:pt x="536194" y="877824"/>
                </a:lnTo>
                <a:lnTo>
                  <a:pt x="3440429" y="877824"/>
                </a:lnTo>
                <a:lnTo>
                  <a:pt x="3440429" y="97662"/>
                </a:lnTo>
                <a:lnTo>
                  <a:pt x="3432617" y="59364"/>
                </a:lnTo>
                <a:lnTo>
                  <a:pt x="3411458" y="28352"/>
                </a:lnTo>
                <a:lnTo>
                  <a:pt x="3380368" y="7580"/>
                </a:lnTo>
                <a:lnTo>
                  <a:pt x="334276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65678" y="1970532"/>
            <a:ext cx="760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FFFFF"/>
                </a:solidFill>
                <a:latin typeface="Roboto"/>
                <a:cs typeface="Roboto"/>
              </a:rPr>
              <a:t>API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1247" y="1799844"/>
            <a:ext cx="4525010" cy="1149985"/>
          </a:xfrm>
          <a:custGeom>
            <a:avLst/>
            <a:gdLst/>
            <a:ahLst/>
            <a:cxnLst/>
            <a:rect l="l" t="t" r="r" b="b"/>
            <a:pathLst>
              <a:path w="4525010" h="1149985">
                <a:moveTo>
                  <a:pt x="948309" y="0"/>
                </a:moveTo>
                <a:lnTo>
                  <a:pt x="574294" y="0"/>
                </a:lnTo>
                <a:lnTo>
                  <a:pt x="527112" y="1901"/>
                </a:lnTo>
                <a:lnTo>
                  <a:pt x="480996" y="7508"/>
                </a:lnTo>
                <a:lnTo>
                  <a:pt x="436091" y="16673"/>
                </a:lnTo>
                <a:lnTo>
                  <a:pt x="392545" y="29251"/>
                </a:lnTo>
                <a:lnTo>
                  <a:pt x="350502" y="45094"/>
                </a:lnTo>
                <a:lnTo>
                  <a:pt x="310111" y="64057"/>
                </a:lnTo>
                <a:lnTo>
                  <a:pt x="271517" y="85991"/>
                </a:lnTo>
                <a:lnTo>
                  <a:pt x="234867" y="110752"/>
                </a:lnTo>
                <a:lnTo>
                  <a:pt x="200307" y="138191"/>
                </a:lnTo>
                <a:lnTo>
                  <a:pt x="167984" y="168163"/>
                </a:lnTo>
                <a:lnTo>
                  <a:pt x="138044" y="200522"/>
                </a:lnTo>
                <a:lnTo>
                  <a:pt x="110634" y="235119"/>
                </a:lnTo>
                <a:lnTo>
                  <a:pt x="85900" y="271810"/>
                </a:lnTo>
                <a:lnTo>
                  <a:pt x="63989" y="310446"/>
                </a:lnTo>
                <a:lnTo>
                  <a:pt x="45047" y="350883"/>
                </a:lnTo>
                <a:lnTo>
                  <a:pt x="29220" y="392972"/>
                </a:lnTo>
                <a:lnTo>
                  <a:pt x="16656" y="436568"/>
                </a:lnTo>
                <a:lnTo>
                  <a:pt x="7500" y="481524"/>
                </a:lnTo>
                <a:lnTo>
                  <a:pt x="1899" y="527693"/>
                </a:lnTo>
                <a:lnTo>
                  <a:pt x="0" y="574928"/>
                </a:lnTo>
                <a:lnTo>
                  <a:pt x="1899" y="622164"/>
                </a:lnTo>
                <a:lnTo>
                  <a:pt x="7500" y="668333"/>
                </a:lnTo>
                <a:lnTo>
                  <a:pt x="16656" y="713289"/>
                </a:lnTo>
                <a:lnTo>
                  <a:pt x="29220" y="756885"/>
                </a:lnTo>
                <a:lnTo>
                  <a:pt x="45047" y="798974"/>
                </a:lnTo>
                <a:lnTo>
                  <a:pt x="63989" y="839411"/>
                </a:lnTo>
                <a:lnTo>
                  <a:pt x="85900" y="878047"/>
                </a:lnTo>
                <a:lnTo>
                  <a:pt x="110634" y="914738"/>
                </a:lnTo>
                <a:lnTo>
                  <a:pt x="138044" y="949335"/>
                </a:lnTo>
                <a:lnTo>
                  <a:pt x="167984" y="981694"/>
                </a:lnTo>
                <a:lnTo>
                  <a:pt x="200307" y="1011666"/>
                </a:lnTo>
                <a:lnTo>
                  <a:pt x="234867" y="1039105"/>
                </a:lnTo>
                <a:lnTo>
                  <a:pt x="271517" y="1063866"/>
                </a:lnTo>
                <a:lnTo>
                  <a:pt x="310111" y="1085800"/>
                </a:lnTo>
                <a:lnTo>
                  <a:pt x="350502" y="1104763"/>
                </a:lnTo>
                <a:lnTo>
                  <a:pt x="392545" y="1120606"/>
                </a:lnTo>
                <a:lnTo>
                  <a:pt x="436091" y="1133184"/>
                </a:lnTo>
                <a:lnTo>
                  <a:pt x="480996" y="1142349"/>
                </a:lnTo>
                <a:lnTo>
                  <a:pt x="527112" y="1147956"/>
                </a:lnTo>
                <a:lnTo>
                  <a:pt x="574294" y="1149857"/>
                </a:lnTo>
                <a:lnTo>
                  <a:pt x="4427093" y="1149857"/>
                </a:lnTo>
                <a:lnTo>
                  <a:pt x="4464694" y="1142043"/>
                </a:lnTo>
                <a:lnTo>
                  <a:pt x="4495784" y="1120870"/>
                </a:lnTo>
                <a:lnTo>
                  <a:pt x="4516943" y="1089743"/>
                </a:lnTo>
                <a:lnTo>
                  <a:pt x="4524756" y="1052067"/>
                </a:lnTo>
                <a:lnTo>
                  <a:pt x="4524756" y="994155"/>
                </a:lnTo>
                <a:lnTo>
                  <a:pt x="1587119" y="994155"/>
                </a:lnTo>
                <a:lnTo>
                  <a:pt x="1572652" y="992330"/>
                </a:lnTo>
                <a:lnTo>
                  <a:pt x="1559401" y="987075"/>
                </a:lnTo>
                <a:lnTo>
                  <a:pt x="1548006" y="978725"/>
                </a:lnTo>
                <a:lnTo>
                  <a:pt x="1539113" y="967613"/>
                </a:lnTo>
                <a:lnTo>
                  <a:pt x="94830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94816" y="1917191"/>
            <a:ext cx="462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6000">
              <a:latin typeface="Roboto"/>
              <a:cs typeface="Robo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56754" y="1803654"/>
            <a:ext cx="3440429" cy="878205"/>
          </a:xfrm>
          <a:custGeom>
            <a:avLst/>
            <a:gdLst/>
            <a:ahLst/>
            <a:cxnLst/>
            <a:rect l="l" t="t" r="r" b="b"/>
            <a:pathLst>
              <a:path w="3440429" h="878205">
                <a:moveTo>
                  <a:pt x="3342767" y="0"/>
                </a:moveTo>
                <a:lnTo>
                  <a:pt x="0" y="0"/>
                </a:lnTo>
                <a:lnTo>
                  <a:pt x="536194" y="877824"/>
                </a:lnTo>
                <a:lnTo>
                  <a:pt x="3440429" y="877824"/>
                </a:lnTo>
                <a:lnTo>
                  <a:pt x="3440429" y="97662"/>
                </a:lnTo>
                <a:lnTo>
                  <a:pt x="3432617" y="59364"/>
                </a:lnTo>
                <a:lnTo>
                  <a:pt x="3411458" y="28352"/>
                </a:lnTo>
                <a:lnTo>
                  <a:pt x="3380368" y="7580"/>
                </a:lnTo>
                <a:lnTo>
                  <a:pt x="3342767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250935" y="1932940"/>
            <a:ext cx="2054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Roboto"/>
                <a:cs typeface="Roboto"/>
              </a:rPr>
              <a:t>Web </a:t>
            </a:r>
            <a:r>
              <a:rPr sz="3600" b="1" spc="-20" dirty="0">
                <a:solidFill>
                  <a:srgbClr val="FFFFFF"/>
                </a:solidFill>
                <a:latin typeface="Roboto"/>
                <a:cs typeface="Roboto"/>
              </a:rPr>
              <a:t>page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72428" y="1803654"/>
            <a:ext cx="4525010" cy="1149985"/>
          </a:xfrm>
          <a:custGeom>
            <a:avLst/>
            <a:gdLst/>
            <a:ahLst/>
            <a:cxnLst/>
            <a:rect l="l" t="t" r="r" b="b"/>
            <a:pathLst>
              <a:path w="4525009" h="1149985">
                <a:moveTo>
                  <a:pt x="948308" y="0"/>
                </a:moveTo>
                <a:lnTo>
                  <a:pt x="574294" y="0"/>
                </a:lnTo>
                <a:lnTo>
                  <a:pt x="527114" y="1901"/>
                </a:lnTo>
                <a:lnTo>
                  <a:pt x="480999" y="7508"/>
                </a:lnTo>
                <a:lnTo>
                  <a:pt x="436095" y="16673"/>
                </a:lnTo>
                <a:lnTo>
                  <a:pt x="392549" y="29251"/>
                </a:lnTo>
                <a:lnTo>
                  <a:pt x="350508" y="45094"/>
                </a:lnTo>
                <a:lnTo>
                  <a:pt x="310116" y="64057"/>
                </a:lnTo>
                <a:lnTo>
                  <a:pt x="271523" y="85991"/>
                </a:lnTo>
                <a:lnTo>
                  <a:pt x="234872" y="110752"/>
                </a:lnTo>
                <a:lnTo>
                  <a:pt x="200312" y="138191"/>
                </a:lnTo>
                <a:lnTo>
                  <a:pt x="167989" y="168163"/>
                </a:lnTo>
                <a:lnTo>
                  <a:pt x="138048" y="200522"/>
                </a:lnTo>
                <a:lnTo>
                  <a:pt x="110638" y="235119"/>
                </a:lnTo>
                <a:lnTo>
                  <a:pt x="85903" y="271810"/>
                </a:lnTo>
                <a:lnTo>
                  <a:pt x="63991" y="310446"/>
                </a:lnTo>
                <a:lnTo>
                  <a:pt x="45049" y="350883"/>
                </a:lnTo>
                <a:lnTo>
                  <a:pt x="29222" y="392972"/>
                </a:lnTo>
                <a:lnTo>
                  <a:pt x="16657" y="436568"/>
                </a:lnTo>
                <a:lnTo>
                  <a:pt x="7500" y="481524"/>
                </a:lnTo>
                <a:lnTo>
                  <a:pt x="1899" y="527693"/>
                </a:lnTo>
                <a:lnTo>
                  <a:pt x="0" y="574929"/>
                </a:lnTo>
                <a:lnTo>
                  <a:pt x="1899" y="622164"/>
                </a:lnTo>
                <a:lnTo>
                  <a:pt x="7500" y="668333"/>
                </a:lnTo>
                <a:lnTo>
                  <a:pt x="16657" y="713289"/>
                </a:lnTo>
                <a:lnTo>
                  <a:pt x="29222" y="756885"/>
                </a:lnTo>
                <a:lnTo>
                  <a:pt x="45049" y="798974"/>
                </a:lnTo>
                <a:lnTo>
                  <a:pt x="63991" y="839411"/>
                </a:lnTo>
                <a:lnTo>
                  <a:pt x="85903" y="878047"/>
                </a:lnTo>
                <a:lnTo>
                  <a:pt x="110638" y="914738"/>
                </a:lnTo>
                <a:lnTo>
                  <a:pt x="138048" y="949335"/>
                </a:lnTo>
                <a:lnTo>
                  <a:pt x="167989" y="981694"/>
                </a:lnTo>
                <a:lnTo>
                  <a:pt x="200312" y="1011666"/>
                </a:lnTo>
                <a:lnTo>
                  <a:pt x="234872" y="1039105"/>
                </a:lnTo>
                <a:lnTo>
                  <a:pt x="271523" y="1063866"/>
                </a:lnTo>
                <a:lnTo>
                  <a:pt x="310116" y="1085800"/>
                </a:lnTo>
                <a:lnTo>
                  <a:pt x="350508" y="1104763"/>
                </a:lnTo>
                <a:lnTo>
                  <a:pt x="392549" y="1120606"/>
                </a:lnTo>
                <a:lnTo>
                  <a:pt x="436095" y="1133184"/>
                </a:lnTo>
                <a:lnTo>
                  <a:pt x="480999" y="1142349"/>
                </a:lnTo>
                <a:lnTo>
                  <a:pt x="527114" y="1147956"/>
                </a:lnTo>
                <a:lnTo>
                  <a:pt x="574294" y="1149858"/>
                </a:lnTo>
                <a:lnTo>
                  <a:pt x="4427093" y="1149858"/>
                </a:lnTo>
                <a:lnTo>
                  <a:pt x="4464694" y="1142043"/>
                </a:lnTo>
                <a:lnTo>
                  <a:pt x="4495784" y="1120870"/>
                </a:lnTo>
                <a:lnTo>
                  <a:pt x="4516943" y="1089743"/>
                </a:lnTo>
                <a:lnTo>
                  <a:pt x="4524756" y="1052068"/>
                </a:lnTo>
                <a:lnTo>
                  <a:pt x="4524756" y="994156"/>
                </a:lnTo>
                <a:lnTo>
                  <a:pt x="1587119" y="994156"/>
                </a:lnTo>
                <a:lnTo>
                  <a:pt x="1572652" y="992330"/>
                </a:lnTo>
                <a:lnTo>
                  <a:pt x="1559401" y="987075"/>
                </a:lnTo>
                <a:lnTo>
                  <a:pt x="1548006" y="978725"/>
                </a:lnTo>
                <a:lnTo>
                  <a:pt x="1539113" y="967613"/>
                </a:lnTo>
                <a:lnTo>
                  <a:pt x="948308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26071" y="1865884"/>
            <a:ext cx="462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6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0261" y="3158235"/>
            <a:ext cx="41548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spacex_url="</a:t>
            </a:r>
            <a:r>
              <a:rPr sz="1800" spc="-10" dirty="0">
                <a:latin typeface="Calibri"/>
                <a:cs typeface="Calibri"/>
                <a:hlinkClick r:id="rId3"/>
              </a:rPr>
              <a:t>https://api.spacexdata.com/v4/ launches/past</a:t>
            </a:r>
            <a:r>
              <a:rPr sz="1800" spc="-10" dirty="0">
                <a:latin typeface="Calibri"/>
                <a:cs typeface="Calibri"/>
              </a:rPr>
              <a:t>"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4566" y="3124708"/>
            <a:ext cx="4473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  <a:hlinkClick r:id="rId4"/>
              </a:rPr>
              <a:t>https://en.wikipedia.org/wiki/List_of_Falcon\_9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\_and_Falcon_Heavy_launches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7547" y="4197477"/>
            <a:ext cx="4418965" cy="1786255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1800">
              <a:latin typeface="Times New Roman"/>
              <a:cs typeface="Times New Roman"/>
            </a:endParaRPr>
          </a:p>
          <a:p>
            <a:pPr marL="431165" indent="-285750">
              <a:lnSpc>
                <a:spcPct val="100000"/>
              </a:lnSpc>
              <a:buFont typeface="Wingdings"/>
              <a:buChar char=""/>
              <a:tabLst>
                <a:tab pos="431165" algn="l"/>
              </a:tabLst>
            </a:pPr>
            <a:r>
              <a:rPr sz="1800" dirty="0">
                <a:latin typeface="Calibri"/>
                <a:cs typeface="Calibri"/>
              </a:rPr>
              <a:t>Required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  <a:p>
            <a:pPr marL="431165" indent="-285750">
              <a:lnSpc>
                <a:spcPct val="100000"/>
              </a:lnSpc>
              <a:buFont typeface="Wingdings"/>
              <a:buChar char=""/>
              <a:tabLst>
                <a:tab pos="431165" algn="l"/>
              </a:tabLst>
            </a:pPr>
            <a:r>
              <a:rPr sz="1800" dirty="0">
                <a:latin typeface="Calibri"/>
                <a:cs typeface="Calibri"/>
              </a:rPr>
              <a:t>Clean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5698" y="4175378"/>
            <a:ext cx="4401820" cy="1786889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249554" rIns="0" bIns="0" rtlCol="0">
            <a:spAutoFit/>
          </a:bodyPr>
          <a:lstStyle/>
          <a:p>
            <a:pPr marL="430530" marR="325755" indent="-285750">
              <a:lnSpc>
                <a:spcPct val="100000"/>
              </a:lnSpc>
              <a:spcBef>
                <a:spcPts val="1964"/>
              </a:spcBef>
              <a:buFont typeface="Wingdings"/>
              <a:buChar char=""/>
              <a:tabLst>
                <a:tab pos="430530" algn="l"/>
              </a:tabLst>
            </a:pPr>
            <a:r>
              <a:rPr sz="1800" dirty="0">
                <a:latin typeface="Calibri"/>
                <a:cs typeface="Calibri"/>
              </a:rPr>
              <a:t>Extract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Falcon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HTML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Wikipedia</a:t>
            </a:r>
            <a:endParaRPr sz="1800">
              <a:latin typeface="Calibri"/>
              <a:cs typeface="Calibri"/>
            </a:endParaRPr>
          </a:p>
          <a:p>
            <a:pPr marL="430530" marR="657225" indent="-285750">
              <a:lnSpc>
                <a:spcPct val="100000"/>
              </a:lnSpc>
              <a:buFont typeface="Wingdings"/>
              <a:buChar char=""/>
              <a:tabLst>
                <a:tab pos="430530" algn="l"/>
              </a:tabLst>
            </a:pPr>
            <a:r>
              <a:rPr sz="1800" dirty="0">
                <a:latin typeface="Calibri"/>
                <a:cs typeface="Calibri"/>
              </a:rPr>
              <a:t>Parse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convert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Pandas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frame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7</a:t>
            </a:fld>
            <a:endParaRPr spc="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8867" y="417575"/>
            <a:ext cx="585724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Data</a:t>
            </a:r>
            <a:r>
              <a:rPr sz="3700" spc="-4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Collection</a:t>
            </a:r>
            <a:r>
              <a:rPr sz="3700" spc="-2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760" dirty="0">
                <a:solidFill>
                  <a:srgbClr val="0A48CA"/>
                </a:solidFill>
                <a:latin typeface="Microsoft Sans Serif"/>
                <a:cs typeface="Microsoft Sans Serif"/>
              </a:rPr>
              <a:t>–</a:t>
            </a:r>
            <a:r>
              <a:rPr sz="3700" spc="-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265" dirty="0">
                <a:solidFill>
                  <a:srgbClr val="0A48CA"/>
                </a:solidFill>
                <a:latin typeface="Microsoft Sans Serif"/>
                <a:cs typeface="Microsoft Sans Serif"/>
              </a:rPr>
              <a:t>SpaceX</a:t>
            </a:r>
            <a:r>
              <a:rPr sz="3700" spc="2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170" dirty="0">
                <a:solidFill>
                  <a:srgbClr val="0A48CA"/>
                </a:solidFill>
                <a:latin typeface="Microsoft Sans Serif"/>
                <a:cs typeface="Microsoft Sans Serif"/>
              </a:rPr>
              <a:t>API</a:t>
            </a:r>
            <a:endParaRPr sz="3700">
              <a:latin typeface="Microsoft Sans Serif"/>
              <a:cs typeface="Microsoft Sans Serif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1494" y="1496263"/>
            <a:ext cx="4474845" cy="358902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API</a:t>
            </a:r>
            <a:endParaRPr sz="2000" dirty="0">
              <a:latin typeface="Microsoft Sans Serif"/>
              <a:cs typeface="Microsoft Sans Serif"/>
            </a:endParaRPr>
          </a:p>
          <a:p>
            <a:pPr marL="238760" marR="1069975" indent="-226060">
              <a:lnSpc>
                <a:spcPts val="216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Convert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json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into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 	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dataframe</a:t>
            </a:r>
            <a:endParaRPr sz="2000" dirty="0">
              <a:latin typeface="Microsoft Sans Serif"/>
              <a:cs typeface="Microsoft Sans Serif"/>
            </a:endParaRPr>
          </a:p>
          <a:p>
            <a:pPr marL="238760" marR="594995" indent="-226060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Filter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dataframe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only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9` 	</a:t>
            </a: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endParaRPr sz="2000" dirty="0">
              <a:latin typeface="Microsoft Sans Serif"/>
              <a:cs typeface="Microsoft Sans Serif"/>
            </a:endParaRPr>
          </a:p>
          <a:p>
            <a:pPr marL="239395" indent="-22669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Export</a:t>
            </a:r>
            <a:r>
              <a:rPr sz="20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csv</a:t>
            </a:r>
            <a:endParaRPr sz="2000" dirty="0">
              <a:latin typeface="Microsoft Sans Serif"/>
              <a:cs typeface="Microsoft Sans Serif"/>
            </a:endParaRPr>
          </a:p>
          <a:p>
            <a:pPr marL="238760" indent="-22606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dirty="0">
                <a:latin typeface="Microsoft Sans Serif"/>
                <a:cs typeface="Microsoft Sans Serif"/>
              </a:rPr>
              <a:t>Link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:</a:t>
            </a:r>
            <a:endParaRPr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ts val="1730"/>
              </a:lnSpc>
              <a:spcBef>
                <a:spcPts val="1040"/>
              </a:spcBef>
            </a:pPr>
            <a:r>
              <a:rPr lang="en-IN" sz="1600" i="1" spc="-10" dirty="0">
                <a:solidFill>
                  <a:srgbClr val="4471C4"/>
                </a:solidFill>
                <a:latin typeface="Calibri"/>
                <a:cs typeface="Calibri"/>
                <a:hlinkClick r:id="rId4"/>
              </a:rPr>
              <a:t>https://github.com/Jananijana2712/SpaceX-Falcon_9_First_Stage_Landing_Prediction/blob/main/1.1%20SpaceX%20the%20Data%20Collection%20API%20Lab.ipynb</a:t>
            </a:r>
            <a:endParaRPr lang="en-IN" sz="1600" dirty="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48550" y="1521713"/>
            <a:ext cx="3404870" cy="1019810"/>
          </a:xfrm>
          <a:custGeom>
            <a:avLst/>
            <a:gdLst/>
            <a:ahLst/>
            <a:cxnLst/>
            <a:rect l="l" t="t" r="r" b="b"/>
            <a:pathLst>
              <a:path w="3404870" h="1019810">
                <a:moveTo>
                  <a:pt x="3404615" y="0"/>
                </a:moveTo>
                <a:lnTo>
                  <a:pt x="0" y="0"/>
                </a:lnTo>
                <a:lnTo>
                  <a:pt x="0" y="1019555"/>
                </a:lnTo>
                <a:lnTo>
                  <a:pt x="3404615" y="1019555"/>
                </a:lnTo>
                <a:lnTo>
                  <a:pt x="3404615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28232" y="1521726"/>
            <a:ext cx="1184275" cy="1019810"/>
          </a:xfrm>
          <a:custGeom>
            <a:avLst/>
            <a:gdLst/>
            <a:ahLst/>
            <a:cxnLst/>
            <a:rect l="l" t="t" r="r" b="b"/>
            <a:pathLst>
              <a:path w="1184275" h="1019810">
                <a:moveTo>
                  <a:pt x="1184148" y="498335"/>
                </a:moveTo>
                <a:lnTo>
                  <a:pt x="1174191" y="498335"/>
                </a:lnTo>
                <a:lnTo>
                  <a:pt x="1019556" y="344411"/>
                </a:lnTo>
                <a:lnTo>
                  <a:pt x="1018794" y="345173"/>
                </a:lnTo>
                <a:lnTo>
                  <a:pt x="1018794" y="0"/>
                </a:lnTo>
                <a:lnTo>
                  <a:pt x="0" y="0"/>
                </a:lnTo>
                <a:lnTo>
                  <a:pt x="0" y="1019543"/>
                </a:lnTo>
                <a:lnTo>
                  <a:pt x="1018794" y="1019543"/>
                </a:lnTo>
                <a:lnTo>
                  <a:pt x="1018794" y="662165"/>
                </a:lnTo>
                <a:lnTo>
                  <a:pt x="1019556" y="662927"/>
                </a:lnTo>
                <a:lnTo>
                  <a:pt x="1174242" y="508241"/>
                </a:lnTo>
                <a:lnTo>
                  <a:pt x="1184148" y="508241"/>
                </a:lnTo>
                <a:lnTo>
                  <a:pt x="1179182" y="503301"/>
                </a:lnTo>
                <a:lnTo>
                  <a:pt x="1184148" y="49833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75119" y="1605026"/>
            <a:ext cx="5321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175" dirty="0">
                <a:solidFill>
                  <a:srgbClr val="FFFFFF"/>
                </a:solidFill>
                <a:latin typeface="Roboto Bk"/>
                <a:cs typeface="Roboto Bk"/>
              </a:rPr>
              <a:t>A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40166" y="1872996"/>
            <a:ext cx="1372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Request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28232" y="2683001"/>
            <a:ext cx="3404870" cy="1021080"/>
          </a:xfrm>
          <a:custGeom>
            <a:avLst/>
            <a:gdLst/>
            <a:ahLst/>
            <a:cxnLst/>
            <a:rect l="l" t="t" r="r" b="b"/>
            <a:pathLst>
              <a:path w="3404870" h="1021079">
                <a:moveTo>
                  <a:pt x="3404616" y="0"/>
                </a:moveTo>
                <a:lnTo>
                  <a:pt x="0" y="0"/>
                </a:lnTo>
                <a:lnTo>
                  <a:pt x="0" y="1021080"/>
                </a:lnTo>
                <a:lnTo>
                  <a:pt x="3404616" y="1021080"/>
                </a:lnTo>
                <a:lnTo>
                  <a:pt x="3404616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68235" y="3035300"/>
            <a:ext cx="2338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Convert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dataframe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67494" y="2671571"/>
            <a:ext cx="1191260" cy="1021080"/>
          </a:xfrm>
          <a:custGeom>
            <a:avLst/>
            <a:gdLst/>
            <a:ahLst/>
            <a:cxnLst/>
            <a:rect l="l" t="t" r="r" b="b"/>
            <a:pathLst>
              <a:path w="1191259" h="1021079">
                <a:moveTo>
                  <a:pt x="1191006" y="0"/>
                </a:moveTo>
                <a:lnTo>
                  <a:pt x="170688" y="0"/>
                </a:lnTo>
                <a:lnTo>
                  <a:pt x="170688" y="408686"/>
                </a:lnTo>
                <a:lnTo>
                  <a:pt x="169672" y="407670"/>
                </a:lnTo>
                <a:lnTo>
                  <a:pt x="9144" y="567690"/>
                </a:lnTo>
                <a:lnTo>
                  <a:pt x="0" y="567690"/>
                </a:lnTo>
                <a:lnTo>
                  <a:pt x="164719" y="731520"/>
                </a:lnTo>
                <a:lnTo>
                  <a:pt x="170688" y="725639"/>
                </a:lnTo>
                <a:lnTo>
                  <a:pt x="170688" y="1021080"/>
                </a:lnTo>
                <a:lnTo>
                  <a:pt x="1191006" y="1021080"/>
                </a:lnTo>
                <a:lnTo>
                  <a:pt x="119100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122916" y="2701289"/>
            <a:ext cx="5048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 Bk"/>
                <a:cs typeface="Roboto Bk"/>
              </a:rPr>
              <a:t>B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48550" y="3831335"/>
            <a:ext cx="3404870" cy="1019810"/>
          </a:xfrm>
          <a:custGeom>
            <a:avLst/>
            <a:gdLst/>
            <a:ahLst/>
            <a:cxnLst/>
            <a:rect l="l" t="t" r="r" b="b"/>
            <a:pathLst>
              <a:path w="3404870" h="1019810">
                <a:moveTo>
                  <a:pt x="3404615" y="0"/>
                </a:moveTo>
                <a:lnTo>
                  <a:pt x="0" y="0"/>
                </a:lnTo>
                <a:lnTo>
                  <a:pt x="0" y="1019556"/>
                </a:lnTo>
                <a:lnTo>
                  <a:pt x="3404615" y="1019556"/>
                </a:lnTo>
                <a:lnTo>
                  <a:pt x="3404615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28232" y="3831335"/>
            <a:ext cx="1184275" cy="1019810"/>
          </a:xfrm>
          <a:custGeom>
            <a:avLst/>
            <a:gdLst/>
            <a:ahLst/>
            <a:cxnLst/>
            <a:rect l="l" t="t" r="r" b="b"/>
            <a:pathLst>
              <a:path w="1184275" h="1019810">
                <a:moveTo>
                  <a:pt x="1184148" y="508254"/>
                </a:moveTo>
                <a:lnTo>
                  <a:pt x="1019556" y="345948"/>
                </a:lnTo>
                <a:lnTo>
                  <a:pt x="1018794" y="346710"/>
                </a:lnTo>
                <a:lnTo>
                  <a:pt x="1018794" y="0"/>
                </a:lnTo>
                <a:lnTo>
                  <a:pt x="0" y="0"/>
                </a:lnTo>
                <a:lnTo>
                  <a:pt x="0" y="1019556"/>
                </a:lnTo>
                <a:lnTo>
                  <a:pt x="1018794" y="1019556"/>
                </a:lnTo>
                <a:lnTo>
                  <a:pt x="1018794" y="673608"/>
                </a:lnTo>
                <a:lnTo>
                  <a:pt x="1019556" y="674370"/>
                </a:lnTo>
                <a:lnTo>
                  <a:pt x="1184148" y="509778"/>
                </a:lnTo>
                <a:lnTo>
                  <a:pt x="1018794" y="509778"/>
                </a:lnTo>
                <a:lnTo>
                  <a:pt x="1018794" y="508254"/>
                </a:lnTo>
                <a:lnTo>
                  <a:pt x="1184148" y="508254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679945" y="3914140"/>
            <a:ext cx="513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25" dirty="0">
                <a:solidFill>
                  <a:srgbClr val="FFFFFF"/>
                </a:solidFill>
                <a:latin typeface="Roboto Bk"/>
                <a:cs typeface="Roboto Bk"/>
              </a:rPr>
              <a:t>C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89366" y="4182617"/>
            <a:ext cx="153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wrangling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28232" y="4985003"/>
            <a:ext cx="3509010" cy="1021080"/>
          </a:xfrm>
          <a:custGeom>
            <a:avLst/>
            <a:gdLst/>
            <a:ahLst/>
            <a:cxnLst/>
            <a:rect l="l" t="t" r="r" b="b"/>
            <a:pathLst>
              <a:path w="3509009" h="1021079">
                <a:moveTo>
                  <a:pt x="3509010" y="0"/>
                </a:moveTo>
                <a:lnTo>
                  <a:pt x="0" y="0"/>
                </a:lnTo>
                <a:lnTo>
                  <a:pt x="0" y="1021080"/>
                </a:lnTo>
                <a:lnTo>
                  <a:pt x="3509010" y="1021080"/>
                </a:lnTo>
                <a:lnTo>
                  <a:pt x="3509010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14259" y="5337302"/>
            <a:ext cx="155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Save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csv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file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770364" y="4965953"/>
            <a:ext cx="1187450" cy="1040130"/>
          </a:xfrm>
          <a:custGeom>
            <a:avLst/>
            <a:gdLst/>
            <a:ahLst/>
            <a:cxnLst/>
            <a:rect l="l" t="t" r="r" b="b"/>
            <a:pathLst>
              <a:path w="1187450" h="1040129">
                <a:moveTo>
                  <a:pt x="1187196" y="0"/>
                </a:moveTo>
                <a:lnTo>
                  <a:pt x="166878" y="0"/>
                </a:lnTo>
                <a:lnTo>
                  <a:pt x="166878" y="360273"/>
                </a:lnTo>
                <a:lnTo>
                  <a:pt x="164719" y="358140"/>
                </a:lnTo>
                <a:lnTo>
                  <a:pt x="4584" y="517398"/>
                </a:lnTo>
                <a:lnTo>
                  <a:pt x="1524" y="517398"/>
                </a:lnTo>
                <a:lnTo>
                  <a:pt x="3048" y="518934"/>
                </a:lnTo>
                <a:lnTo>
                  <a:pt x="0" y="521970"/>
                </a:lnTo>
                <a:lnTo>
                  <a:pt x="6108" y="521970"/>
                </a:lnTo>
                <a:lnTo>
                  <a:pt x="165862" y="681228"/>
                </a:lnTo>
                <a:lnTo>
                  <a:pt x="166878" y="680224"/>
                </a:lnTo>
                <a:lnTo>
                  <a:pt x="166878" y="1021080"/>
                </a:lnTo>
                <a:lnTo>
                  <a:pt x="166878" y="1040130"/>
                </a:lnTo>
                <a:lnTo>
                  <a:pt x="1187196" y="1040130"/>
                </a:lnTo>
                <a:lnTo>
                  <a:pt x="1187196" y="1021080"/>
                </a:lnTo>
                <a:lnTo>
                  <a:pt x="1187196" y="530352"/>
                </a:lnTo>
                <a:lnTo>
                  <a:pt x="11871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265409" y="5045964"/>
            <a:ext cx="5060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 Bk"/>
                <a:cs typeface="Roboto Bk"/>
              </a:rPr>
              <a:t>D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8</a:t>
            </a:fld>
            <a:endParaRPr spc="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48867" y="417575"/>
            <a:ext cx="533209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00" spc="-45" dirty="0">
                <a:solidFill>
                  <a:srgbClr val="0A48CA"/>
                </a:solidFill>
                <a:latin typeface="Microsoft Sans Serif"/>
                <a:cs typeface="Microsoft Sans Serif"/>
              </a:rPr>
              <a:t>Data</a:t>
            </a:r>
            <a:r>
              <a:rPr sz="3700" spc="-65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Collection</a:t>
            </a:r>
            <a:r>
              <a:rPr sz="37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760" dirty="0">
                <a:solidFill>
                  <a:srgbClr val="0A48CA"/>
                </a:solidFill>
                <a:latin typeface="Microsoft Sans Serif"/>
                <a:cs typeface="Microsoft Sans Serif"/>
              </a:rPr>
              <a:t>–</a:t>
            </a:r>
            <a:r>
              <a:rPr sz="3700" spc="-7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3700" spc="-110" dirty="0">
                <a:solidFill>
                  <a:srgbClr val="0A48CA"/>
                </a:solidFill>
                <a:latin typeface="Microsoft Sans Serif"/>
                <a:cs typeface="Microsoft Sans Serif"/>
              </a:rPr>
              <a:t>Scraping</a:t>
            </a:r>
            <a:endParaRPr sz="37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31494" y="1593341"/>
            <a:ext cx="4474845" cy="3804888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38760" marR="13335" indent="-226060">
              <a:lnSpc>
                <a:spcPts val="2160"/>
              </a:lnSpc>
              <a:spcBef>
                <a:spcPts val="370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Falcon9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Wiki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page 	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0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sz="20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URL</a:t>
            </a:r>
            <a:endParaRPr sz="2000" dirty="0">
              <a:latin typeface="Microsoft Sans Serif"/>
              <a:cs typeface="Microsoft Sans Serif"/>
            </a:endParaRPr>
          </a:p>
          <a:p>
            <a:pPr marL="238760" marR="31750" indent="-226060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Extract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all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column/variable</a:t>
            </a:r>
            <a:r>
              <a:rPr sz="20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names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 	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0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HTML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 table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header</a:t>
            </a:r>
            <a:endParaRPr sz="2000" dirty="0">
              <a:latin typeface="Microsoft Sans Serif"/>
              <a:cs typeface="Microsoft Sans Serif"/>
            </a:endParaRPr>
          </a:p>
          <a:p>
            <a:pPr marL="238760" marR="461645" indent="-226060">
              <a:lnSpc>
                <a:spcPts val="216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Create</a:t>
            </a:r>
            <a:r>
              <a:rPr sz="20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00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0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frame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20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parsing</a:t>
            </a:r>
            <a:r>
              <a:rPr sz="20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	</a:t>
            </a:r>
            <a:r>
              <a:rPr sz="20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0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HTML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tables</a:t>
            </a:r>
            <a:endParaRPr sz="2000" dirty="0">
              <a:latin typeface="Microsoft Sans Serif"/>
              <a:cs typeface="Microsoft Sans Serif"/>
            </a:endParaRPr>
          </a:p>
          <a:p>
            <a:pPr marL="238760" indent="-22606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Export</a:t>
            </a:r>
            <a:r>
              <a:rPr sz="20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0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csv</a:t>
            </a:r>
            <a:endParaRPr sz="2000" dirty="0">
              <a:latin typeface="Microsoft Sans Serif"/>
              <a:cs typeface="Microsoft Sans Serif"/>
            </a:endParaRPr>
          </a:p>
          <a:p>
            <a:pPr marL="238760" indent="-22606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38760" algn="l"/>
              </a:tabLst>
            </a:pPr>
            <a:r>
              <a:rPr sz="2000" dirty="0">
                <a:latin typeface="Microsoft Sans Serif"/>
                <a:cs typeface="Microsoft Sans Serif"/>
              </a:rPr>
              <a:t>Link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:</a:t>
            </a:r>
            <a:endParaRPr sz="2000" dirty="0">
              <a:latin typeface="Microsoft Sans Serif"/>
              <a:cs typeface="Microsoft Sans Serif"/>
            </a:endParaRPr>
          </a:p>
          <a:p>
            <a:pPr marL="12700" marR="5080">
              <a:lnSpc>
                <a:spcPts val="1730"/>
              </a:lnSpc>
              <a:spcBef>
                <a:spcPts val="1045"/>
              </a:spcBef>
            </a:pPr>
            <a:r>
              <a:rPr lang="en-IN" sz="1600" i="1" spc="-10" dirty="0">
                <a:solidFill>
                  <a:srgbClr val="4471C4"/>
                </a:solidFill>
                <a:latin typeface="Calibri"/>
                <a:cs typeface="Calibri"/>
                <a:hlinkClick r:id="rId3"/>
              </a:rPr>
              <a:t>https://github.com/Jananijana2712/SpaceX-Falcon_9_First_Stage_Landing_Prediction/blob/main/1.2%20SpaceX%20the%20Data%20Collection%20with%20Web%20Scraping%20lab.ipynb</a:t>
            </a:r>
            <a:endParaRPr lang="en-IN" sz="16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48550" y="1521713"/>
            <a:ext cx="3404870" cy="1019810"/>
          </a:xfrm>
          <a:custGeom>
            <a:avLst/>
            <a:gdLst/>
            <a:ahLst/>
            <a:cxnLst/>
            <a:rect l="l" t="t" r="r" b="b"/>
            <a:pathLst>
              <a:path w="3404870" h="1019810">
                <a:moveTo>
                  <a:pt x="3404615" y="0"/>
                </a:moveTo>
                <a:lnTo>
                  <a:pt x="0" y="0"/>
                </a:lnTo>
                <a:lnTo>
                  <a:pt x="0" y="1019555"/>
                </a:lnTo>
                <a:lnTo>
                  <a:pt x="3404615" y="1019555"/>
                </a:lnTo>
                <a:lnTo>
                  <a:pt x="3404615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28232" y="1521726"/>
            <a:ext cx="1184275" cy="1019810"/>
          </a:xfrm>
          <a:custGeom>
            <a:avLst/>
            <a:gdLst/>
            <a:ahLst/>
            <a:cxnLst/>
            <a:rect l="l" t="t" r="r" b="b"/>
            <a:pathLst>
              <a:path w="1184275" h="1019810">
                <a:moveTo>
                  <a:pt x="1184148" y="498335"/>
                </a:moveTo>
                <a:lnTo>
                  <a:pt x="1174191" y="498335"/>
                </a:lnTo>
                <a:lnTo>
                  <a:pt x="1019556" y="344411"/>
                </a:lnTo>
                <a:lnTo>
                  <a:pt x="1018794" y="345173"/>
                </a:lnTo>
                <a:lnTo>
                  <a:pt x="1018794" y="0"/>
                </a:lnTo>
                <a:lnTo>
                  <a:pt x="0" y="0"/>
                </a:lnTo>
                <a:lnTo>
                  <a:pt x="0" y="1019543"/>
                </a:lnTo>
                <a:lnTo>
                  <a:pt x="1018794" y="1019543"/>
                </a:lnTo>
                <a:lnTo>
                  <a:pt x="1018794" y="662165"/>
                </a:lnTo>
                <a:lnTo>
                  <a:pt x="1019556" y="662927"/>
                </a:lnTo>
                <a:lnTo>
                  <a:pt x="1174242" y="508241"/>
                </a:lnTo>
                <a:lnTo>
                  <a:pt x="1184148" y="508241"/>
                </a:lnTo>
                <a:lnTo>
                  <a:pt x="1179182" y="503301"/>
                </a:lnTo>
                <a:lnTo>
                  <a:pt x="1184148" y="49833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6675119" y="1605026"/>
            <a:ext cx="5321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175" dirty="0">
                <a:solidFill>
                  <a:srgbClr val="FFFFFF"/>
                </a:solidFill>
                <a:latin typeface="Roboto Bk"/>
                <a:cs typeface="Roboto Bk"/>
              </a:rPr>
              <a:t>A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40166" y="1872996"/>
            <a:ext cx="1372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Request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28232" y="2683001"/>
            <a:ext cx="3404870" cy="1021080"/>
          </a:xfrm>
          <a:custGeom>
            <a:avLst/>
            <a:gdLst/>
            <a:ahLst/>
            <a:cxnLst/>
            <a:rect l="l" t="t" r="r" b="b"/>
            <a:pathLst>
              <a:path w="3404870" h="1021079">
                <a:moveTo>
                  <a:pt x="3404616" y="0"/>
                </a:moveTo>
                <a:lnTo>
                  <a:pt x="0" y="0"/>
                </a:lnTo>
                <a:lnTo>
                  <a:pt x="0" y="1021080"/>
                </a:lnTo>
                <a:lnTo>
                  <a:pt x="3404616" y="1021080"/>
                </a:lnTo>
                <a:lnTo>
                  <a:pt x="3404616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89190" y="3035300"/>
            <a:ext cx="1233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Extract </a:t>
            </a:r>
            <a:r>
              <a:rPr sz="1800" spc="-2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667494" y="2671571"/>
            <a:ext cx="1191260" cy="1021080"/>
          </a:xfrm>
          <a:custGeom>
            <a:avLst/>
            <a:gdLst/>
            <a:ahLst/>
            <a:cxnLst/>
            <a:rect l="l" t="t" r="r" b="b"/>
            <a:pathLst>
              <a:path w="1191259" h="1021079">
                <a:moveTo>
                  <a:pt x="1191006" y="0"/>
                </a:moveTo>
                <a:lnTo>
                  <a:pt x="170688" y="0"/>
                </a:lnTo>
                <a:lnTo>
                  <a:pt x="170688" y="408686"/>
                </a:lnTo>
                <a:lnTo>
                  <a:pt x="169672" y="407670"/>
                </a:lnTo>
                <a:lnTo>
                  <a:pt x="9144" y="567690"/>
                </a:lnTo>
                <a:lnTo>
                  <a:pt x="0" y="567690"/>
                </a:lnTo>
                <a:lnTo>
                  <a:pt x="164719" y="731520"/>
                </a:lnTo>
                <a:lnTo>
                  <a:pt x="170688" y="725639"/>
                </a:lnTo>
                <a:lnTo>
                  <a:pt x="170688" y="1021080"/>
                </a:lnTo>
                <a:lnTo>
                  <a:pt x="1191006" y="1021080"/>
                </a:lnTo>
                <a:lnTo>
                  <a:pt x="119100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122916" y="2701289"/>
            <a:ext cx="5048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 Bk"/>
                <a:cs typeface="Roboto Bk"/>
              </a:rPr>
              <a:t>B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48550" y="3831335"/>
            <a:ext cx="3404870" cy="1019810"/>
          </a:xfrm>
          <a:custGeom>
            <a:avLst/>
            <a:gdLst/>
            <a:ahLst/>
            <a:cxnLst/>
            <a:rect l="l" t="t" r="r" b="b"/>
            <a:pathLst>
              <a:path w="3404870" h="1019810">
                <a:moveTo>
                  <a:pt x="3404615" y="0"/>
                </a:moveTo>
                <a:lnTo>
                  <a:pt x="0" y="0"/>
                </a:lnTo>
                <a:lnTo>
                  <a:pt x="0" y="1019556"/>
                </a:lnTo>
                <a:lnTo>
                  <a:pt x="3404615" y="1019556"/>
                </a:lnTo>
                <a:lnTo>
                  <a:pt x="3404615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28232" y="3831335"/>
            <a:ext cx="1184275" cy="1019810"/>
          </a:xfrm>
          <a:custGeom>
            <a:avLst/>
            <a:gdLst/>
            <a:ahLst/>
            <a:cxnLst/>
            <a:rect l="l" t="t" r="r" b="b"/>
            <a:pathLst>
              <a:path w="1184275" h="1019810">
                <a:moveTo>
                  <a:pt x="1184148" y="508254"/>
                </a:moveTo>
                <a:lnTo>
                  <a:pt x="1019556" y="345948"/>
                </a:lnTo>
                <a:lnTo>
                  <a:pt x="1018794" y="346710"/>
                </a:lnTo>
                <a:lnTo>
                  <a:pt x="1018794" y="0"/>
                </a:lnTo>
                <a:lnTo>
                  <a:pt x="0" y="0"/>
                </a:lnTo>
                <a:lnTo>
                  <a:pt x="0" y="1019556"/>
                </a:lnTo>
                <a:lnTo>
                  <a:pt x="1018794" y="1019556"/>
                </a:lnTo>
                <a:lnTo>
                  <a:pt x="1018794" y="673608"/>
                </a:lnTo>
                <a:lnTo>
                  <a:pt x="1019556" y="674370"/>
                </a:lnTo>
                <a:lnTo>
                  <a:pt x="1184148" y="509778"/>
                </a:lnTo>
                <a:lnTo>
                  <a:pt x="1018794" y="509778"/>
                </a:lnTo>
                <a:lnTo>
                  <a:pt x="1018794" y="508254"/>
                </a:lnTo>
                <a:lnTo>
                  <a:pt x="1184148" y="508254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79945" y="3914140"/>
            <a:ext cx="513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25" dirty="0">
                <a:solidFill>
                  <a:srgbClr val="FFFFFF"/>
                </a:solidFill>
                <a:latin typeface="Roboto Bk"/>
                <a:cs typeface="Roboto Bk"/>
              </a:rPr>
              <a:t>C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8916" y="4182617"/>
            <a:ext cx="1118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Parse</a:t>
            </a:r>
            <a:r>
              <a:rPr sz="1800" spc="-20" dirty="0">
                <a:latin typeface="Arial MT"/>
                <a:cs typeface="Arial MT"/>
              </a:rPr>
              <a:t> data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8232" y="4985003"/>
            <a:ext cx="3509010" cy="1021080"/>
          </a:xfrm>
          <a:custGeom>
            <a:avLst/>
            <a:gdLst/>
            <a:ahLst/>
            <a:cxnLst/>
            <a:rect l="l" t="t" r="r" b="b"/>
            <a:pathLst>
              <a:path w="3509009" h="1021079">
                <a:moveTo>
                  <a:pt x="3509010" y="0"/>
                </a:moveTo>
                <a:lnTo>
                  <a:pt x="0" y="0"/>
                </a:lnTo>
                <a:lnTo>
                  <a:pt x="0" y="1021080"/>
                </a:lnTo>
                <a:lnTo>
                  <a:pt x="3509010" y="1021080"/>
                </a:lnTo>
                <a:lnTo>
                  <a:pt x="3509010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414259" y="5337302"/>
            <a:ext cx="1550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Save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csv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file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0364" y="4965953"/>
            <a:ext cx="1187450" cy="1040130"/>
          </a:xfrm>
          <a:custGeom>
            <a:avLst/>
            <a:gdLst/>
            <a:ahLst/>
            <a:cxnLst/>
            <a:rect l="l" t="t" r="r" b="b"/>
            <a:pathLst>
              <a:path w="1187450" h="1040129">
                <a:moveTo>
                  <a:pt x="1187196" y="0"/>
                </a:moveTo>
                <a:lnTo>
                  <a:pt x="166878" y="0"/>
                </a:lnTo>
                <a:lnTo>
                  <a:pt x="166878" y="360273"/>
                </a:lnTo>
                <a:lnTo>
                  <a:pt x="164719" y="358140"/>
                </a:lnTo>
                <a:lnTo>
                  <a:pt x="4584" y="517398"/>
                </a:lnTo>
                <a:lnTo>
                  <a:pt x="1524" y="517398"/>
                </a:lnTo>
                <a:lnTo>
                  <a:pt x="3048" y="518934"/>
                </a:lnTo>
                <a:lnTo>
                  <a:pt x="0" y="521970"/>
                </a:lnTo>
                <a:lnTo>
                  <a:pt x="6108" y="521970"/>
                </a:lnTo>
                <a:lnTo>
                  <a:pt x="165862" y="681228"/>
                </a:lnTo>
                <a:lnTo>
                  <a:pt x="166878" y="680224"/>
                </a:lnTo>
                <a:lnTo>
                  <a:pt x="166878" y="1021080"/>
                </a:lnTo>
                <a:lnTo>
                  <a:pt x="166878" y="1040130"/>
                </a:lnTo>
                <a:lnTo>
                  <a:pt x="1187196" y="1040130"/>
                </a:lnTo>
                <a:lnTo>
                  <a:pt x="1187196" y="1021080"/>
                </a:lnTo>
                <a:lnTo>
                  <a:pt x="1187196" y="530352"/>
                </a:lnTo>
                <a:lnTo>
                  <a:pt x="11871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265409" y="5045964"/>
            <a:ext cx="5060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000" b="1" spc="-50" dirty="0">
                <a:solidFill>
                  <a:srgbClr val="FFFFFF"/>
                </a:solidFill>
                <a:latin typeface="Roboto Bk"/>
                <a:cs typeface="Roboto Bk"/>
              </a:rPr>
              <a:t>D</a:t>
            </a:r>
            <a:endParaRPr sz="6000">
              <a:latin typeface="Roboto Bk"/>
              <a:cs typeface="Roboto Bk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9</a:t>
            </a:fld>
            <a:endParaRPr spc="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Data</a:t>
            </a:r>
            <a:r>
              <a:rPr spc="-175" dirty="0"/>
              <a:t> </a:t>
            </a:r>
            <a:r>
              <a:rPr spc="-80" dirty="0"/>
              <a:t>Wrangling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48791" y="2408173"/>
            <a:ext cx="5351145" cy="288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Specify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site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occurrence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orbit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occurrence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orbit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Calibri"/>
                <a:cs typeface="Calibri"/>
              </a:rPr>
              <a:t>Create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label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column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800" dirty="0">
              <a:latin typeface="Calibri"/>
              <a:cs typeface="Calibri"/>
            </a:endParaRPr>
          </a:p>
          <a:p>
            <a:pPr marL="12700" marR="635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Link: </a:t>
            </a:r>
            <a:r>
              <a:rPr lang="en-US" sz="1800" b="1" dirty="0">
                <a:latin typeface="Calibri"/>
                <a:cs typeface="Calibri"/>
                <a:hlinkClick r:id="rId3"/>
              </a:rPr>
              <a:t>https://github.com/Jananijana2712/SpaceX-Falcon_9_First_Stage_Landing_Prediction/blob/main/1.3%20SpaceX%20Data%20Wrangling.ipynb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5559" y="2014727"/>
            <a:ext cx="5136642" cy="354177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10</a:t>
            </a:fld>
            <a:endParaRPr spc="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EDA</a:t>
            </a:r>
            <a:r>
              <a:rPr spc="30" dirty="0"/>
              <a:t> </a:t>
            </a:r>
            <a:r>
              <a:rPr dirty="0"/>
              <a:t>with</a:t>
            </a:r>
            <a:r>
              <a:rPr spc="30" dirty="0"/>
              <a:t> </a:t>
            </a:r>
            <a:r>
              <a:rPr spc="-45" dirty="0"/>
              <a:t>Data</a:t>
            </a:r>
            <a:r>
              <a:rPr spc="25" dirty="0"/>
              <a:t> </a:t>
            </a:r>
            <a:r>
              <a:rPr spc="-60" dirty="0"/>
              <a:t>Visualization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37595" y="5635530"/>
            <a:ext cx="761365" cy="463550"/>
            <a:chOff x="837595" y="5635530"/>
            <a:chExt cx="761365" cy="4635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396" y="5801014"/>
              <a:ext cx="259900" cy="206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7595" y="5635530"/>
              <a:ext cx="761365" cy="463550"/>
            </a:xfrm>
            <a:custGeom>
              <a:avLst/>
              <a:gdLst/>
              <a:ahLst/>
              <a:cxnLst/>
              <a:rect l="l" t="t" r="r" b="b"/>
              <a:pathLst>
                <a:path w="761365" h="463550">
                  <a:moveTo>
                    <a:pt x="325346" y="0"/>
                  </a:moveTo>
                  <a:lnTo>
                    <a:pt x="281847" y="4834"/>
                  </a:lnTo>
                  <a:lnTo>
                    <a:pt x="232652" y="25650"/>
                  </a:lnTo>
                  <a:lnTo>
                    <a:pt x="192445" y="59133"/>
                  </a:lnTo>
                  <a:lnTo>
                    <a:pt x="163519" y="102725"/>
                  </a:lnTo>
                  <a:lnTo>
                    <a:pt x="148170" y="153868"/>
                  </a:lnTo>
                  <a:lnTo>
                    <a:pt x="113706" y="158742"/>
                  </a:lnTo>
                  <a:lnTo>
                    <a:pt x="53060" y="190193"/>
                  </a:lnTo>
                  <a:lnTo>
                    <a:pt x="9403" y="252547"/>
                  </a:lnTo>
                  <a:lnTo>
                    <a:pt x="0" y="292744"/>
                  </a:lnTo>
                  <a:lnTo>
                    <a:pt x="1147" y="331012"/>
                  </a:lnTo>
                  <a:lnTo>
                    <a:pt x="13329" y="374190"/>
                  </a:lnTo>
                  <a:lnTo>
                    <a:pt x="35853" y="409135"/>
                  </a:lnTo>
                  <a:lnTo>
                    <a:pt x="66326" y="436360"/>
                  </a:lnTo>
                  <a:lnTo>
                    <a:pt x="102893" y="454606"/>
                  </a:lnTo>
                  <a:lnTo>
                    <a:pt x="143698" y="462617"/>
                  </a:lnTo>
                  <a:lnTo>
                    <a:pt x="634593" y="463528"/>
                  </a:lnTo>
                  <a:lnTo>
                    <a:pt x="684758" y="452166"/>
                  </a:lnTo>
                  <a:lnTo>
                    <a:pt x="725264" y="423449"/>
                  </a:lnTo>
                  <a:lnTo>
                    <a:pt x="732632" y="411945"/>
                  </a:lnTo>
                  <a:lnTo>
                    <a:pt x="634593" y="411945"/>
                  </a:lnTo>
                  <a:lnTo>
                    <a:pt x="145934" y="411200"/>
                  </a:lnTo>
                  <a:lnTo>
                    <a:pt x="94523" y="393616"/>
                  </a:lnTo>
                  <a:lnTo>
                    <a:pt x="59214" y="352332"/>
                  </a:lnTo>
                  <a:lnTo>
                    <a:pt x="50375" y="298064"/>
                  </a:lnTo>
                  <a:lnTo>
                    <a:pt x="56599" y="271277"/>
                  </a:lnTo>
                  <a:lnTo>
                    <a:pt x="69732" y="246600"/>
                  </a:lnTo>
                  <a:lnTo>
                    <a:pt x="89213" y="226772"/>
                  </a:lnTo>
                  <a:lnTo>
                    <a:pt x="112887" y="213151"/>
                  </a:lnTo>
                  <a:lnTo>
                    <a:pt x="139135" y="206370"/>
                  </a:lnTo>
                  <a:lnTo>
                    <a:pt x="196539" y="206370"/>
                  </a:lnTo>
                  <a:lnTo>
                    <a:pt x="196539" y="179287"/>
                  </a:lnTo>
                  <a:lnTo>
                    <a:pt x="203822" y="137187"/>
                  </a:lnTo>
                  <a:lnTo>
                    <a:pt x="223824" y="100645"/>
                  </a:lnTo>
                  <a:lnTo>
                    <a:pt x="254431" y="72376"/>
                  </a:lnTo>
                  <a:lnTo>
                    <a:pt x="293526" y="55092"/>
                  </a:lnTo>
                  <a:lnTo>
                    <a:pt x="336115" y="52259"/>
                  </a:lnTo>
                  <a:lnTo>
                    <a:pt x="446756" y="52259"/>
                  </a:lnTo>
                  <a:lnTo>
                    <a:pt x="442008" y="46619"/>
                  </a:lnTo>
                  <a:lnTo>
                    <a:pt x="407255" y="21623"/>
                  </a:lnTo>
                  <a:lnTo>
                    <a:pt x="367759" y="5840"/>
                  </a:lnTo>
                  <a:lnTo>
                    <a:pt x="325346" y="0"/>
                  </a:lnTo>
                  <a:close/>
                </a:path>
                <a:path w="761365" h="463550">
                  <a:moveTo>
                    <a:pt x="613632" y="128615"/>
                  </a:moveTo>
                  <a:lnTo>
                    <a:pt x="490253" y="128615"/>
                  </a:lnTo>
                  <a:lnTo>
                    <a:pt x="514292" y="129096"/>
                  </a:lnTo>
                  <a:lnTo>
                    <a:pt x="537543" y="135216"/>
                  </a:lnTo>
                  <a:lnTo>
                    <a:pt x="576910" y="163541"/>
                  </a:lnTo>
                  <a:lnTo>
                    <a:pt x="598695" y="206370"/>
                  </a:lnTo>
                  <a:lnTo>
                    <a:pt x="601629" y="230703"/>
                  </a:lnTo>
                  <a:lnTo>
                    <a:pt x="601629" y="256536"/>
                  </a:lnTo>
                  <a:lnTo>
                    <a:pt x="635421" y="256536"/>
                  </a:lnTo>
                  <a:lnTo>
                    <a:pt x="665439" y="263778"/>
                  </a:lnTo>
                  <a:lnTo>
                    <a:pt x="689515" y="281356"/>
                  </a:lnTo>
                  <a:lnTo>
                    <a:pt x="705241" y="306678"/>
                  </a:lnTo>
                  <a:lnTo>
                    <a:pt x="710211" y="337152"/>
                  </a:lnTo>
                  <a:lnTo>
                    <a:pt x="703512" y="365962"/>
                  </a:lnTo>
                  <a:lnTo>
                    <a:pt x="687196" y="389494"/>
                  </a:lnTo>
                  <a:lnTo>
                    <a:pt x="663483" y="405553"/>
                  </a:lnTo>
                  <a:lnTo>
                    <a:pt x="634593" y="411945"/>
                  </a:lnTo>
                  <a:lnTo>
                    <a:pt x="732632" y="411945"/>
                  </a:lnTo>
                  <a:lnTo>
                    <a:pt x="752042" y="381642"/>
                  </a:lnTo>
                  <a:lnTo>
                    <a:pt x="761023" y="331012"/>
                  </a:lnTo>
                  <a:lnTo>
                    <a:pt x="751880" y="286148"/>
                  </a:lnTo>
                  <a:lnTo>
                    <a:pt x="728535" y="248261"/>
                  </a:lnTo>
                  <a:lnTo>
                    <a:pt x="693761" y="220484"/>
                  </a:lnTo>
                  <a:lnTo>
                    <a:pt x="650329" y="205947"/>
                  </a:lnTo>
                  <a:lnTo>
                    <a:pt x="642521" y="176493"/>
                  </a:lnTo>
                  <a:lnTo>
                    <a:pt x="629292" y="149351"/>
                  </a:lnTo>
                  <a:lnTo>
                    <a:pt x="613632" y="128615"/>
                  </a:lnTo>
                  <a:close/>
                </a:path>
                <a:path w="761365" h="463550">
                  <a:moveTo>
                    <a:pt x="196539" y="206370"/>
                  </a:moveTo>
                  <a:lnTo>
                    <a:pt x="142002" y="206370"/>
                  </a:lnTo>
                  <a:lnTo>
                    <a:pt x="167137" y="206858"/>
                  </a:lnTo>
                  <a:lnTo>
                    <a:pt x="196539" y="211743"/>
                  </a:lnTo>
                  <a:lnTo>
                    <a:pt x="196539" y="206370"/>
                  </a:lnTo>
                  <a:close/>
                </a:path>
                <a:path w="761365" h="463550">
                  <a:moveTo>
                    <a:pt x="446756" y="52259"/>
                  </a:moveTo>
                  <a:lnTo>
                    <a:pt x="336115" y="52259"/>
                  </a:lnTo>
                  <a:lnTo>
                    <a:pt x="376173" y="63366"/>
                  </a:lnTo>
                  <a:lnTo>
                    <a:pt x="410439" y="86895"/>
                  </a:lnTo>
                  <a:lnTo>
                    <a:pt x="435651" y="121329"/>
                  </a:lnTo>
                  <a:lnTo>
                    <a:pt x="445672" y="141283"/>
                  </a:lnTo>
                  <a:lnTo>
                    <a:pt x="466461" y="133914"/>
                  </a:lnTo>
                  <a:lnTo>
                    <a:pt x="490253" y="128615"/>
                  </a:lnTo>
                  <a:lnTo>
                    <a:pt x="613632" y="128615"/>
                  </a:lnTo>
                  <a:lnTo>
                    <a:pt x="611094" y="125253"/>
                  </a:lnTo>
                  <a:lnTo>
                    <a:pt x="588377" y="104935"/>
                  </a:lnTo>
                  <a:lnTo>
                    <a:pt x="561241" y="89630"/>
                  </a:lnTo>
                  <a:lnTo>
                    <a:pt x="531861" y="80257"/>
                  </a:lnTo>
                  <a:lnTo>
                    <a:pt x="530344" y="80096"/>
                  </a:lnTo>
                  <a:lnTo>
                    <a:pt x="470188" y="80096"/>
                  </a:lnTo>
                  <a:lnTo>
                    <a:pt x="446756" y="52259"/>
                  </a:lnTo>
                  <a:close/>
                </a:path>
                <a:path w="761365" h="463550">
                  <a:moveTo>
                    <a:pt x="501191" y="77013"/>
                  </a:moveTo>
                  <a:lnTo>
                    <a:pt x="470188" y="80096"/>
                  </a:lnTo>
                  <a:lnTo>
                    <a:pt x="530344" y="80096"/>
                  </a:lnTo>
                  <a:lnTo>
                    <a:pt x="501191" y="7701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21410" y="1864106"/>
            <a:ext cx="9595485" cy="45621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Payload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orbit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Flight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Orbit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Payload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Orbit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plot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yearly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chart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0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"/>
              <a:tabLst>
                <a:tab pos="29781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plot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categorical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"/>
              <a:tabLst>
                <a:tab pos="29781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several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categorical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"/>
              <a:tabLst>
                <a:tab pos="29781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series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20"/>
              </a:spcBef>
            </a:pPr>
            <a:endParaRPr sz="2000" dirty="0">
              <a:latin typeface="Calibri"/>
              <a:cs typeface="Calibri"/>
            </a:endParaRPr>
          </a:p>
          <a:p>
            <a:pPr marL="702310" marR="5080">
              <a:lnSpc>
                <a:spcPct val="100000"/>
              </a:lnSpc>
            </a:pPr>
            <a:r>
              <a:rPr lang="en-IN" sz="1800" spc="-20" dirty="0">
                <a:solidFill>
                  <a:srgbClr val="4471C4"/>
                </a:solidFill>
                <a:latin typeface="Calibri"/>
                <a:cs typeface="Calibri"/>
                <a:hlinkClick r:id="rId4"/>
              </a:rPr>
              <a:t>https://github.com/Jananijana2712/SpaceX-Falcon_9_First_Stage_Landing_Prediction/blob/main/1.4%20SpaceX%20%20the%20EDA%20with%20Visualization.ipynb</a:t>
            </a:r>
            <a:endParaRPr lang="en-IN"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11</a:t>
            </a:fld>
            <a:endParaRPr spc="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EDA</a:t>
            </a:r>
            <a:r>
              <a:rPr spc="120" dirty="0"/>
              <a:t> </a:t>
            </a:r>
            <a:r>
              <a:rPr dirty="0"/>
              <a:t>with</a:t>
            </a:r>
            <a:r>
              <a:rPr spc="120" dirty="0"/>
              <a:t> </a:t>
            </a:r>
            <a:r>
              <a:rPr spc="-350" dirty="0"/>
              <a:t>SQL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37595" y="5635530"/>
            <a:ext cx="761365" cy="463550"/>
            <a:chOff x="837595" y="5635530"/>
            <a:chExt cx="761365" cy="4635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396" y="5801014"/>
              <a:ext cx="259900" cy="2069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7595" y="5635530"/>
              <a:ext cx="761365" cy="463550"/>
            </a:xfrm>
            <a:custGeom>
              <a:avLst/>
              <a:gdLst/>
              <a:ahLst/>
              <a:cxnLst/>
              <a:rect l="l" t="t" r="r" b="b"/>
              <a:pathLst>
                <a:path w="761365" h="463550">
                  <a:moveTo>
                    <a:pt x="325346" y="0"/>
                  </a:moveTo>
                  <a:lnTo>
                    <a:pt x="281847" y="4834"/>
                  </a:lnTo>
                  <a:lnTo>
                    <a:pt x="232652" y="25650"/>
                  </a:lnTo>
                  <a:lnTo>
                    <a:pt x="192445" y="59133"/>
                  </a:lnTo>
                  <a:lnTo>
                    <a:pt x="163519" y="102725"/>
                  </a:lnTo>
                  <a:lnTo>
                    <a:pt x="148170" y="153868"/>
                  </a:lnTo>
                  <a:lnTo>
                    <a:pt x="113706" y="158742"/>
                  </a:lnTo>
                  <a:lnTo>
                    <a:pt x="53060" y="190193"/>
                  </a:lnTo>
                  <a:lnTo>
                    <a:pt x="9403" y="252547"/>
                  </a:lnTo>
                  <a:lnTo>
                    <a:pt x="0" y="292744"/>
                  </a:lnTo>
                  <a:lnTo>
                    <a:pt x="1147" y="331012"/>
                  </a:lnTo>
                  <a:lnTo>
                    <a:pt x="13329" y="374190"/>
                  </a:lnTo>
                  <a:lnTo>
                    <a:pt x="35853" y="409135"/>
                  </a:lnTo>
                  <a:lnTo>
                    <a:pt x="66326" y="436360"/>
                  </a:lnTo>
                  <a:lnTo>
                    <a:pt x="102893" y="454606"/>
                  </a:lnTo>
                  <a:lnTo>
                    <a:pt x="143698" y="462617"/>
                  </a:lnTo>
                  <a:lnTo>
                    <a:pt x="634593" y="463528"/>
                  </a:lnTo>
                  <a:lnTo>
                    <a:pt x="684758" y="452166"/>
                  </a:lnTo>
                  <a:lnTo>
                    <a:pt x="725264" y="423449"/>
                  </a:lnTo>
                  <a:lnTo>
                    <a:pt x="732632" y="411945"/>
                  </a:lnTo>
                  <a:lnTo>
                    <a:pt x="634593" y="411945"/>
                  </a:lnTo>
                  <a:lnTo>
                    <a:pt x="145934" y="411200"/>
                  </a:lnTo>
                  <a:lnTo>
                    <a:pt x="94523" y="393616"/>
                  </a:lnTo>
                  <a:lnTo>
                    <a:pt x="59214" y="352332"/>
                  </a:lnTo>
                  <a:lnTo>
                    <a:pt x="50375" y="298064"/>
                  </a:lnTo>
                  <a:lnTo>
                    <a:pt x="56599" y="271277"/>
                  </a:lnTo>
                  <a:lnTo>
                    <a:pt x="69732" y="246600"/>
                  </a:lnTo>
                  <a:lnTo>
                    <a:pt x="89213" y="226772"/>
                  </a:lnTo>
                  <a:lnTo>
                    <a:pt x="112887" y="213151"/>
                  </a:lnTo>
                  <a:lnTo>
                    <a:pt x="139135" y="206370"/>
                  </a:lnTo>
                  <a:lnTo>
                    <a:pt x="196539" y="206370"/>
                  </a:lnTo>
                  <a:lnTo>
                    <a:pt x="196539" y="179287"/>
                  </a:lnTo>
                  <a:lnTo>
                    <a:pt x="203822" y="137187"/>
                  </a:lnTo>
                  <a:lnTo>
                    <a:pt x="223824" y="100645"/>
                  </a:lnTo>
                  <a:lnTo>
                    <a:pt x="254431" y="72376"/>
                  </a:lnTo>
                  <a:lnTo>
                    <a:pt x="293526" y="55092"/>
                  </a:lnTo>
                  <a:lnTo>
                    <a:pt x="336115" y="52259"/>
                  </a:lnTo>
                  <a:lnTo>
                    <a:pt x="446756" y="52259"/>
                  </a:lnTo>
                  <a:lnTo>
                    <a:pt x="442008" y="46619"/>
                  </a:lnTo>
                  <a:lnTo>
                    <a:pt x="407255" y="21623"/>
                  </a:lnTo>
                  <a:lnTo>
                    <a:pt x="367759" y="5840"/>
                  </a:lnTo>
                  <a:lnTo>
                    <a:pt x="325346" y="0"/>
                  </a:lnTo>
                  <a:close/>
                </a:path>
                <a:path w="761365" h="463550">
                  <a:moveTo>
                    <a:pt x="613632" y="128615"/>
                  </a:moveTo>
                  <a:lnTo>
                    <a:pt x="490253" y="128615"/>
                  </a:lnTo>
                  <a:lnTo>
                    <a:pt x="514292" y="129096"/>
                  </a:lnTo>
                  <a:lnTo>
                    <a:pt x="537543" y="135216"/>
                  </a:lnTo>
                  <a:lnTo>
                    <a:pt x="576910" y="163541"/>
                  </a:lnTo>
                  <a:lnTo>
                    <a:pt x="598695" y="206370"/>
                  </a:lnTo>
                  <a:lnTo>
                    <a:pt x="601629" y="230703"/>
                  </a:lnTo>
                  <a:lnTo>
                    <a:pt x="601629" y="256536"/>
                  </a:lnTo>
                  <a:lnTo>
                    <a:pt x="635421" y="256536"/>
                  </a:lnTo>
                  <a:lnTo>
                    <a:pt x="665439" y="263778"/>
                  </a:lnTo>
                  <a:lnTo>
                    <a:pt x="689515" y="281356"/>
                  </a:lnTo>
                  <a:lnTo>
                    <a:pt x="705241" y="306678"/>
                  </a:lnTo>
                  <a:lnTo>
                    <a:pt x="710211" y="337152"/>
                  </a:lnTo>
                  <a:lnTo>
                    <a:pt x="703512" y="365962"/>
                  </a:lnTo>
                  <a:lnTo>
                    <a:pt x="687196" y="389494"/>
                  </a:lnTo>
                  <a:lnTo>
                    <a:pt x="663483" y="405553"/>
                  </a:lnTo>
                  <a:lnTo>
                    <a:pt x="634593" y="411945"/>
                  </a:lnTo>
                  <a:lnTo>
                    <a:pt x="732632" y="411945"/>
                  </a:lnTo>
                  <a:lnTo>
                    <a:pt x="752042" y="381642"/>
                  </a:lnTo>
                  <a:lnTo>
                    <a:pt x="761023" y="331012"/>
                  </a:lnTo>
                  <a:lnTo>
                    <a:pt x="751880" y="286148"/>
                  </a:lnTo>
                  <a:lnTo>
                    <a:pt x="728535" y="248261"/>
                  </a:lnTo>
                  <a:lnTo>
                    <a:pt x="693761" y="220484"/>
                  </a:lnTo>
                  <a:lnTo>
                    <a:pt x="650329" y="205947"/>
                  </a:lnTo>
                  <a:lnTo>
                    <a:pt x="642521" y="176493"/>
                  </a:lnTo>
                  <a:lnTo>
                    <a:pt x="629292" y="149351"/>
                  </a:lnTo>
                  <a:lnTo>
                    <a:pt x="613632" y="128615"/>
                  </a:lnTo>
                  <a:close/>
                </a:path>
                <a:path w="761365" h="463550">
                  <a:moveTo>
                    <a:pt x="196539" y="206370"/>
                  </a:moveTo>
                  <a:lnTo>
                    <a:pt x="142002" y="206370"/>
                  </a:lnTo>
                  <a:lnTo>
                    <a:pt x="167137" y="206858"/>
                  </a:lnTo>
                  <a:lnTo>
                    <a:pt x="196539" y="211743"/>
                  </a:lnTo>
                  <a:lnTo>
                    <a:pt x="196539" y="206370"/>
                  </a:lnTo>
                  <a:close/>
                </a:path>
                <a:path w="761365" h="463550">
                  <a:moveTo>
                    <a:pt x="446756" y="52259"/>
                  </a:moveTo>
                  <a:lnTo>
                    <a:pt x="336115" y="52259"/>
                  </a:lnTo>
                  <a:lnTo>
                    <a:pt x="376173" y="63366"/>
                  </a:lnTo>
                  <a:lnTo>
                    <a:pt x="410439" y="86895"/>
                  </a:lnTo>
                  <a:lnTo>
                    <a:pt x="435651" y="121329"/>
                  </a:lnTo>
                  <a:lnTo>
                    <a:pt x="445672" y="141283"/>
                  </a:lnTo>
                  <a:lnTo>
                    <a:pt x="466461" y="133914"/>
                  </a:lnTo>
                  <a:lnTo>
                    <a:pt x="490253" y="128615"/>
                  </a:lnTo>
                  <a:lnTo>
                    <a:pt x="613632" y="128615"/>
                  </a:lnTo>
                  <a:lnTo>
                    <a:pt x="611094" y="125253"/>
                  </a:lnTo>
                  <a:lnTo>
                    <a:pt x="588377" y="104935"/>
                  </a:lnTo>
                  <a:lnTo>
                    <a:pt x="561241" y="89630"/>
                  </a:lnTo>
                  <a:lnTo>
                    <a:pt x="531861" y="80257"/>
                  </a:lnTo>
                  <a:lnTo>
                    <a:pt x="530344" y="80096"/>
                  </a:lnTo>
                  <a:lnTo>
                    <a:pt x="470188" y="80096"/>
                  </a:lnTo>
                  <a:lnTo>
                    <a:pt x="446756" y="52259"/>
                  </a:lnTo>
                  <a:close/>
                </a:path>
                <a:path w="761365" h="463550">
                  <a:moveTo>
                    <a:pt x="501191" y="77013"/>
                  </a:moveTo>
                  <a:lnTo>
                    <a:pt x="470188" y="80096"/>
                  </a:lnTo>
                  <a:lnTo>
                    <a:pt x="530344" y="80096"/>
                  </a:lnTo>
                  <a:lnTo>
                    <a:pt x="501191" y="77013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91032" y="1752853"/>
            <a:ext cx="10539095" cy="4688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unique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mission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begin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'CCA’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launched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NASA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(CRS)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average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F9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v1.1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outcome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achieved.</a:t>
            </a:r>
            <a:endParaRPr sz="1800" dirty="0">
              <a:latin typeface="Calibri"/>
              <a:cs typeface="Calibri"/>
            </a:endParaRPr>
          </a:p>
          <a:p>
            <a:pPr marL="298450" marR="26670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ship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greater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4000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but </a:t>
            </a:r>
            <a:r>
              <a:rPr sz="1800" dirty="0">
                <a:latin typeface="Calibri"/>
                <a:cs typeface="Calibri"/>
              </a:rPr>
              <a:t>less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20" dirty="0">
                <a:latin typeface="Calibri"/>
                <a:cs typeface="Calibri"/>
              </a:rPr>
              <a:t> 6000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total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failure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outcomes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booster_versions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carried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maximum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mass.</a:t>
            </a:r>
            <a:endParaRPr sz="1800" dirty="0">
              <a:latin typeface="Calibri"/>
              <a:cs typeface="Calibri"/>
            </a:endParaRPr>
          </a:p>
          <a:p>
            <a:pPr marL="298450" marR="5080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1800" dirty="0">
                <a:latin typeface="Calibri"/>
                <a:cs typeface="Calibri"/>
              </a:rPr>
              <a:t>List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display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failure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landing_outcomes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drone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ship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,booster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versions, launch_site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months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year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2015.</a:t>
            </a:r>
            <a:endParaRPr sz="1800" dirty="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Calibri"/>
                <a:cs typeface="Calibri"/>
              </a:rPr>
              <a:t>Rank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landing_outcomes</a:t>
            </a:r>
            <a:r>
              <a:rPr sz="1800" dirty="0">
                <a:latin typeface="Calibri"/>
                <a:cs typeface="Calibri"/>
              </a:rPr>
              <a:t> between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04-06-</a:t>
            </a:r>
            <a:r>
              <a:rPr sz="1800" dirty="0">
                <a:latin typeface="Calibri"/>
                <a:cs typeface="Calibri"/>
              </a:rPr>
              <a:t>2010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20-</a:t>
            </a:r>
            <a:r>
              <a:rPr sz="1800" spc="-10" dirty="0">
                <a:latin typeface="Calibri"/>
                <a:cs typeface="Calibri"/>
              </a:rPr>
              <a:t>03-</a:t>
            </a:r>
            <a:r>
              <a:rPr sz="1800" dirty="0">
                <a:latin typeface="Calibri"/>
                <a:cs typeface="Calibri"/>
              </a:rPr>
              <a:t>2017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descending</a:t>
            </a:r>
            <a:endParaRPr sz="1800" dirty="0">
              <a:latin typeface="Calibri"/>
              <a:cs typeface="Calibri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order.</a:t>
            </a:r>
            <a:endParaRPr sz="1800" dirty="0">
              <a:latin typeface="Calibri"/>
              <a:cs typeface="Calibri"/>
            </a:endParaRPr>
          </a:p>
          <a:p>
            <a:pPr marL="932180" marR="1534160">
              <a:lnSpc>
                <a:spcPct val="100000"/>
              </a:lnSpc>
              <a:spcBef>
                <a:spcPts val="1900"/>
              </a:spcBef>
            </a:pPr>
            <a:r>
              <a:rPr lang="en-IN" sz="1800" spc="-20" dirty="0">
                <a:solidFill>
                  <a:srgbClr val="4471C4"/>
                </a:solidFill>
                <a:latin typeface="Calibri"/>
                <a:cs typeface="Calibri"/>
                <a:hlinkClick r:id="rId4"/>
              </a:rPr>
              <a:t>https://github.com/Jananijana2712/SpaceX-Falcon_9_First_Stage_Landing_Prediction/blob/main/Assignment%20SQL%20Notebook%20for%20Peer%20Assignment.ipynb</a:t>
            </a:r>
            <a:endParaRPr lang="en-IN"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12</a:t>
            </a:fld>
            <a:endParaRPr spc="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7357745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Build</a:t>
            </a:r>
            <a:r>
              <a:rPr spc="-125" dirty="0"/>
              <a:t> </a:t>
            </a:r>
            <a:r>
              <a:rPr dirty="0"/>
              <a:t>an</a:t>
            </a:r>
            <a:r>
              <a:rPr spc="-114" dirty="0"/>
              <a:t> </a:t>
            </a:r>
            <a:r>
              <a:rPr spc="-60" dirty="0"/>
              <a:t>Interactive</a:t>
            </a:r>
            <a:r>
              <a:rPr spc="-114" dirty="0"/>
              <a:t> </a:t>
            </a:r>
            <a:r>
              <a:rPr spc="-35" dirty="0"/>
              <a:t>Map</a:t>
            </a:r>
            <a:r>
              <a:rPr spc="-110" dirty="0"/>
              <a:t> </a:t>
            </a:r>
            <a:r>
              <a:rPr dirty="0"/>
              <a:t>with</a:t>
            </a:r>
            <a:r>
              <a:rPr spc="-120" dirty="0"/>
              <a:t> </a:t>
            </a:r>
            <a:r>
              <a:rPr spc="-50" dirty="0"/>
              <a:t>Folium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53450" y="532637"/>
            <a:ext cx="3291078" cy="4091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97232" y="4933132"/>
            <a:ext cx="762000" cy="464184"/>
            <a:chOff x="797232" y="4933132"/>
            <a:chExt cx="762000" cy="46418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6268" y="5098772"/>
              <a:ext cx="260144" cy="20716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97232" y="4933132"/>
              <a:ext cx="762000" cy="464184"/>
            </a:xfrm>
            <a:custGeom>
              <a:avLst/>
              <a:gdLst/>
              <a:ahLst/>
              <a:cxnLst/>
              <a:rect l="l" t="t" r="r" b="b"/>
              <a:pathLst>
                <a:path w="762000" h="464185">
                  <a:moveTo>
                    <a:pt x="325653" y="0"/>
                  </a:moveTo>
                  <a:lnTo>
                    <a:pt x="282113" y="4839"/>
                  </a:lnTo>
                  <a:lnTo>
                    <a:pt x="232871" y="25675"/>
                  </a:lnTo>
                  <a:lnTo>
                    <a:pt x="192626" y="59189"/>
                  </a:lnTo>
                  <a:lnTo>
                    <a:pt x="163673" y="102822"/>
                  </a:lnTo>
                  <a:lnTo>
                    <a:pt x="148310" y="154013"/>
                  </a:lnTo>
                  <a:lnTo>
                    <a:pt x="113813" y="158892"/>
                  </a:lnTo>
                  <a:lnTo>
                    <a:pt x="53110" y="190372"/>
                  </a:lnTo>
                  <a:lnTo>
                    <a:pt x="9411" y="252785"/>
                  </a:lnTo>
                  <a:lnTo>
                    <a:pt x="0" y="293020"/>
                  </a:lnTo>
                  <a:lnTo>
                    <a:pt x="1148" y="331323"/>
                  </a:lnTo>
                  <a:lnTo>
                    <a:pt x="1238" y="334319"/>
                  </a:lnTo>
                  <a:lnTo>
                    <a:pt x="13342" y="374542"/>
                  </a:lnTo>
                  <a:lnTo>
                    <a:pt x="35887" y="409521"/>
                  </a:lnTo>
                  <a:lnTo>
                    <a:pt x="66389" y="436771"/>
                  </a:lnTo>
                  <a:lnTo>
                    <a:pt x="102989" y="455034"/>
                  </a:lnTo>
                  <a:lnTo>
                    <a:pt x="143833" y="463052"/>
                  </a:lnTo>
                  <a:lnTo>
                    <a:pt x="635190" y="463964"/>
                  </a:lnTo>
                  <a:lnTo>
                    <a:pt x="685403" y="452591"/>
                  </a:lnTo>
                  <a:lnTo>
                    <a:pt x="725947" y="423847"/>
                  </a:lnTo>
                  <a:lnTo>
                    <a:pt x="733322" y="412333"/>
                  </a:lnTo>
                  <a:lnTo>
                    <a:pt x="635190" y="412333"/>
                  </a:lnTo>
                  <a:lnTo>
                    <a:pt x="146071" y="411587"/>
                  </a:lnTo>
                  <a:lnTo>
                    <a:pt x="94612" y="393987"/>
                  </a:lnTo>
                  <a:lnTo>
                    <a:pt x="59269" y="352663"/>
                  </a:lnTo>
                  <a:lnTo>
                    <a:pt x="50422" y="298344"/>
                  </a:lnTo>
                  <a:lnTo>
                    <a:pt x="56652" y="271532"/>
                  </a:lnTo>
                  <a:lnTo>
                    <a:pt x="69798" y="246833"/>
                  </a:lnTo>
                  <a:lnTo>
                    <a:pt x="89297" y="226985"/>
                  </a:lnTo>
                  <a:lnTo>
                    <a:pt x="112994" y="213351"/>
                  </a:lnTo>
                  <a:lnTo>
                    <a:pt x="139266" y="206565"/>
                  </a:lnTo>
                  <a:lnTo>
                    <a:pt x="196724" y="206565"/>
                  </a:lnTo>
                  <a:lnTo>
                    <a:pt x="196724" y="179455"/>
                  </a:lnTo>
                  <a:lnTo>
                    <a:pt x="204014" y="137316"/>
                  </a:lnTo>
                  <a:lnTo>
                    <a:pt x="224035" y="100740"/>
                  </a:lnTo>
                  <a:lnTo>
                    <a:pt x="254670" y="72444"/>
                  </a:lnTo>
                  <a:lnTo>
                    <a:pt x="293802" y="55144"/>
                  </a:lnTo>
                  <a:lnTo>
                    <a:pt x="336431" y="52308"/>
                  </a:lnTo>
                  <a:lnTo>
                    <a:pt x="447176" y="52308"/>
                  </a:lnTo>
                  <a:lnTo>
                    <a:pt x="442424" y="46663"/>
                  </a:lnTo>
                  <a:lnTo>
                    <a:pt x="407639" y="21644"/>
                  </a:lnTo>
                  <a:lnTo>
                    <a:pt x="368105" y="5845"/>
                  </a:lnTo>
                  <a:lnTo>
                    <a:pt x="325653" y="0"/>
                  </a:lnTo>
                  <a:close/>
                </a:path>
                <a:path w="762000" h="464185">
                  <a:moveTo>
                    <a:pt x="614210" y="128736"/>
                  </a:moveTo>
                  <a:lnTo>
                    <a:pt x="490715" y="128736"/>
                  </a:lnTo>
                  <a:lnTo>
                    <a:pt x="514776" y="129218"/>
                  </a:lnTo>
                  <a:lnTo>
                    <a:pt x="538049" y="135344"/>
                  </a:lnTo>
                  <a:lnTo>
                    <a:pt x="577453" y="163695"/>
                  </a:lnTo>
                  <a:lnTo>
                    <a:pt x="599259" y="206565"/>
                  </a:lnTo>
                  <a:lnTo>
                    <a:pt x="602195" y="230921"/>
                  </a:lnTo>
                  <a:lnTo>
                    <a:pt x="602195" y="256777"/>
                  </a:lnTo>
                  <a:lnTo>
                    <a:pt x="636019" y="256777"/>
                  </a:lnTo>
                  <a:lnTo>
                    <a:pt x="666066" y="264027"/>
                  </a:lnTo>
                  <a:lnTo>
                    <a:pt x="690164" y="281621"/>
                  </a:lnTo>
                  <a:lnTo>
                    <a:pt x="705905" y="306966"/>
                  </a:lnTo>
                  <a:lnTo>
                    <a:pt x="710879" y="337470"/>
                  </a:lnTo>
                  <a:lnTo>
                    <a:pt x="704175" y="366307"/>
                  </a:lnTo>
                  <a:lnTo>
                    <a:pt x="687843" y="389860"/>
                  </a:lnTo>
                  <a:lnTo>
                    <a:pt x="664107" y="405934"/>
                  </a:lnTo>
                  <a:lnTo>
                    <a:pt x="635190" y="412333"/>
                  </a:lnTo>
                  <a:lnTo>
                    <a:pt x="733322" y="412333"/>
                  </a:lnTo>
                  <a:lnTo>
                    <a:pt x="752750" y="382002"/>
                  </a:lnTo>
                  <a:lnTo>
                    <a:pt x="761739" y="331323"/>
                  </a:lnTo>
                  <a:lnTo>
                    <a:pt x="752588" y="286417"/>
                  </a:lnTo>
                  <a:lnTo>
                    <a:pt x="729221" y="248495"/>
                  </a:lnTo>
                  <a:lnTo>
                    <a:pt x="694414" y="220691"/>
                  </a:lnTo>
                  <a:lnTo>
                    <a:pt x="650941" y="206141"/>
                  </a:lnTo>
                  <a:lnTo>
                    <a:pt x="643125" y="176659"/>
                  </a:lnTo>
                  <a:lnTo>
                    <a:pt x="629884" y="149491"/>
                  </a:lnTo>
                  <a:lnTo>
                    <a:pt x="614210" y="128736"/>
                  </a:lnTo>
                  <a:close/>
                </a:path>
                <a:path w="762000" h="464185">
                  <a:moveTo>
                    <a:pt x="196724" y="206565"/>
                  </a:moveTo>
                  <a:lnTo>
                    <a:pt x="142136" y="206565"/>
                  </a:lnTo>
                  <a:lnTo>
                    <a:pt x="167294" y="207053"/>
                  </a:lnTo>
                  <a:lnTo>
                    <a:pt x="196724" y="211942"/>
                  </a:lnTo>
                  <a:lnTo>
                    <a:pt x="196724" y="206565"/>
                  </a:lnTo>
                  <a:close/>
                </a:path>
                <a:path w="762000" h="464185">
                  <a:moveTo>
                    <a:pt x="447176" y="52308"/>
                  </a:moveTo>
                  <a:lnTo>
                    <a:pt x="336431" y="52308"/>
                  </a:lnTo>
                  <a:lnTo>
                    <a:pt x="376527" y="63426"/>
                  </a:lnTo>
                  <a:lnTo>
                    <a:pt x="410825" y="86977"/>
                  </a:lnTo>
                  <a:lnTo>
                    <a:pt x="436061" y="121443"/>
                  </a:lnTo>
                  <a:lnTo>
                    <a:pt x="446092" y="141416"/>
                  </a:lnTo>
                  <a:lnTo>
                    <a:pt x="466900" y="134040"/>
                  </a:lnTo>
                  <a:lnTo>
                    <a:pt x="490715" y="128736"/>
                  </a:lnTo>
                  <a:lnTo>
                    <a:pt x="614210" y="128736"/>
                  </a:lnTo>
                  <a:lnTo>
                    <a:pt x="611669" y="125371"/>
                  </a:lnTo>
                  <a:lnTo>
                    <a:pt x="588931" y="105034"/>
                  </a:lnTo>
                  <a:lnTo>
                    <a:pt x="561769" y="89715"/>
                  </a:lnTo>
                  <a:lnTo>
                    <a:pt x="532361" y="80332"/>
                  </a:lnTo>
                  <a:lnTo>
                    <a:pt x="530843" y="80172"/>
                  </a:lnTo>
                  <a:lnTo>
                    <a:pt x="470631" y="80172"/>
                  </a:lnTo>
                  <a:lnTo>
                    <a:pt x="447176" y="52308"/>
                  </a:lnTo>
                  <a:close/>
                </a:path>
                <a:path w="762000" h="464185">
                  <a:moveTo>
                    <a:pt x="501663" y="77085"/>
                  </a:moveTo>
                  <a:lnTo>
                    <a:pt x="470631" y="80172"/>
                  </a:lnTo>
                  <a:lnTo>
                    <a:pt x="530843" y="80172"/>
                  </a:lnTo>
                  <a:lnTo>
                    <a:pt x="501663" y="7708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49603" y="1875789"/>
            <a:ext cx="10217150" cy="39337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2000" dirty="0">
                <a:latin typeface="Calibri"/>
                <a:cs typeface="Calibri"/>
              </a:rPr>
              <a:t>Mark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map</a:t>
            </a:r>
            <a:endParaRPr sz="20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2000" dirty="0">
                <a:latin typeface="Calibri"/>
                <a:cs typeface="Calibri"/>
              </a:rPr>
              <a:t>Mark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success/failed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map</a:t>
            </a:r>
            <a:endParaRPr sz="20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Clr>
                <a:srgbClr val="4471C4"/>
              </a:buClr>
              <a:buFont typeface="Wingdings"/>
              <a:buChar char=""/>
              <a:tabLst>
                <a:tab pos="298450" algn="l"/>
              </a:tabLst>
            </a:pPr>
            <a:r>
              <a:rPr sz="2000" dirty="0">
                <a:latin typeface="Calibri"/>
                <a:cs typeface="Calibri"/>
              </a:rPr>
              <a:t>Calculate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distances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proximities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coast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railway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highway</a:t>
            </a:r>
            <a:endParaRPr sz="2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city</a:t>
            </a:r>
            <a:endParaRPr sz="2000" dirty="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1889"/>
              </a:spcBef>
            </a:pPr>
            <a:r>
              <a:rPr sz="2000" b="1" spc="-85" dirty="0">
                <a:latin typeface="Calibri"/>
                <a:cs typeface="Calibri"/>
              </a:rPr>
              <a:t>To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find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some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geographical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patterns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about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launch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sites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000" dirty="0">
              <a:latin typeface="Calibri"/>
              <a:cs typeface="Calibri"/>
            </a:endParaRPr>
          </a:p>
          <a:p>
            <a:pPr marL="673735" marR="5080">
              <a:lnSpc>
                <a:spcPct val="100000"/>
              </a:lnSpc>
            </a:pPr>
            <a:r>
              <a:rPr lang="en-IN" sz="1800" spc="-20" dirty="0">
                <a:solidFill>
                  <a:srgbClr val="4471C4"/>
                </a:solidFill>
                <a:latin typeface="Calibri"/>
                <a:cs typeface="Calibri"/>
                <a:hlinkClick r:id="rId4"/>
              </a:rPr>
              <a:t>https://github.com/Jananijana2712/SpaceX-Falcon_9_First_Stage_Landing_Prediction/blob/main/1.5%20SpaceX%20Interactive%20Visual%20Analytics%20with%20Folium.ipynb</a:t>
            </a:r>
            <a:endParaRPr lang="en-IN" sz="18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53261" y="4248949"/>
            <a:ext cx="311150" cy="353060"/>
            <a:chOff x="953261" y="4248949"/>
            <a:chExt cx="311150" cy="35306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3261" y="4248949"/>
              <a:ext cx="311150" cy="35289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1173" y="4287773"/>
              <a:ext cx="204215" cy="24612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13</a:t>
            </a:fld>
            <a:endParaRPr spc="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7147559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Build</a:t>
            </a:r>
            <a:r>
              <a:rPr spc="-85" dirty="0"/>
              <a:t> </a:t>
            </a:r>
            <a:r>
              <a:rPr spc="-270" dirty="0"/>
              <a:t>a</a:t>
            </a:r>
            <a:r>
              <a:rPr spc="20" dirty="0"/>
              <a:t> </a:t>
            </a:r>
            <a:r>
              <a:rPr spc="-85" dirty="0"/>
              <a:t>Dashboard</a:t>
            </a:r>
            <a:r>
              <a:rPr spc="-2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Plotly</a:t>
            </a:r>
            <a:r>
              <a:rPr spc="-30" dirty="0"/>
              <a:t> </a:t>
            </a:r>
            <a:r>
              <a:rPr spc="-110" dirty="0"/>
              <a:t>Dash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65997" y="430530"/>
            <a:ext cx="3232404" cy="4015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7363" y="1942592"/>
            <a:ext cx="8741410" cy="2014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launch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drop-</a:t>
            </a:r>
            <a:r>
              <a:rPr sz="2000" dirty="0">
                <a:latin typeface="Calibri"/>
                <a:cs typeface="Calibri"/>
              </a:rPr>
              <a:t>down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component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success-</a:t>
            </a:r>
            <a:r>
              <a:rPr sz="2000" spc="-10" dirty="0">
                <a:latin typeface="Calibri"/>
                <a:cs typeface="Calibri"/>
              </a:rPr>
              <a:t>pie-</a:t>
            </a:r>
            <a:r>
              <a:rPr sz="2000" dirty="0">
                <a:latin typeface="Calibri"/>
                <a:cs typeface="Calibri"/>
              </a:rPr>
              <a:t>chart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10" dirty="0">
                <a:latin typeface="Calibri"/>
                <a:cs typeface="Calibri"/>
              </a:rPr>
              <a:t> dropdown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slicer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payload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4471C4"/>
              </a:buClr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success-payload-</a:t>
            </a:r>
            <a:r>
              <a:rPr sz="2000" spc="-25" dirty="0">
                <a:latin typeface="Calibri"/>
                <a:cs typeface="Calibri"/>
              </a:rPr>
              <a:t>scatter-</a:t>
            </a:r>
            <a:r>
              <a:rPr sz="2000" dirty="0">
                <a:latin typeface="Calibri"/>
                <a:cs typeface="Calibri"/>
              </a:rPr>
              <a:t>chart </a:t>
            </a:r>
            <a:r>
              <a:rPr sz="2000" spc="-10" dirty="0">
                <a:latin typeface="Calibri"/>
                <a:cs typeface="Calibri"/>
              </a:rPr>
              <a:t>scatter</a:t>
            </a:r>
            <a:r>
              <a:rPr sz="2000" dirty="0">
                <a:latin typeface="Calibri"/>
                <a:cs typeface="Calibri"/>
              </a:rPr>
              <a:t> plot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selected site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dropdown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2000">
              <a:latin typeface="Calibri"/>
              <a:cs typeface="Calibri"/>
            </a:endParaRPr>
          </a:p>
          <a:p>
            <a:pPr marL="520700">
              <a:lnSpc>
                <a:spcPct val="100000"/>
              </a:lnSpc>
            </a:pPr>
            <a:r>
              <a:rPr sz="2000" b="1" spc="-80" dirty="0">
                <a:latin typeface="Calibri"/>
                <a:cs typeface="Calibri"/>
              </a:rPr>
              <a:t>To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inspect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relationship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success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rate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between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lauch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site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payload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3261" y="3625634"/>
            <a:ext cx="311150" cy="353060"/>
            <a:chOff x="953261" y="3625634"/>
            <a:chExt cx="311150" cy="35306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3261" y="3625634"/>
              <a:ext cx="311150" cy="35289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1173" y="3664458"/>
              <a:ext cx="204215" cy="24612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797232" y="4933132"/>
            <a:ext cx="762000" cy="464184"/>
            <a:chOff x="797232" y="4933132"/>
            <a:chExt cx="762000" cy="464184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6268" y="5098772"/>
              <a:ext cx="260144" cy="20716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97232" y="4933132"/>
              <a:ext cx="762000" cy="464184"/>
            </a:xfrm>
            <a:custGeom>
              <a:avLst/>
              <a:gdLst/>
              <a:ahLst/>
              <a:cxnLst/>
              <a:rect l="l" t="t" r="r" b="b"/>
              <a:pathLst>
                <a:path w="762000" h="464185">
                  <a:moveTo>
                    <a:pt x="325653" y="0"/>
                  </a:moveTo>
                  <a:lnTo>
                    <a:pt x="282113" y="4839"/>
                  </a:lnTo>
                  <a:lnTo>
                    <a:pt x="232871" y="25675"/>
                  </a:lnTo>
                  <a:lnTo>
                    <a:pt x="192626" y="59189"/>
                  </a:lnTo>
                  <a:lnTo>
                    <a:pt x="163673" y="102822"/>
                  </a:lnTo>
                  <a:lnTo>
                    <a:pt x="148310" y="154013"/>
                  </a:lnTo>
                  <a:lnTo>
                    <a:pt x="113813" y="158892"/>
                  </a:lnTo>
                  <a:lnTo>
                    <a:pt x="53110" y="190372"/>
                  </a:lnTo>
                  <a:lnTo>
                    <a:pt x="9411" y="252785"/>
                  </a:lnTo>
                  <a:lnTo>
                    <a:pt x="0" y="293020"/>
                  </a:lnTo>
                  <a:lnTo>
                    <a:pt x="1148" y="331323"/>
                  </a:lnTo>
                  <a:lnTo>
                    <a:pt x="1238" y="334319"/>
                  </a:lnTo>
                  <a:lnTo>
                    <a:pt x="13342" y="374542"/>
                  </a:lnTo>
                  <a:lnTo>
                    <a:pt x="35887" y="409521"/>
                  </a:lnTo>
                  <a:lnTo>
                    <a:pt x="66389" y="436771"/>
                  </a:lnTo>
                  <a:lnTo>
                    <a:pt x="102989" y="455034"/>
                  </a:lnTo>
                  <a:lnTo>
                    <a:pt x="143833" y="463052"/>
                  </a:lnTo>
                  <a:lnTo>
                    <a:pt x="635190" y="463964"/>
                  </a:lnTo>
                  <a:lnTo>
                    <a:pt x="685403" y="452591"/>
                  </a:lnTo>
                  <a:lnTo>
                    <a:pt x="725947" y="423847"/>
                  </a:lnTo>
                  <a:lnTo>
                    <a:pt x="733322" y="412333"/>
                  </a:lnTo>
                  <a:lnTo>
                    <a:pt x="635190" y="412333"/>
                  </a:lnTo>
                  <a:lnTo>
                    <a:pt x="146071" y="411587"/>
                  </a:lnTo>
                  <a:lnTo>
                    <a:pt x="94612" y="393987"/>
                  </a:lnTo>
                  <a:lnTo>
                    <a:pt x="59269" y="352663"/>
                  </a:lnTo>
                  <a:lnTo>
                    <a:pt x="50422" y="298344"/>
                  </a:lnTo>
                  <a:lnTo>
                    <a:pt x="56652" y="271532"/>
                  </a:lnTo>
                  <a:lnTo>
                    <a:pt x="69798" y="246833"/>
                  </a:lnTo>
                  <a:lnTo>
                    <a:pt x="89297" y="226985"/>
                  </a:lnTo>
                  <a:lnTo>
                    <a:pt x="112994" y="213351"/>
                  </a:lnTo>
                  <a:lnTo>
                    <a:pt x="139266" y="206565"/>
                  </a:lnTo>
                  <a:lnTo>
                    <a:pt x="196724" y="206565"/>
                  </a:lnTo>
                  <a:lnTo>
                    <a:pt x="196724" y="179455"/>
                  </a:lnTo>
                  <a:lnTo>
                    <a:pt x="204014" y="137316"/>
                  </a:lnTo>
                  <a:lnTo>
                    <a:pt x="224035" y="100740"/>
                  </a:lnTo>
                  <a:lnTo>
                    <a:pt x="254670" y="72444"/>
                  </a:lnTo>
                  <a:lnTo>
                    <a:pt x="293802" y="55144"/>
                  </a:lnTo>
                  <a:lnTo>
                    <a:pt x="336431" y="52308"/>
                  </a:lnTo>
                  <a:lnTo>
                    <a:pt x="447176" y="52308"/>
                  </a:lnTo>
                  <a:lnTo>
                    <a:pt x="442424" y="46663"/>
                  </a:lnTo>
                  <a:lnTo>
                    <a:pt x="407639" y="21644"/>
                  </a:lnTo>
                  <a:lnTo>
                    <a:pt x="368105" y="5845"/>
                  </a:lnTo>
                  <a:lnTo>
                    <a:pt x="325653" y="0"/>
                  </a:lnTo>
                  <a:close/>
                </a:path>
                <a:path w="762000" h="464185">
                  <a:moveTo>
                    <a:pt x="614210" y="128736"/>
                  </a:moveTo>
                  <a:lnTo>
                    <a:pt x="490715" y="128736"/>
                  </a:lnTo>
                  <a:lnTo>
                    <a:pt x="514776" y="129218"/>
                  </a:lnTo>
                  <a:lnTo>
                    <a:pt x="538049" y="135344"/>
                  </a:lnTo>
                  <a:lnTo>
                    <a:pt x="577453" y="163695"/>
                  </a:lnTo>
                  <a:lnTo>
                    <a:pt x="599259" y="206565"/>
                  </a:lnTo>
                  <a:lnTo>
                    <a:pt x="602195" y="230921"/>
                  </a:lnTo>
                  <a:lnTo>
                    <a:pt x="602195" y="256777"/>
                  </a:lnTo>
                  <a:lnTo>
                    <a:pt x="636019" y="256777"/>
                  </a:lnTo>
                  <a:lnTo>
                    <a:pt x="666066" y="264027"/>
                  </a:lnTo>
                  <a:lnTo>
                    <a:pt x="690164" y="281621"/>
                  </a:lnTo>
                  <a:lnTo>
                    <a:pt x="705905" y="306966"/>
                  </a:lnTo>
                  <a:lnTo>
                    <a:pt x="710879" y="337470"/>
                  </a:lnTo>
                  <a:lnTo>
                    <a:pt x="704175" y="366307"/>
                  </a:lnTo>
                  <a:lnTo>
                    <a:pt x="687843" y="389860"/>
                  </a:lnTo>
                  <a:lnTo>
                    <a:pt x="664107" y="405934"/>
                  </a:lnTo>
                  <a:lnTo>
                    <a:pt x="635190" y="412333"/>
                  </a:lnTo>
                  <a:lnTo>
                    <a:pt x="733322" y="412333"/>
                  </a:lnTo>
                  <a:lnTo>
                    <a:pt x="752750" y="382002"/>
                  </a:lnTo>
                  <a:lnTo>
                    <a:pt x="761739" y="331323"/>
                  </a:lnTo>
                  <a:lnTo>
                    <a:pt x="752588" y="286417"/>
                  </a:lnTo>
                  <a:lnTo>
                    <a:pt x="729221" y="248495"/>
                  </a:lnTo>
                  <a:lnTo>
                    <a:pt x="694414" y="220691"/>
                  </a:lnTo>
                  <a:lnTo>
                    <a:pt x="650941" y="206141"/>
                  </a:lnTo>
                  <a:lnTo>
                    <a:pt x="643125" y="176659"/>
                  </a:lnTo>
                  <a:lnTo>
                    <a:pt x="629884" y="149491"/>
                  </a:lnTo>
                  <a:lnTo>
                    <a:pt x="614210" y="128736"/>
                  </a:lnTo>
                  <a:close/>
                </a:path>
                <a:path w="762000" h="464185">
                  <a:moveTo>
                    <a:pt x="196724" y="206565"/>
                  </a:moveTo>
                  <a:lnTo>
                    <a:pt x="142136" y="206565"/>
                  </a:lnTo>
                  <a:lnTo>
                    <a:pt x="167294" y="207053"/>
                  </a:lnTo>
                  <a:lnTo>
                    <a:pt x="196724" y="211942"/>
                  </a:lnTo>
                  <a:lnTo>
                    <a:pt x="196724" y="206565"/>
                  </a:lnTo>
                  <a:close/>
                </a:path>
                <a:path w="762000" h="464185">
                  <a:moveTo>
                    <a:pt x="447176" y="52308"/>
                  </a:moveTo>
                  <a:lnTo>
                    <a:pt x="336431" y="52308"/>
                  </a:lnTo>
                  <a:lnTo>
                    <a:pt x="376527" y="63426"/>
                  </a:lnTo>
                  <a:lnTo>
                    <a:pt x="410825" y="86977"/>
                  </a:lnTo>
                  <a:lnTo>
                    <a:pt x="436061" y="121443"/>
                  </a:lnTo>
                  <a:lnTo>
                    <a:pt x="446092" y="141416"/>
                  </a:lnTo>
                  <a:lnTo>
                    <a:pt x="466900" y="134040"/>
                  </a:lnTo>
                  <a:lnTo>
                    <a:pt x="490715" y="128736"/>
                  </a:lnTo>
                  <a:lnTo>
                    <a:pt x="614210" y="128736"/>
                  </a:lnTo>
                  <a:lnTo>
                    <a:pt x="611669" y="125371"/>
                  </a:lnTo>
                  <a:lnTo>
                    <a:pt x="588931" y="105034"/>
                  </a:lnTo>
                  <a:lnTo>
                    <a:pt x="561769" y="89715"/>
                  </a:lnTo>
                  <a:lnTo>
                    <a:pt x="532361" y="80332"/>
                  </a:lnTo>
                  <a:lnTo>
                    <a:pt x="530843" y="80172"/>
                  </a:lnTo>
                  <a:lnTo>
                    <a:pt x="470631" y="80172"/>
                  </a:lnTo>
                  <a:lnTo>
                    <a:pt x="447176" y="52308"/>
                  </a:lnTo>
                  <a:close/>
                </a:path>
                <a:path w="762000" h="464185">
                  <a:moveTo>
                    <a:pt x="501663" y="77085"/>
                  </a:moveTo>
                  <a:lnTo>
                    <a:pt x="470631" y="80172"/>
                  </a:lnTo>
                  <a:lnTo>
                    <a:pt x="530843" y="80172"/>
                  </a:lnTo>
                  <a:lnTo>
                    <a:pt x="501663" y="7708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61311" y="4892547"/>
            <a:ext cx="641604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latin typeface="Calibri"/>
                <a:cs typeface="Calibri"/>
                <a:hlinkClick r:id="rId7"/>
              </a:rPr>
              <a:t>https://github.com/Jananijana2712/SpaceX-Falcon_9_First_Stage_Landing_Prediction/blob/main/1.6%20SpaceX%20Machine%20Learning%20Prediction.ipynb</a:t>
            </a:r>
            <a:endParaRPr lang="en-IN"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14</a:t>
            </a:fld>
            <a:endParaRPr spc="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Predictive</a:t>
            </a:r>
            <a:r>
              <a:rPr spc="-140" dirty="0"/>
              <a:t> </a:t>
            </a:r>
            <a:r>
              <a:rPr spc="-105" dirty="0"/>
              <a:t>Analysis</a:t>
            </a:r>
            <a:r>
              <a:rPr spc="-140" dirty="0"/>
              <a:t> </a:t>
            </a:r>
            <a:r>
              <a:rPr spc="-120" dirty="0"/>
              <a:t>(Classification)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3943" y="430530"/>
            <a:ext cx="3524250" cy="4381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331" y="1549327"/>
            <a:ext cx="10132405" cy="18320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48635" y="2135885"/>
            <a:ext cx="346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0" dirty="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44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7814" y="2074926"/>
            <a:ext cx="346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0" dirty="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4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60388" y="2099309"/>
            <a:ext cx="346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0" dirty="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44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63761" y="2083308"/>
            <a:ext cx="346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0" dirty="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44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2987" y="3656076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Microsoft Sans Serif"/>
                <a:cs typeface="Microsoft Sans Serif"/>
              </a:rPr>
              <a:t>Data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wrangling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6144" y="3656076"/>
            <a:ext cx="21374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Microsoft Sans Serif"/>
                <a:cs typeface="Microsoft Sans Serif"/>
              </a:rPr>
              <a:t>Data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standarization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1805" y="3656076"/>
            <a:ext cx="1887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Microsoft Sans Serif"/>
                <a:cs typeface="Microsoft Sans Serif"/>
              </a:rPr>
              <a:t>Split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into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traning and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test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datasets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22618" y="3656076"/>
            <a:ext cx="2628900" cy="2223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5645" marR="714375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Microsoft Sans Serif"/>
                <a:cs typeface="Microsoft Sans Serif"/>
              </a:rPr>
              <a:t>Predictive model </a:t>
            </a:r>
            <a:r>
              <a:rPr sz="2000" spc="-40" dirty="0">
                <a:latin typeface="Microsoft Sans Serif"/>
                <a:cs typeface="Microsoft Sans Serif"/>
              </a:rPr>
              <a:t>evalutation</a:t>
            </a:r>
            <a:endParaRPr sz="20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latin typeface="Microsoft Sans Serif"/>
                <a:cs typeface="Microsoft Sans Serif"/>
              </a:rPr>
              <a:t>Logistic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regression</a:t>
            </a:r>
            <a:endParaRPr sz="18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Support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vector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machine</a:t>
            </a:r>
            <a:endParaRPr sz="18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45" dirty="0">
                <a:latin typeface="Microsoft Sans Serif"/>
                <a:cs typeface="Microsoft Sans Serif"/>
              </a:rPr>
              <a:t>Decision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classifer</a:t>
            </a:r>
            <a:endParaRPr sz="18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1800" spc="-100" dirty="0">
                <a:latin typeface="Microsoft Sans Serif"/>
                <a:cs typeface="Microsoft Sans Serif"/>
              </a:rPr>
              <a:t>K-</a:t>
            </a:r>
            <a:r>
              <a:rPr sz="1800" spc="-40" dirty="0">
                <a:latin typeface="Microsoft Sans Serif"/>
                <a:cs typeface="Microsoft Sans Serif"/>
              </a:rPr>
              <a:t>nearest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neighnors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58121" y="3656076"/>
            <a:ext cx="2270125" cy="140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847090">
              <a:lnSpc>
                <a:spcPct val="100000"/>
              </a:lnSpc>
              <a:spcBef>
                <a:spcPts val="95"/>
              </a:spcBef>
            </a:pPr>
            <a:r>
              <a:rPr sz="2000" spc="-55" dirty="0">
                <a:latin typeface="Microsoft Sans Serif"/>
                <a:cs typeface="Microsoft Sans Serif"/>
              </a:rPr>
              <a:t>Predictive </a:t>
            </a:r>
            <a:r>
              <a:rPr sz="2000" spc="-10" dirty="0">
                <a:latin typeface="Microsoft Sans Serif"/>
                <a:cs typeface="Microsoft Sans Serif"/>
              </a:rPr>
              <a:t>model selection</a:t>
            </a:r>
            <a:endParaRPr sz="2000">
              <a:latin typeface="Microsoft Sans Serif"/>
              <a:cs typeface="Microsoft Sans Serif"/>
            </a:endParaRPr>
          </a:p>
          <a:p>
            <a:pPr marL="297815" indent="-285115">
              <a:lnSpc>
                <a:spcPct val="100000"/>
              </a:lnSpc>
              <a:spcBef>
                <a:spcPts val="146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spc="-100" dirty="0">
                <a:latin typeface="Microsoft Sans Serif"/>
                <a:cs typeface="Microsoft Sans Serif"/>
              </a:rPr>
              <a:t>K-</a:t>
            </a:r>
            <a:r>
              <a:rPr sz="1800" spc="-40" dirty="0">
                <a:latin typeface="Microsoft Sans Serif"/>
                <a:cs typeface="Microsoft Sans Serif"/>
              </a:rPr>
              <a:t>nearest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neighnors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7316" y="5094676"/>
            <a:ext cx="762000" cy="464184"/>
            <a:chOff x="707316" y="5094676"/>
            <a:chExt cx="762000" cy="464184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352" y="5260316"/>
              <a:ext cx="260144" cy="20716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07316" y="5094676"/>
              <a:ext cx="762000" cy="464184"/>
            </a:xfrm>
            <a:custGeom>
              <a:avLst/>
              <a:gdLst/>
              <a:ahLst/>
              <a:cxnLst/>
              <a:rect l="l" t="t" r="r" b="b"/>
              <a:pathLst>
                <a:path w="762000" h="464185">
                  <a:moveTo>
                    <a:pt x="325653" y="0"/>
                  </a:moveTo>
                  <a:lnTo>
                    <a:pt x="282113" y="4839"/>
                  </a:lnTo>
                  <a:lnTo>
                    <a:pt x="232871" y="25675"/>
                  </a:lnTo>
                  <a:lnTo>
                    <a:pt x="192626" y="59189"/>
                  </a:lnTo>
                  <a:lnTo>
                    <a:pt x="163673" y="102822"/>
                  </a:lnTo>
                  <a:lnTo>
                    <a:pt x="148310" y="154013"/>
                  </a:lnTo>
                  <a:lnTo>
                    <a:pt x="113813" y="158892"/>
                  </a:lnTo>
                  <a:lnTo>
                    <a:pt x="53110" y="190372"/>
                  </a:lnTo>
                  <a:lnTo>
                    <a:pt x="9411" y="252785"/>
                  </a:lnTo>
                  <a:lnTo>
                    <a:pt x="0" y="293020"/>
                  </a:lnTo>
                  <a:lnTo>
                    <a:pt x="1148" y="331323"/>
                  </a:lnTo>
                  <a:lnTo>
                    <a:pt x="1238" y="334319"/>
                  </a:lnTo>
                  <a:lnTo>
                    <a:pt x="13342" y="374542"/>
                  </a:lnTo>
                  <a:lnTo>
                    <a:pt x="35887" y="409521"/>
                  </a:lnTo>
                  <a:lnTo>
                    <a:pt x="66389" y="436771"/>
                  </a:lnTo>
                  <a:lnTo>
                    <a:pt x="102989" y="455034"/>
                  </a:lnTo>
                  <a:lnTo>
                    <a:pt x="143833" y="463052"/>
                  </a:lnTo>
                  <a:lnTo>
                    <a:pt x="635190" y="463964"/>
                  </a:lnTo>
                  <a:lnTo>
                    <a:pt x="685403" y="452591"/>
                  </a:lnTo>
                  <a:lnTo>
                    <a:pt x="725947" y="423847"/>
                  </a:lnTo>
                  <a:lnTo>
                    <a:pt x="733322" y="412333"/>
                  </a:lnTo>
                  <a:lnTo>
                    <a:pt x="635190" y="412333"/>
                  </a:lnTo>
                  <a:lnTo>
                    <a:pt x="146071" y="411587"/>
                  </a:lnTo>
                  <a:lnTo>
                    <a:pt x="94612" y="393987"/>
                  </a:lnTo>
                  <a:lnTo>
                    <a:pt x="59269" y="352663"/>
                  </a:lnTo>
                  <a:lnTo>
                    <a:pt x="50422" y="298344"/>
                  </a:lnTo>
                  <a:lnTo>
                    <a:pt x="56652" y="271532"/>
                  </a:lnTo>
                  <a:lnTo>
                    <a:pt x="69798" y="246833"/>
                  </a:lnTo>
                  <a:lnTo>
                    <a:pt x="89297" y="226985"/>
                  </a:lnTo>
                  <a:lnTo>
                    <a:pt x="112994" y="213351"/>
                  </a:lnTo>
                  <a:lnTo>
                    <a:pt x="139266" y="206565"/>
                  </a:lnTo>
                  <a:lnTo>
                    <a:pt x="196724" y="206565"/>
                  </a:lnTo>
                  <a:lnTo>
                    <a:pt x="196724" y="179455"/>
                  </a:lnTo>
                  <a:lnTo>
                    <a:pt x="204014" y="137316"/>
                  </a:lnTo>
                  <a:lnTo>
                    <a:pt x="224035" y="100740"/>
                  </a:lnTo>
                  <a:lnTo>
                    <a:pt x="254670" y="72444"/>
                  </a:lnTo>
                  <a:lnTo>
                    <a:pt x="293802" y="55144"/>
                  </a:lnTo>
                  <a:lnTo>
                    <a:pt x="336431" y="52308"/>
                  </a:lnTo>
                  <a:lnTo>
                    <a:pt x="447176" y="52308"/>
                  </a:lnTo>
                  <a:lnTo>
                    <a:pt x="442424" y="46663"/>
                  </a:lnTo>
                  <a:lnTo>
                    <a:pt x="407639" y="21644"/>
                  </a:lnTo>
                  <a:lnTo>
                    <a:pt x="368105" y="5845"/>
                  </a:lnTo>
                  <a:lnTo>
                    <a:pt x="325653" y="0"/>
                  </a:lnTo>
                  <a:close/>
                </a:path>
                <a:path w="762000" h="464185">
                  <a:moveTo>
                    <a:pt x="614210" y="128736"/>
                  </a:moveTo>
                  <a:lnTo>
                    <a:pt x="490715" y="128736"/>
                  </a:lnTo>
                  <a:lnTo>
                    <a:pt x="514776" y="129218"/>
                  </a:lnTo>
                  <a:lnTo>
                    <a:pt x="538049" y="135344"/>
                  </a:lnTo>
                  <a:lnTo>
                    <a:pt x="577453" y="163695"/>
                  </a:lnTo>
                  <a:lnTo>
                    <a:pt x="599259" y="206565"/>
                  </a:lnTo>
                  <a:lnTo>
                    <a:pt x="602195" y="230921"/>
                  </a:lnTo>
                  <a:lnTo>
                    <a:pt x="602195" y="256777"/>
                  </a:lnTo>
                  <a:lnTo>
                    <a:pt x="636019" y="256777"/>
                  </a:lnTo>
                  <a:lnTo>
                    <a:pt x="666066" y="264027"/>
                  </a:lnTo>
                  <a:lnTo>
                    <a:pt x="690164" y="281621"/>
                  </a:lnTo>
                  <a:lnTo>
                    <a:pt x="705905" y="306966"/>
                  </a:lnTo>
                  <a:lnTo>
                    <a:pt x="710879" y="337470"/>
                  </a:lnTo>
                  <a:lnTo>
                    <a:pt x="704175" y="366307"/>
                  </a:lnTo>
                  <a:lnTo>
                    <a:pt x="687843" y="389860"/>
                  </a:lnTo>
                  <a:lnTo>
                    <a:pt x="664107" y="405934"/>
                  </a:lnTo>
                  <a:lnTo>
                    <a:pt x="635190" y="412333"/>
                  </a:lnTo>
                  <a:lnTo>
                    <a:pt x="733322" y="412333"/>
                  </a:lnTo>
                  <a:lnTo>
                    <a:pt x="752750" y="382002"/>
                  </a:lnTo>
                  <a:lnTo>
                    <a:pt x="761739" y="331323"/>
                  </a:lnTo>
                  <a:lnTo>
                    <a:pt x="752588" y="286417"/>
                  </a:lnTo>
                  <a:lnTo>
                    <a:pt x="729221" y="248495"/>
                  </a:lnTo>
                  <a:lnTo>
                    <a:pt x="694414" y="220691"/>
                  </a:lnTo>
                  <a:lnTo>
                    <a:pt x="650941" y="206141"/>
                  </a:lnTo>
                  <a:lnTo>
                    <a:pt x="643125" y="176659"/>
                  </a:lnTo>
                  <a:lnTo>
                    <a:pt x="629884" y="149491"/>
                  </a:lnTo>
                  <a:lnTo>
                    <a:pt x="614210" y="128736"/>
                  </a:lnTo>
                  <a:close/>
                </a:path>
                <a:path w="762000" h="464185">
                  <a:moveTo>
                    <a:pt x="196724" y="206565"/>
                  </a:moveTo>
                  <a:lnTo>
                    <a:pt x="142136" y="206565"/>
                  </a:lnTo>
                  <a:lnTo>
                    <a:pt x="167294" y="207053"/>
                  </a:lnTo>
                  <a:lnTo>
                    <a:pt x="196724" y="211942"/>
                  </a:lnTo>
                  <a:lnTo>
                    <a:pt x="196724" y="206565"/>
                  </a:lnTo>
                  <a:close/>
                </a:path>
                <a:path w="762000" h="464185">
                  <a:moveTo>
                    <a:pt x="447176" y="52308"/>
                  </a:moveTo>
                  <a:lnTo>
                    <a:pt x="336431" y="52308"/>
                  </a:lnTo>
                  <a:lnTo>
                    <a:pt x="376527" y="63426"/>
                  </a:lnTo>
                  <a:lnTo>
                    <a:pt x="410825" y="86977"/>
                  </a:lnTo>
                  <a:lnTo>
                    <a:pt x="436061" y="121443"/>
                  </a:lnTo>
                  <a:lnTo>
                    <a:pt x="446092" y="141416"/>
                  </a:lnTo>
                  <a:lnTo>
                    <a:pt x="466900" y="134040"/>
                  </a:lnTo>
                  <a:lnTo>
                    <a:pt x="490715" y="128736"/>
                  </a:lnTo>
                  <a:lnTo>
                    <a:pt x="614210" y="128736"/>
                  </a:lnTo>
                  <a:lnTo>
                    <a:pt x="611669" y="125371"/>
                  </a:lnTo>
                  <a:lnTo>
                    <a:pt x="588931" y="105034"/>
                  </a:lnTo>
                  <a:lnTo>
                    <a:pt x="561769" y="89715"/>
                  </a:lnTo>
                  <a:lnTo>
                    <a:pt x="532361" y="80332"/>
                  </a:lnTo>
                  <a:lnTo>
                    <a:pt x="530843" y="80172"/>
                  </a:lnTo>
                  <a:lnTo>
                    <a:pt x="470631" y="80172"/>
                  </a:lnTo>
                  <a:lnTo>
                    <a:pt x="447176" y="52308"/>
                  </a:lnTo>
                  <a:close/>
                </a:path>
                <a:path w="762000" h="464185">
                  <a:moveTo>
                    <a:pt x="501663" y="77085"/>
                  </a:moveTo>
                  <a:lnTo>
                    <a:pt x="470631" y="80172"/>
                  </a:lnTo>
                  <a:lnTo>
                    <a:pt x="530843" y="80172"/>
                  </a:lnTo>
                  <a:lnTo>
                    <a:pt x="501663" y="7708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49805" y="4788407"/>
            <a:ext cx="44424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471C4"/>
                </a:solidFill>
                <a:latin typeface="Calibri"/>
                <a:cs typeface="Calibri"/>
                <a:hlinkClick r:id="rId5"/>
              </a:rPr>
              <a:t>https://github.com/xiaojie-qian/SpaceX-</a:t>
            </a:r>
            <a:r>
              <a:rPr sz="1800" dirty="0">
                <a:solidFill>
                  <a:srgbClr val="4471C4"/>
                </a:solidFill>
                <a:latin typeface="Calibri"/>
                <a:cs typeface="Calibri"/>
                <a:hlinkClick r:id="rId5"/>
              </a:rPr>
              <a:t>Falcon-</a:t>
            </a:r>
            <a:r>
              <a:rPr sz="1800" spc="-10" dirty="0">
                <a:solidFill>
                  <a:srgbClr val="4471C4"/>
                </a:solidFill>
                <a:latin typeface="Calibri"/>
                <a:cs typeface="Calibri"/>
              </a:rPr>
              <a:t>9-first-</a:t>
            </a:r>
            <a:r>
              <a:rPr sz="1800" spc="-25" dirty="0">
                <a:solidFill>
                  <a:srgbClr val="4471C4"/>
                </a:solidFill>
                <a:latin typeface="Calibri"/>
                <a:cs typeface="Calibri"/>
              </a:rPr>
              <a:t>stage-</a:t>
            </a:r>
            <a:r>
              <a:rPr sz="1800" dirty="0">
                <a:solidFill>
                  <a:srgbClr val="4471C4"/>
                </a:solidFill>
                <a:latin typeface="Calibri"/>
                <a:cs typeface="Calibri"/>
              </a:rPr>
              <a:t>Landing-</a:t>
            </a:r>
            <a:r>
              <a:rPr sz="1800" spc="-10" dirty="0">
                <a:solidFill>
                  <a:srgbClr val="4471C4"/>
                </a:solidFill>
                <a:latin typeface="Calibri"/>
                <a:cs typeface="Calibri"/>
              </a:rPr>
              <a:t>Prediction/blob/main/1.7%20SpaceX_Machine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4471C4"/>
                </a:solidFill>
                <a:latin typeface="Calibri"/>
                <a:cs typeface="Calibri"/>
              </a:rPr>
              <a:t>%20learning%20predictive%20analysis.ipynb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15</a:t>
            </a:fld>
            <a:endParaRPr spc="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1457325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5545" y="430530"/>
            <a:ext cx="4422648" cy="5494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60907" y="1639442"/>
            <a:ext cx="3016885" cy="451231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30"/>
              </a:spcBef>
            </a:pPr>
            <a:r>
              <a:rPr sz="2000" b="1" spc="-25" dirty="0">
                <a:solidFill>
                  <a:srgbClr val="4471C4"/>
                </a:solidFill>
                <a:latin typeface="Calibri"/>
                <a:cs typeface="Calibri"/>
              </a:rPr>
              <a:t>EDA</a:t>
            </a:r>
            <a:endParaRPr sz="2000">
              <a:latin typeface="Calibri"/>
              <a:cs typeface="Calibri"/>
            </a:endParaRPr>
          </a:p>
          <a:p>
            <a:pPr marL="376555" indent="-285750">
              <a:lnSpc>
                <a:spcPct val="100000"/>
              </a:lnSpc>
              <a:spcBef>
                <a:spcPts val="1220"/>
              </a:spcBef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KSC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LC-</a:t>
            </a:r>
            <a:r>
              <a:rPr sz="1800" dirty="0">
                <a:latin typeface="Calibri"/>
                <a:cs typeface="Calibri"/>
              </a:rPr>
              <a:t>39A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VAFB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SLC</a:t>
            </a:r>
            <a:endParaRPr sz="1800">
              <a:latin typeface="Calibri"/>
              <a:cs typeface="Calibri"/>
            </a:endParaRPr>
          </a:p>
          <a:p>
            <a:pPr marL="376555" marR="45910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4E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77%</a:t>
            </a:r>
            <a:endParaRPr sz="1800">
              <a:latin typeface="Calibri"/>
              <a:cs typeface="Calibri"/>
            </a:endParaRPr>
          </a:p>
          <a:p>
            <a:pPr marL="376555" marR="386080" indent="-285750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VAFB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SLC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 </a:t>
            </a:r>
            <a:r>
              <a:rPr sz="1800" dirty="0">
                <a:latin typeface="Calibri"/>
                <a:cs typeface="Calibri"/>
              </a:rPr>
              <a:t>payload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above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10000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kg</a:t>
            </a:r>
            <a:endParaRPr sz="1800">
              <a:latin typeface="Calibri"/>
              <a:cs typeface="Calibri"/>
            </a:endParaRPr>
          </a:p>
          <a:p>
            <a:pPr marL="376555" marR="172085" indent="-285750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orbit</a:t>
            </a:r>
            <a:r>
              <a:rPr sz="1800" spc="-25" dirty="0">
                <a:latin typeface="Calibri"/>
                <a:cs typeface="Calibri"/>
              </a:rPr>
              <a:t> the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appears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flights</a:t>
            </a:r>
            <a:endParaRPr sz="1800">
              <a:latin typeface="Calibri"/>
              <a:cs typeface="Calibri"/>
            </a:endParaRPr>
          </a:p>
          <a:p>
            <a:pPr marL="376555" marR="177800" indent="-285750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heavy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payloads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successful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positive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landing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are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0" dirty="0">
                <a:latin typeface="Calibri"/>
                <a:cs typeface="Calibri"/>
              </a:rPr>
              <a:t> Polar,LEO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ISS</a:t>
            </a:r>
            <a:endParaRPr sz="1800">
              <a:latin typeface="Calibri"/>
              <a:cs typeface="Calibri"/>
            </a:endParaRPr>
          </a:p>
          <a:p>
            <a:pPr marL="376555" marR="172720" indent="-285750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2013 </a:t>
            </a:r>
            <a:r>
              <a:rPr sz="1800" dirty="0">
                <a:latin typeface="Calibri"/>
                <a:cs typeface="Calibri"/>
              </a:rPr>
              <a:t>kept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till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2020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5919" y="1639442"/>
            <a:ext cx="3016885" cy="4466590"/>
          </a:xfrm>
          <a:prstGeom prst="rect">
            <a:avLst/>
          </a:prstGeom>
          <a:ln w="12700">
            <a:solidFill>
              <a:srgbClr val="AEABAB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166370" marR="1727835">
              <a:lnSpc>
                <a:spcPct val="100000"/>
              </a:lnSpc>
              <a:spcBef>
                <a:spcPts val="535"/>
              </a:spcBef>
            </a:pPr>
            <a:r>
              <a:rPr sz="2000" spc="-50" dirty="0">
                <a:solidFill>
                  <a:srgbClr val="7E7E7E"/>
                </a:solidFill>
                <a:latin typeface="Microsoft Sans Serif"/>
                <a:cs typeface="Microsoft Sans Serif"/>
              </a:rPr>
              <a:t>Interactive </a:t>
            </a:r>
            <a:r>
              <a:rPr sz="2000" spc="-10" dirty="0">
                <a:solidFill>
                  <a:srgbClr val="7E7E7E"/>
                </a:solidFill>
                <a:latin typeface="Microsoft Sans Serif"/>
                <a:cs typeface="Microsoft Sans Serif"/>
              </a:rPr>
              <a:t>analytics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9546" y="2498598"/>
            <a:ext cx="2917698" cy="31440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21777" y="1639442"/>
            <a:ext cx="3016885" cy="446659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180975" marR="1777364">
              <a:lnSpc>
                <a:spcPct val="100000"/>
              </a:lnSpc>
              <a:spcBef>
                <a:spcPts val="530"/>
              </a:spcBef>
            </a:pPr>
            <a:r>
              <a:rPr sz="2000" b="1" spc="-10" dirty="0">
                <a:solidFill>
                  <a:srgbClr val="EC7C30"/>
                </a:solidFill>
                <a:latin typeface="Calibri"/>
                <a:cs typeface="Calibri"/>
              </a:rPr>
              <a:t>Predictive analysis</a:t>
            </a:r>
            <a:endParaRPr sz="2000">
              <a:latin typeface="Calibri"/>
              <a:cs typeface="Calibri"/>
            </a:endParaRPr>
          </a:p>
          <a:p>
            <a:pPr marL="180975" marR="250190">
              <a:lnSpc>
                <a:spcPct val="100000"/>
              </a:lnSpc>
              <a:spcBef>
                <a:spcPts val="919"/>
              </a:spcBef>
            </a:pPr>
            <a:r>
              <a:rPr sz="1800" spc="-25" dirty="0">
                <a:latin typeface="Microsoft Sans Serif"/>
                <a:cs typeface="Microsoft Sans Serif"/>
              </a:rPr>
              <a:t>According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decision </a:t>
            </a:r>
            <a:r>
              <a:rPr sz="1800" dirty="0">
                <a:latin typeface="Microsoft Sans Serif"/>
                <a:cs typeface="Microsoft Sans Serif"/>
              </a:rPr>
              <a:t>tree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classifier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model,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 </a:t>
            </a:r>
            <a:r>
              <a:rPr sz="1800" spc="-10" dirty="0">
                <a:latin typeface="Microsoft Sans Serif"/>
                <a:cs typeface="Microsoft Sans Serif"/>
              </a:rPr>
              <a:t>predictive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model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tells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us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there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will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Microsoft Sans Serif"/>
                <a:cs typeface="Microsoft Sans Serif"/>
              </a:rPr>
              <a:t>4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ture </a:t>
            </a:r>
            <a:r>
              <a:rPr sz="1800" dirty="0">
                <a:latin typeface="Microsoft Sans Serif"/>
                <a:cs typeface="Microsoft Sans Serif"/>
              </a:rPr>
              <a:t>postive,</a:t>
            </a:r>
            <a:r>
              <a:rPr sz="1800" spc="44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Microsoft Sans Serif"/>
                <a:cs typeface="Microsoft Sans Serif"/>
              </a:rPr>
              <a:t>7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true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negative, </a:t>
            </a:r>
            <a:r>
              <a:rPr sz="1800" spc="80" dirty="0">
                <a:latin typeface="Microsoft Sans Serif"/>
                <a:cs typeface="Microsoft Sans Serif"/>
              </a:rPr>
              <a:t>5</a:t>
            </a:r>
            <a:r>
              <a:rPr sz="1800" spc="-40" dirty="0">
                <a:latin typeface="Microsoft Sans Serif"/>
                <a:cs typeface="Microsoft Sans Serif"/>
              </a:rPr>
              <a:t> false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postive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Microsoft Sans Serif"/>
                <a:cs typeface="Microsoft Sans Serif"/>
              </a:rPr>
              <a:t>2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55" dirty="0">
                <a:latin typeface="Microsoft Sans Serif"/>
                <a:cs typeface="Microsoft Sans Serif"/>
              </a:rPr>
              <a:t>false </a:t>
            </a:r>
            <a:r>
              <a:rPr sz="1800" spc="-25" dirty="0">
                <a:latin typeface="Microsoft Sans Serif"/>
                <a:cs typeface="Microsoft Sans Serif"/>
              </a:rPr>
              <a:t>negative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.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5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85" dirty="0">
                <a:latin typeface="Microsoft Sans Serif"/>
                <a:cs typeface="Microsoft Sans Serif"/>
              </a:rPr>
              <a:t>accuracy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of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mode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around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35" dirty="0">
                <a:latin typeface="Microsoft Sans Serif"/>
                <a:cs typeface="Microsoft Sans Serif"/>
              </a:rPr>
              <a:t>89%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best</a:t>
            </a:r>
            <a:r>
              <a:rPr sz="1800" spc="-10" dirty="0">
                <a:latin typeface="Microsoft Sans Serif"/>
                <a:cs typeface="Microsoft Sans Serif"/>
              </a:rPr>
              <a:t> parameters.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16</a:t>
            </a:fld>
            <a:endParaRPr spc="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813" y="2529839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418" y="0"/>
                </a:moveTo>
                <a:lnTo>
                  <a:pt x="0" y="0"/>
                </a:lnTo>
                <a:lnTo>
                  <a:pt x="0" y="369570"/>
                </a:lnTo>
                <a:lnTo>
                  <a:pt x="1058418" y="369570"/>
                </a:lnTo>
                <a:lnTo>
                  <a:pt x="1058418" y="0"/>
                </a:lnTo>
                <a:close/>
              </a:path>
            </a:pathLst>
          </a:custGeom>
          <a:solidFill>
            <a:srgbClr val="0947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808" y="2548635"/>
            <a:ext cx="87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6027420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Flight</a:t>
            </a:r>
            <a:r>
              <a:rPr spc="-110" dirty="0"/>
              <a:t> </a:t>
            </a:r>
            <a:r>
              <a:rPr spc="-95" dirty="0"/>
              <a:t>Number</a:t>
            </a:r>
            <a:r>
              <a:rPr spc="-114" dirty="0"/>
              <a:t> </a:t>
            </a:r>
            <a:r>
              <a:rPr spc="-70" dirty="0"/>
              <a:t>vs.</a:t>
            </a:r>
            <a:r>
              <a:rPr spc="-100" dirty="0"/>
              <a:t> </a:t>
            </a:r>
            <a:r>
              <a:rPr spc="-135" dirty="0"/>
              <a:t>Launch</a:t>
            </a:r>
            <a:r>
              <a:rPr spc="-110" dirty="0"/>
              <a:t> </a:t>
            </a:r>
            <a:r>
              <a:rPr spc="-50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843" y="1430155"/>
            <a:ext cx="9111234" cy="44096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18</a:t>
            </a:fld>
            <a:endParaRPr spc="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71290-4045-D8E3-B874-25F1CDFA8B7C}"/>
              </a:ext>
            </a:extLst>
          </p:cNvPr>
          <p:cNvSpPr txBox="1"/>
          <p:nvPr/>
        </p:nvSpPr>
        <p:spPr>
          <a:xfrm>
            <a:off x="9677400" y="1430155"/>
            <a:ext cx="22547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According to the plot above, it's possible to verify that the best launch site nowadays is CCAF5 SLC 40, where most of recent launches were successful.</a:t>
            </a:r>
          </a:p>
          <a:p>
            <a:r>
              <a:rPr lang="en-IN" dirty="0"/>
              <a:t>• In second place VAFB SLC 4E and third place KSC LC 39A.</a:t>
            </a:r>
          </a:p>
          <a:p>
            <a:r>
              <a:rPr lang="en-IN" dirty="0"/>
              <a:t>• It's also possible to see that the general success rate improved over 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473710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Payload</a:t>
            </a:r>
            <a:r>
              <a:rPr spc="-130" dirty="0"/>
              <a:t> </a:t>
            </a:r>
            <a:r>
              <a:rPr spc="-70" dirty="0"/>
              <a:t>vs.</a:t>
            </a:r>
            <a:r>
              <a:rPr spc="-125" dirty="0"/>
              <a:t> Launch</a:t>
            </a:r>
            <a:r>
              <a:rPr spc="-120" dirty="0"/>
              <a:t> </a:t>
            </a:r>
            <a:r>
              <a:rPr spc="-85" dirty="0"/>
              <a:t>Site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8150"/>
            <a:ext cx="2420874" cy="300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497925"/>
            <a:ext cx="9606534" cy="47335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19</a:t>
            </a:fld>
            <a:endParaRPr spc="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3A4958-0FFF-9FF1-DD35-714B99CBC899}"/>
              </a:ext>
            </a:extLst>
          </p:cNvPr>
          <p:cNvSpPr txBox="1"/>
          <p:nvPr/>
        </p:nvSpPr>
        <p:spPr>
          <a:xfrm>
            <a:off x="10229468" y="1371600"/>
            <a:ext cx="181013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Payloads over 9,000kg (about the weight Of a school bus) have excellent success</a:t>
            </a:r>
          </a:p>
          <a:p>
            <a:r>
              <a:rPr lang="en-IN" dirty="0"/>
              <a:t>Rate.</a:t>
            </a:r>
          </a:p>
          <a:p>
            <a:r>
              <a:rPr lang="en-IN" dirty="0"/>
              <a:t>• Payloads over 12,000kg seems to be possible only on CCAFS SLC 40 and KSC LC</a:t>
            </a:r>
          </a:p>
          <a:p>
            <a:r>
              <a:rPr lang="en-IN" dirty="0"/>
              <a:t>39A launch sites.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5543550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4" dirty="0"/>
              <a:t>Success</a:t>
            </a:r>
            <a:r>
              <a:rPr spc="5" dirty="0"/>
              <a:t> </a:t>
            </a:r>
            <a:r>
              <a:rPr spc="-165" dirty="0"/>
              <a:t>Rate</a:t>
            </a:r>
            <a:r>
              <a:rPr spc="-30" dirty="0"/>
              <a:t> </a:t>
            </a:r>
            <a:r>
              <a:rPr spc="-70" dirty="0"/>
              <a:t>vs.</a:t>
            </a:r>
            <a:r>
              <a:rPr spc="-10" dirty="0"/>
              <a:t> </a:t>
            </a:r>
            <a:r>
              <a:rPr dirty="0"/>
              <a:t>Orbit</a:t>
            </a:r>
            <a:r>
              <a:rPr spc="-15" dirty="0"/>
              <a:t> </a:t>
            </a:r>
            <a:r>
              <a:rPr spc="-145" dirty="0"/>
              <a:t>Type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870" y="1816863"/>
            <a:ext cx="8843010" cy="31005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34922" y="4994655"/>
            <a:ext cx="5147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-&gt;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L1,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GEO,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HEO,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SSO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highest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rate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20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3E08E6-8E2B-8D8C-9D4B-8B47D6086FED}"/>
              </a:ext>
            </a:extLst>
          </p:cNvPr>
          <p:cNvSpPr txBox="1"/>
          <p:nvPr/>
        </p:nvSpPr>
        <p:spPr>
          <a:xfrm>
            <a:off x="9709022" y="1447800"/>
            <a:ext cx="22543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biggest success rates happens to orbits:</a:t>
            </a:r>
          </a:p>
          <a:p>
            <a:r>
              <a:rPr lang="en-IN" dirty="0"/>
              <a:t>• ES-LI;</a:t>
            </a:r>
          </a:p>
          <a:p>
            <a:r>
              <a:rPr lang="en-IN" dirty="0"/>
              <a:t>• GEO;</a:t>
            </a:r>
          </a:p>
          <a:p>
            <a:r>
              <a:rPr lang="en-IN" dirty="0"/>
              <a:t>and</a:t>
            </a:r>
          </a:p>
          <a:p>
            <a:r>
              <a:rPr lang="en-IN" dirty="0"/>
              <a:t>• </a:t>
            </a:r>
            <a:r>
              <a:rPr lang="en-IN" dirty="0" err="1"/>
              <a:t>sso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Followed by:</a:t>
            </a:r>
          </a:p>
          <a:p>
            <a:r>
              <a:rPr lang="en-IN" dirty="0"/>
              <a:t>• VLEO (above 80%) and</a:t>
            </a:r>
          </a:p>
          <a:p>
            <a:r>
              <a:rPr lang="en-IN" dirty="0"/>
              <a:t>• LFO (above 70%).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5824220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Flight</a:t>
            </a:r>
            <a:r>
              <a:rPr spc="-80" dirty="0"/>
              <a:t> </a:t>
            </a:r>
            <a:r>
              <a:rPr spc="-95" dirty="0"/>
              <a:t>Number</a:t>
            </a:r>
            <a:r>
              <a:rPr spc="-85" dirty="0"/>
              <a:t> </a:t>
            </a:r>
            <a:r>
              <a:rPr spc="-70" dirty="0"/>
              <a:t>vs.</a:t>
            </a:r>
            <a:r>
              <a:rPr spc="-75" dirty="0"/>
              <a:t> </a:t>
            </a:r>
            <a:r>
              <a:rPr dirty="0"/>
              <a:t>Orbit</a:t>
            </a:r>
            <a:r>
              <a:rPr spc="-75" dirty="0"/>
              <a:t> </a:t>
            </a:r>
            <a:r>
              <a:rPr spc="-114" dirty="0"/>
              <a:t>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381" y="1455419"/>
            <a:ext cx="10694670" cy="43121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21</a:t>
            </a:fld>
            <a:endParaRPr spc="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60856-130E-CDD8-C146-605A1F7385DF}"/>
              </a:ext>
            </a:extLst>
          </p:cNvPr>
          <p:cNvSpPr txBox="1"/>
          <p:nvPr/>
        </p:nvSpPr>
        <p:spPr>
          <a:xfrm>
            <a:off x="8686800" y="3596258"/>
            <a:ext cx="33909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Apparently, success rate improved over time to all orbits;</a:t>
            </a:r>
          </a:p>
          <a:p>
            <a:r>
              <a:rPr lang="en-IN" dirty="0"/>
              <a:t>• VLEO orbit seems a new business opportunity, due to recent increase of its</a:t>
            </a:r>
          </a:p>
          <a:p>
            <a:r>
              <a:rPr lang="en-IN" dirty="0"/>
              <a:t>frequency.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4534535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4" dirty="0"/>
              <a:t>Payload</a:t>
            </a:r>
            <a:r>
              <a:rPr spc="-85" dirty="0"/>
              <a:t> </a:t>
            </a:r>
            <a:r>
              <a:rPr spc="-70" dirty="0"/>
              <a:t>vs.</a:t>
            </a:r>
            <a:r>
              <a:rPr spc="-80" dirty="0"/>
              <a:t> </a:t>
            </a:r>
            <a:r>
              <a:rPr dirty="0"/>
              <a:t>Orbit</a:t>
            </a:r>
            <a:r>
              <a:rPr spc="-75" dirty="0"/>
              <a:t> </a:t>
            </a:r>
            <a:r>
              <a:rPr spc="-145" dirty="0"/>
              <a:t>Type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0381" y="1694688"/>
            <a:ext cx="10769346" cy="41925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22</a:t>
            </a:fld>
            <a:endParaRPr spc="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2596BD-F13C-5F35-364A-BB10B42814EB}"/>
              </a:ext>
            </a:extLst>
          </p:cNvPr>
          <p:cNvSpPr txBox="1"/>
          <p:nvPr/>
        </p:nvSpPr>
        <p:spPr>
          <a:xfrm>
            <a:off x="8610600" y="1828800"/>
            <a:ext cx="3429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Apparently, there is no relation between payload and success rate to orbit GTO.</a:t>
            </a:r>
          </a:p>
          <a:p>
            <a:endParaRPr lang="en-IN" dirty="0"/>
          </a:p>
          <a:p>
            <a:r>
              <a:rPr lang="en-IN" dirty="0"/>
              <a:t>• ISS orbit has the widest range Of payload and a good rate Of success.</a:t>
            </a:r>
          </a:p>
          <a:p>
            <a:endParaRPr lang="en-IN" dirty="0"/>
          </a:p>
          <a:p>
            <a:r>
              <a:rPr lang="en-IN" dirty="0"/>
              <a:t>• There are few launches to the orbits SO and GEO.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580009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Launch</a:t>
            </a:r>
            <a:r>
              <a:rPr spc="-60" dirty="0"/>
              <a:t> </a:t>
            </a:r>
            <a:r>
              <a:rPr spc="-254" dirty="0"/>
              <a:t>Success</a:t>
            </a:r>
            <a:r>
              <a:rPr spc="5" dirty="0"/>
              <a:t> </a:t>
            </a:r>
            <a:r>
              <a:rPr spc="-114" dirty="0"/>
              <a:t>Yearly</a:t>
            </a:r>
            <a:r>
              <a:rPr spc="-10" dirty="0"/>
              <a:t> </a:t>
            </a:r>
            <a:r>
              <a:rPr spc="-110" dirty="0"/>
              <a:t>Trend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600200"/>
            <a:ext cx="10354056" cy="422376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23</a:t>
            </a:fld>
            <a:endParaRPr spc="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9FB7A-841A-0BC5-8511-EB3F3870A0B8}"/>
              </a:ext>
            </a:extLst>
          </p:cNvPr>
          <p:cNvSpPr txBox="1"/>
          <p:nvPr/>
        </p:nvSpPr>
        <p:spPr>
          <a:xfrm>
            <a:off x="9745598" y="2057400"/>
            <a:ext cx="229400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Success rate started increasing in 2013 and</a:t>
            </a:r>
          </a:p>
          <a:p>
            <a:r>
              <a:rPr lang="en-IN" dirty="0"/>
              <a:t>kept until 2020. </a:t>
            </a:r>
          </a:p>
          <a:p>
            <a:endParaRPr lang="en-IN" dirty="0"/>
          </a:p>
          <a:p>
            <a:r>
              <a:rPr lang="en-IN" dirty="0"/>
              <a:t>• It seems that the first three years were a</a:t>
            </a:r>
          </a:p>
          <a:p>
            <a:r>
              <a:rPr lang="en-IN" dirty="0"/>
              <a:t>period of adjusts and improvement of</a:t>
            </a:r>
          </a:p>
          <a:p>
            <a:r>
              <a:rPr lang="en-IN" dirty="0"/>
              <a:t>technology.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448945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75" dirty="0"/>
              <a:t> </a:t>
            </a:r>
            <a:r>
              <a:rPr spc="-135" dirty="0"/>
              <a:t>Launch</a:t>
            </a:r>
            <a:r>
              <a:rPr spc="-70" dirty="0"/>
              <a:t> </a:t>
            </a:r>
            <a:r>
              <a:rPr spc="-60" dirty="0"/>
              <a:t>Site</a:t>
            </a:r>
            <a:r>
              <a:rPr spc="-70" dirty="0"/>
              <a:t> </a:t>
            </a:r>
            <a:r>
              <a:rPr spc="-190" dirty="0"/>
              <a:t>Names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2133600"/>
            <a:ext cx="7354824" cy="29184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19200" y="5265292"/>
            <a:ext cx="80010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latin typeface="Calibri"/>
                <a:cs typeface="Calibri"/>
              </a:rPr>
              <a:t> They are obtained by selecting unique occurrences of "</a:t>
            </a:r>
            <a:r>
              <a:rPr lang="en-IN" sz="1800" dirty="0" err="1">
                <a:latin typeface="Calibri"/>
                <a:cs typeface="Calibri"/>
              </a:rPr>
              <a:t>launch_site</a:t>
            </a:r>
            <a:r>
              <a:rPr lang="en-IN" sz="1800" dirty="0">
                <a:latin typeface="Calibri"/>
                <a:cs typeface="Calibri"/>
              </a:rPr>
              <a:t>" values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latin typeface="Calibri"/>
                <a:cs typeface="Calibri"/>
              </a:rPr>
              <a:t>from the dataset.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24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F26C5-732D-8377-BC02-2C7C71D46067}"/>
              </a:ext>
            </a:extLst>
          </p:cNvPr>
          <p:cNvSpPr txBox="1"/>
          <p:nvPr/>
        </p:nvSpPr>
        <p:spPr>
          <a:xfrm>
            <a:off x="1371600" y="155027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latin typeface="Calibri"/>
                <a:cs typeface="Calibri"/>
              </a:rPr>
              <a:t>According to data, there are four launch sites: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Launch </a:t>
            </a:r>
            <a:r>
              <a:rPr spc="-50" dirty="0"/>
              <a:t>Site</a:t>
            </a:r>
            <a:r>
              <a:rPr spc="-70" dirty="0"/>
              <a:t> </a:t>
            </a:r>
            <a:r>
              <a:rPr spc="-210" dirty="0"/>
              <a:t>Names</a:t>
            </a:r>
            <a:r>
              <a:rPr spc="-35" dirty="0"/>
              <a:t> </a:t>
            </a:r>
            <a:r>
              <a:rPr spc="-25" dirty="0"/>
              <a:t>Begin</a:t>
            </a:r>
            <a:r>
              <a:rPr spc="-65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spc="-210" dirty="0"/>
              <a:t>'CCA'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1873591"/>
            <a:ext cx="7569707" cy="435787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25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FF6DA-9127-A425-209B-720F0B0BFEC0}"/>
              </a:ext>
            </a:extLst>
          </p:cNvPr>
          <p:cNvSpPr txBox="1"/>
          <p:nvPr/>
        </p:nvSpPr>
        <p:spPr>
          <a:xfrm>
            <a:off x="1112520" y="137160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 records where launch sites begin with 'CCA'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8E3C4-DE4F-B75D-57C7-AFA8D0B1EE75}"/>
              </a:ext>
            </a:extLst>
          </p:cNvPr>
          <p:cNvSpPr txBox="1"/>
          <p:nvPr/>
        </p:nvSpPr>
        <p:spPr>
          <a:xfrm>
            <a:off x="9191370" y="4336682"/>
            <a:ext cx="1447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Here we can see five samples of Cape Canaveral launches.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3884929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Total</a:t>
            </a:r>
            <a:r>
              <a:rPr spc="-145" dirty="0"/>
              <a:t> </a:t>
            </a:r>
            <a:r>
              <a:rPr spc="-120" dirty="0"/>
              <a:t>Payload</a:t>
            </a:r>
            <a:r>
              <a:rPr spc="-125" dirty="0"/>
              <a:t> </a:t>
            </a:r>
            <a:r>
              <a:rPr spc="-185" dirty="0"/>
              <a:t>Mass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2015110"/>
            <a:ext cx="10779252" cy="182651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26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793004-F59D-DE27-5D0C-E61D802BB083}"/>
              </a:ext>
            </a:extLst>
          </p:cNvPr>
          <p:cNvSpPr txBox="1"/>
          <p:nvPr/>
        </p:nvSpPr>
        <p:spPr>
          <a:xfrm>
            <a:off x="1295400" y="155472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Total payload carried by boosters from NASA: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D9E9A4-0228-CA8F-062B-20803DCFBA7E}"/>
              </a:ext>
            </a:extLst>
          </p:cNvPr>
          <p:cNvSpPr txBox="1"/>
          <p:nvPr/>
        </p:nvSpPr>
        <p:spPr>
          <a:xfrm>
            <a:off x="1316736" y="4201885"/>
            <a:ext cx="91226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Total payload calculated above, by summing all payloads whose codes</a:t>
            </a:r>
          </a:p>
          <a:p>
            <a:r>
              <a:rPr lang="en-IN" dirty="0"/>
              <a:t>contain 'CRS', which corresponds to NASA.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Average</a:t>
            </a:r>
            <a:r>
              <a:rPr spc="-55" dirty="0"/>
              <a:t> </a:t>
            </a:r>
            <a:r>
              <a:rPr spc="-125" dirty="0"/>
              <a:t>Payload</a:t>
            </a:r>
            <a:r>
              <a:rPr spc="-65" dirty="0"/>
              <a:t> </a:t>
            </a:r>
            <a:r>
              <a:rPr spc="-200" dirty="0"/>
              <a:t>Mass</a:t>
            </a:r>
            <a:r>
              <a:rPr spc="-45" dirty="0"/>
              <a:t> </a:t>
            </a:r>
            <a:r>
              <a:rPr dirty="0"/>
              <a:t>by</a:t>
            </a:r>
            <a:r>
              <a:rPr spc="-50" dirty="0"/>
              <a:t> </a:t>
            </a:r>
            <a:r>
              <a:rPr dirty="0"/>
              <a:t>F9</a:t>
            </a:r>
            <a:r>
              <a:rPr spc="-50" dirty="0"/>
              <a:t> </a:t>
            </a:r>
            <a:r>
              <a:rPr spc="-20" dirty="0"/>
              <a:t>v1.1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2057400"/>
            <a:ext cx="10216134" cy="18166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27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2B028E-67F9-65CF-3246-6DF5E1CB1D18}"/>
              </a:ext>
            </a:extLst>
          </p:cNvPr>
          <p:cNvSpPr txBox="1"/>
          <p:nvPr/>
        </p:nvSpPr>
        <p:spPr>
          <a:xfrm>
            <a:off x="1008888" y="4133496"/>
            <a:ext cx="838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Filtering data by the booster version above and calculating the average</a:t>
            </a:r>
          </a:p>
          <a:p>
            <a:r>
              <a:rPr lang="en-IN" dirty="0"/>
              <a:t>payload mass we obtained the value of 2,928 kg.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6C0CDC-E2FA-A04B-D4FB-CCC204022100}"/>
              </a:ext>
            </a:extLst>
          </p:cNvPr>
          <p:cNvSpPr txBox="1"/>
          <p:nvPr/>
        </p:nvSpPr>
        <p:spPr>
          <a:xfrm>
            <a:off x="990600" y="1401148"/>
            <a:ext cx="701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Average payload mass carried by booster version F9 </a:t>
            </a:r>
            <a:r>
              <a:rPr lang="en-IN" dirty="0" err="1"/>
              <a:t>vl.</a:t>
            </a:r>
            <a:r>
              <a:rPr lang="en-IN" dirty="0"/>
              <a:t> 1 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7555865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First</a:t>
            </a:r>
            <a:r>
              <a:rPr spc="-185" dirty="0"/>
              <a:t> </a:t>
            </a:r>
            <a:r>
              <a:rPr spc="-175" dirty="0"/>
              <a:t>Successful</a:t>
            </a:r>
            <a:r>
              <a:rPr spc="-70" dirty="0"/>
              <a:t> </a:t>
            </a:r>
            <a:r>
              <a:rPr spc="-80" dirty="0"/>
              <a:t>Ground</a:t>
            </a:r>
            <a:r>
              <a:rPr spc="-120" dirty="0"/>
              <a:t> </a:t>
            </a:r>
            <a:r>
              <a:rPr spc="-45" dirty="0"/>
              <a:t>Landing</a:t>
            </a:r>
            <a:r>
              <a:rPr spc="-125" dirty="0"/>
              <a:t> </a:t>
            </a:r>
            <a:r>
              <a:rPr spc="-30" dirty="0"/>
              <a:t>Date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696" y="1948949"/>
            <a:ext cx="10831830" cy="190118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28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DECA00-ADF3-A852-1DEC-CFE5496EAAFB}"/>
              </a:ext>
            </a:extLst>
          </p:cNvPr>
          <p:cNvSpPr txBox="1"/>
          <p:nvPr/>
        </p:nvSpPr>
        <p:spPr>
          <a:xfrm>
            <a:off x="1021080" y="4144238"/>
            <a:ext cx="990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By filtering data by successful landing outcome on ground pad and getting</a:t>
            </a:r>
          </a:p>
          <a:p>
            <a:r>
              <a:rPr lang="en-IN" dirty="0"/>
              <a:t>the minimum value for date it's possible to identify the first occurrence, that</a:t>
            </a:r>
          </a:p>
          <a:p>
            <a:r>
              <a:rPr lang="en-IN" dirty="0"/>
              <a:t>happened on 12/22/2015.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2E3D4-61B5-D217-6ADD-02D527F6482A}"/>
              </a:ext>
            </a:extLst>
          </p:cNvPr>
          <p:cNvSpPr txBox="1"/>
          <p:nvPr/>
        </p:nvSpPr>
        <p:spPr>
          <a:xfrm>
            <a:off x="996696" y="15460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First successful landing outcome on ground pad: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14" dirty="0"/>
              <a:t>Successful</a:t>
            </a:r>
            <a:r>
              <a:rPr sz="2500" spc="-50" dirty="0"/>
              <a:t> </a:t>
            </a:r>
            <a:r>
              <a:rPr sz="2500" spc="-10" dirty="0"/>
              <a:t>Drone</a:t>
            </a:r>
            <a:r>
              <a:rPr sz="2500" spc="-65" dirty="0"/>
              <a:t> </a:t>
            </a:r>
            <a:r>
              <a:rPr sz="2500" spc="-40" dirty="0"/>
              <a:t>Ship</a:t>
            </a:r>
            <a:r>
              <a:rPr sz="2500" spc="-50" dirty="0"/>
              <a:t> </a:t>
            </a:r>
            <a:r>
              <a:rPr sz="2500" spc="-25" dirty="0"/>
              <a:t>Landing</a:t>
            </a:r>
            <a:r>
              <a:rPr sz="2500" spc="-50" dirty="0"/>
              <a:t> </a:t>
            </a:r>
            <a:r>
              <a:rPr sz="2500" dirty="0"/>
              <a:t>with</a:t>
            </a:r>
            <a:r>
              <a:rPr sz="2500" spc="-45" dirty="0"/>
              <a:t> </a:t>
            </a:r>
            <a:r>
              <a:rPr sz="2500" spc="-80" dirty="0"/>
              <a:t>Payload</a:t>
            </a:r>
            <a:r>
              <a:rPr sz="2500" spc="-50" dirty="0"/>
              <a:t> </a:t>
            </a:r>
            <a:r>
              <a:rPr sz="2500" spc="-30" dirty="0"/>
              <a:t>between</a:t>
            </a:r>
            <a:r>
              <a:rPr sz="2500" spc="-60" dirty="0"/>
              <a:t> </a:t>
            </a:r>
            <a:r>
              <a:rPr sz="2500" spc="110" dirty="0"/>
              <a:t>4000</a:t>
            </a:r>
            <a:r>
              <a:rPr sz="2500" spc="-45" dirty="0"/>
              <a:t> </a:t>
            </a:r>
            <a:r>
              <a:rPr sz="2500" dirty="0"/>
              <a:t>and</a:t>
            </a:r>
            <a:r>
              <a:rPr sz="2500" spc="-50" dirty="0"/>
              <a:t> </a:t>
            </a:r>
            <a:r>
              <a:rPr sz="2500" spc="90" dirty="0"/>
              <a:t>6000</a:t>
            </a:r>
            <a:endParaRPr sz="25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867" y="2072311"/>
            <a:ext cx="9561575" cy="318744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29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7C2C1-3BA4-FC53-56FA-4945B34EE377}"/>
              </a:ext>
            </a:extLst>
          </p:cNvPr>
          <p:cNvSpPr txBox="1"/>
          <p:nvPr/>
        </p:nvSpPr>
        <p:spPr>
          <a:xfrm>
            <a:off x="848866" y="5380834"/>
            <a:ext cx="94381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Selecting distinct booster versions according to the filters above, these 4 are</a:t>
            </a:r>
          </a:p>
          <a:p>
            <a:r>
              <a:rPr lang="en-IN" dirty="0"/>
              <a:t>the result.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A3337-BF1C-379E-A12C-EC61EFB70B21}"/>
              </a:ext>
            </a:extLst>
          </p:cNvPr>
          <p:cNvSpPr txBox="1"/>
          <p:nvPr/>
        </p:nvSpPr>
        <p:spPr>
          <a:xfrm>
            <a:off x="848867" y="1392452"/>
            <a:ext cx="10656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Boosters which have successfully landed on drone ship and had payload mass</a:t>
            </a:r>
          </a:p>
          <a:p>
            <a:r>
              <a:rPr lang="en-IN" dirty="0"/>
              <a:t>greater than 4000 but less than 6000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30" dirty="0"/>
              <a:t>Total</a:t>
            </a:r>
            <a:r>
              <a:rPr sz="3100" spc="-125" dirty="0"/>
              <a:t> </a:t>
            </a:r>
            <a:r>
              <a:rPr sz="3100" spc="-80" dirty="0"/>
              <a:t>Number</a:t>
            </a:r>
            <a:r>
              <a:rPr sz="3100" spc="-110" dirty="0"/>
              <a:t> </a:t>
            </a:r>
            <a:r>
              <a:rPr sz="3100" dirty="0"/>
              <a:t>of</a:t>
            </a:r>
            <a:r>
              <a:rPr sz="3100" spc="-105" dirty="0"/>
              <a:t> </a:t>
            </a:r>
            <a:r>
              <a:rPr sz="3100" spc="-140" dirty="0"/>
              <a:t>Successful</a:t>
            </a:r>
            <a:r>
              <a:rPr sz="3100" spc="-70" dirty="0"/>
              <a:t> </a:t>
            </a:r>
            <a:r>
              <a:rPr sz="3100" dirty="0"/>
              <a:t>and</a:t>
            </a:r>
            <a:r>
              <a:rPr sz="3100" spc="-100" dirty="0"/>
              <a:t> </a:t>
            </a:r>
            <a:r>
              <a:rPr sz="3100" spc="-55" dirty="0"/>
              <a:t>Failure</a:t>
            </a:r>
            <a:r>
              <a:rPr sz="3100" spc="-75" dirty="0"/>
              <a:t> </a:t>
            </a:r>
            <a:r>
              <a:rPr sz="3100" spc="-50" dirty="0"/>
              <a:t>Mission</a:t>
            </a:r>
            <a:r>
              <a:rPr sz="3100" spc="-90" dirty="0"/>
              <a:t> </a:t>
            </a:r>
            <a:r>
              <a:rPr sz="3100" spc="-60" dirty="0"/>
              <a:t>Outcomes</a:t>
            </a:r>
            <a:endParaRPr sz="31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9723" y="1889883"/>
            <a:ext cx="9323832" cy="31287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30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96A67-9907-8CC2-442B-388486D5C118}"/>
              </a:ext>
            </a:extLst>
          </p:cNvPr>
          <p:cNvSpPr txBox="1"/>
          <p:nvPr/>
        </p:nvSpPr>
        <p:spPr>
          <a:xfrm>
            <a:off x="870203" y="5179870"/>
            <a:ext cx="9919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Grouping mission outcomes and counting records for each group led us to</a:t>
            </a:r>
          </a:p>
          <a:p>
            <a:r>
              <a:rPr lang="en-IN" dirty="0"/>
              <a:t>the summary above.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CF4CC0-09DF-FAF9-C5E6-060008EF5CF6}"/>
              </a:ext>
            </a:extLst>
          </p:cNvPr>
          <p:cNvSpPr txBox="1"/>
          <p:nvPr/>
        </p:nvSpPr>
        <p:spPr>
          <a:xfrm>
            <a:off x="839723" y="1520551"/>
            <a:ext cx="8197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Number of successful and failure mission outcomes: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Boosters</a:t>
            </a:r>
            <a:r>
              <a:rPr spc="-160" dirty="0"/>
              <a:t> </a:t>
            </a:r>
            <a:r>
              <a:rPr spc="-85" dirty="0"/>
              <a:t>Carried</a:t>
            </a:r>
            <a:r>
              <a:rPr spc="-125" dirty="0"/>
              <a:t> </a:t>
            </a:r>
            <a:r>
              <a:rPr spc="-135" dirty="0"/>
              <a:t>Maximum</a:t>
            </a:r>
            <a:r>
              <a:rPr spc="-110" dirty="0"/>
              <a:t> </a:t>
            </a:r>
            <a:r>
              <a:rPr spc="-130" dirty="0"/>
              <a:t>Payload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6526" y="1930741"/>
            <a:ext cx="8395716" cy="430072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31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6DA49-6054-EB87-AC84-5C5F6E20BC1B}"/>
              </a:ext>
            </a:extLst>
          </p:cNvPr>
          <p:cNvSpPr txBox="1"/>
          <p:nvPr/>
        </p:nvSpPr>
        <p:spPr>
          <a:xfrm>
            <a:off x="9542685" y="3962400"/>
            <a:ext cx="24510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These are the boosters which have carried the maximum payload mass</a:t>
            </a:r>
          </a:p>
          <a:p>
            <a:r>
              <a:rPr lang="en-IN" dirty="0"/>
              <a:t>registered in the dataset.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2D8EBD-4FC5-811F-E109-8AE38DF5F98C}"/>
              </a:ext>
            </a:extLst>
          </p:cNvPr>
          <p:cNvSpPr txBox="1"/>
          <p:nvPr/>
        </p:nvSpPr>
        <p:spPr>
          <a:xfrm>
            <a:off x="833627" y="141843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Boosters which have carried the maximum payload mass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447167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2015</a:t>
            </a:r>
            <a:r>
              <a:rPr spc="20" dirty="0"/>
              <a:t> </a:t>
            </a:r>
            <a:r>
              <a:rPr spc="-125" dirty="0"/>
              <a:t>Launch</a:t>
            </a:r>
            <a:r>
              <a:rPr spc="15" dirty="0"/>
              <a:t> </a:t>
            </a:r>
            <a:r>
              <a:rPr spc="-160" dirty="0"/>
              <a:t>Records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410" y="2077493"/>
            <a:ext cx="10264140" cy="286435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32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9F151B-9805-9A31-C916-DDCA2B9AF175}"/>
              </a:ext>
            </a:extLst>
          </p:cNvPr>
          <p:cNvSpPr txBox="1"/>
          <p:nvPr/>
        </p:nvSpPr>
        <p:spPr>
          <a:xfrm>
            <a:off x="957834" y="521885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list above has the only two occurrences.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1C4567-0046-CE76-7722-46963883F6C7}"/>
              </a:ext>
            </a:extLst>
          </p:cNvPr>
          <p:cNvSpPr txBox="1"/>
          <p:nvPr/>
        </p:nvSpPr>
        <p:spPr>
          <a:xfrm>
            <a:off x="957834" y="1431162"/>
            <a:ext cx="9862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Failed landing outcomes in drone ship, their booster versions, and launch site</a:t>
            </a:r>
          </a:p>
          <a:p>
            <a:r>
              <a:rPr lang="en-IN" dirty="0"/>
              <a:t>names for in year 2015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5" dirty="0"/>
              <a:t>Rank</a:t>
            </a:r>
            <a:r>
              <a:rPr sz="2800" spc="-35" dirty="0"/>
              <a:t> </a:t>
            </a:r>
            <a:r>
              <a:rPr sz="2800" spc="-40" dirty="0"/>
              <a:t>Landing</a:t>
            </a:r>
            <a:r>
              <a:rPr sz="2800" spc="-50" dirty="0"/>
              <a:t> </a:t>
            </a:r>
            <a:r>
              <a:rPr sz="2800" spc="-90" dirty="0"/>
              <a:t>Outcomes</a:t>
            </a:r>
            <a:r>
              <a:rPr sz="2800" spc="-60" dirty="0"/>
              <a:t> </a:t>
            </a:r>
            <a:r>
              <a:rPr sz="2800" spc="-90" dirty="0"/>
              <a:t>Between</a:t>
            </a:r>
            <a:r>
              <a:rPr sz="2800" spc="-55" dirty="0"/>
              <a:t> </a:t>
            </a:r>
            <a:r>
              <a:rPr sz="2800" spc="95" dirty="0"/>
              <a:t>2010-</a:t>
            </a:r>
            <a:r>
              <a:rPr sz="2800" spc="75" dirty="0"/>
              <a:t>06-</a:t>
            </a:r>
            <a:r>
              <a:rPr sz="2800" spc="125" dirty="0"/>
              <a:t>04</a:t>
            </a:r>
            <a:r>
              <a:rPr sz="2800" spc="-65" dirty="0"/>
              <a:t> </a:t>
            </a:r>
            <a:r>
              <a:rPr sz="2800" dirty="0"/>
              <a:t>and</a:t>
            </a:r>
            <a:r>
              <a:rPr sz="2800" spc="-40" dirty="0"/>
              <a:t> </a:t>
            </a:r>
            <a:r>
              <a:rPr sz="2800" spc="95" dirty="0"/>
              <a:t>2017-</a:t>
            </a:r>
            <a:r>
              <a:rPr sz="2800" spc="70" dirty="0"/>
              <a:t>03-</a:t>
            </a:r>
            <a:r>
              <a:rPr sz="2800" spc="95" dirty="0"/>
              <a:t>20</a:t>
            </a:r>
            <a:endParaRPr sz="28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1914693"/>
            <a:ext cx="10376154" cy="344881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33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0F5035-60C1-D991-E657-D2EE3F544598}"/>
              </a:ext>
            </a:extLst>
          </p:cNvPr>
          <p:cNvSpPr txBox="1"/>
          <p:nvPr/>
        </p:nvSpPr>
        <p:spPr>
          <a:xfrm>
            <a:off x="990600" y="1494496"/>
            <a:ext cx="10376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Ranking of all landing outcomes between the date 2010-06-04 and 2017- 03-20: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07BB17-BE7C-52CF-543F-0392071CCE23}"/>
              </a:ext>
            </a:extLst>
          </p:cNvPr>
          <p:cNvSpPr txBox="1"/>
          <p:nvPr/>
        </p:nvSpPr>
        <p:spPr>
          <a:xfrm>
            <a:off x="1018032" y="5469061"/>
            <a:ext cx="8735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view Of data alerts us that "NO attempt" must be taken in account.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7239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813" y="2529839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418" y="0"/>
                </a:moveTo>
                <a:lnTo>
                  <a:pt x="0" y="0"/>
                </a:lnTo>
                <a:lnTo>
                  <a:pt x="0" y="369570"/>
                </a:lnTo>
                <a:lnTo>
                  <a:pt x="1058418" y="369570"/>
                </a:lnTo>
                <a:lnTo>
                  <a:pt x="1058418" y="0"/>
                </a:lnTo>
                <a:close/>
              </a:path>
            </a:pathLst>
          </a:custGeom>
          <a:solidFill>
            <a:srgbClr val="0947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808" y="2548635"/>
            <a:ext cx="87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3662679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&lt;All</a:t>
            </a:r>
            <a:r>
              <a:rPr spc="-20" dirty="0"/>
              <a:t> </a:t>
            </a:r>
            <a:r>
              <a:rPr spc="-75" dirty="0"/>
              <a:t>launch</a:t>
            </a:r>
            <a:r>
              <a:rPr spc="-5" dirty="0"/>
              <a:t> </a:t>
            </a:r>
            <a:r>
              <a:rPr spc="-10" dirty="0"/>
              <a:t>sites&gt;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218" y="1447800"/>
            <a:ext cx="7700772" cy="517626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35</a:t>
            </a:fld>
            <a:endParaRPr spc="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38C03-9404-165C-A365-5308CB5F4E64}"/>
              </a:ext>
            </a:extLst>
          </p:cNvPr>
          <p:cNvSpPr txBox="1"/>
          <p:nvPr/>
        </p:nvSpPr>
        <p:spPr>
          <a:xfrm>
            <a:off x="8381999" y="2209800"/>
            <a:ext cx="3731514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Launch sites are near sea, probably by safety, but not too far from roads and</a:t>
            </a:r>
          </a:p>
          <a:p>
            <a:pPr>
              <a:lnSpc>
                <a:spcPct val="150000"/>
              </a:lnSpc>
            </a:pPr>
            <a:r>
              <a:rPr lang="en-IN" dirty="0"/>
              <a:t>railroads.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Launch</a:t>
            </a:r>
            <a:r>
              <a:rPr spc="-100" dirty="0"/>
              <a:t> </a:t>
            </a:r>
            <a:r>
              <a:rPr spc="-55" dirty="0"/>
              <a:t>outcome</a:t>
            </a:r>
            <a:r>
              <a:rPr spc="-8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different</a:t>
            </a:r>
            <a:r>
              <a:rPr spc="-95" dirty="0"/>
              <a:t> </a:t>
            </a:r>
            <a:r>
              <a:rPr spc="-20" dirty="0"/>
              <a:t>site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027" y="1469897"/>
            <a:ext cx="8242554" cy="48493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48800" y="1561432"/>
            <a:ext cx="1965960" cy="1206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298450" algn="l"/>
              </a:tabLst>
            </a:pPr>
            <a:r>
              <a:rPr lang="en-IN" sz="1800" dirty="0">
                <a:latin typeface="Microsoft Sans Serif"/>
                <a:cs typeface="Microsoft Sans Serif"/>
              </a:rPr>
              <a:t>Example Of KSC LC-39A launch site launch outcomes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36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8BED60-C30B-1AE0-B0C8-BBF0F5D6CE83}"/>
              </a:ext>
            </a:extLst>
          </p:cNvPr>
          <p:cNvSpPr txBox="1"/>
          <p:nvPr/>
        </p:nvSpPr>
        <p:spPr>
          <a:xfrm>
            <a:off x="9435846" y="2865125"/>
            <a:ext cx="19789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Green markers indicate successful and red ones indicate failure.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654558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The</a:t>
            </a:r>
            <a:r>
              <a:rPr spc="10" dirty="0"/>
              <a:t> </a:t>
            </a:r>
            <a:r>
              <a:rPr dirty="0"/>
              <a:t>proximity</a:t>
            </a:r>
            <a:r>
              <a:rPr spc="-5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85" dirty="0"/>
              <a:t>launch</a:t>
            </a:r>
            <a:r>
              <a:rPr spc="-15" dirty="0"/>
              <a:t> </a:t>
            </a:r>
            <a:r>
              <a:rPr spc="-45" dirty="0"/>
              <a:t>sites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4483" y="1509522"/>
            <a:ext cx="7959852" cy="48097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64178" y="1676400"/>
            <a:ext cx="2823021" cy="2037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297815" algn="l"/>
              </a:tabLst>
            </a:pPr>
            <a:r>
              <a:rPr lang="en-IN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Launch site KSC LC-39A has good logistics aspects, being near railroad and road and relatively far from inhabited areas.</a:t>
            </a:r>
            <a:endParaRPr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37</a:t>
            </a:fld>
            <a:endParaRPr spc="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813" y="2529839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418" y="0"/>
                </a:moveTo>
                <a:lnTo>
                  <a:pt x="0" y="0"/>
                </a:lnTo>
                <a:lnTo>
                  <a:pt x="0" y="369570"/>
                </a:lnTo>
                <a:lnTo>
                  <a:pt x="1058418" y="369570"/>
                </a:lnTo>
                <a:lnTo>
                  <a:pt x="1058418" y="0"/>
                </a:lnTo>
                <a:close/>
              </a:path>
            </a:pathLst>
          </a:custGeom>
          <a:solidFill>
            <a:srgbClr val="0947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808" y="2548635"/>
            <a:ext cx="87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5"/>
            <a:ext cx="2832100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All</a:t>
            </a:r>
            <a:r>
              <a:rPr spc="-35" dirty="0"/>
              <a:t> </a:t>
            </a:r>
            <a:r>
              <a:rPr dirty="0"/>
              <a:t>site</a:t>
            </a:r>
            <a:r>
              <a:rPr spc="-25" dirty="0"/>
              <a:t> </a:t>
            </a:r>
            <a:r>
              <a:rPr spc="-110" dirty="0"/>
              <a:t>launch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559" y="1749551"/>
            <a:ext cx="8281416" cy="41940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44000" y="1617863"/>
            <a:ext cx="2568957" cy="1451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815" indent="-285115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Calibri"/>
                <a:cs typeface="Calibri"/>
              </a:rPr>
              <a:t>KSC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LC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39A: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41.7%</a:t>
            </a:r>
            <a:endParaRPr sz="1600" dirty="0">
              <a:latin typeface="Calibri"/>
              <a:cs typeface="Calibri"/>
            </a:endParaRPr>
          </a:p>
          <a:p>
            <a:pPr marL="297815" indent="-285115">
              <a:lnSpc>
                <a:spcPct val="15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Calibri"/>
                <a:cs typeface="Calibri"/>
              </a:rPr>
              <a:t>CCAFS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LC-</a:t>
            </a:r>
            <a:r>
              <a:rPr sz="1600" dirty="0">
                <a:latin typeface="Calibri"/>
                <a:cs typeface="Calibri"/>
              </a:rPr>
              <a:t>40: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29.2%</a:t>
            </a:r>
            <a:endParaRPr sz="1600" dirty="0">
              <a:latin typeface="Calibri"/>
              <a:cs typeface="Calibri"/>
            </a:endParaRPr>
          </a:p>
          <a:p>
            <a:pPr marL="297815" indent="-285115">
              <a:lnSpc>
                <a:spcPct val="15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spc="-10" dirty="0">
                <a:latin typeface="Calibri"/>
                <a:cs typeface="Calibri"/>
              </a:rPr>
              <a:t>VAFB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SLC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-</a:t>
            </a:r>
            <a:r>
              <a:rPr sz="1600" dirty="0">
                <a:latin typeface="Calibri"/>
                <a:cs typeface="Calibri"/>
              </a:rPr>
              <a:t>4E: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16.7%</a:t>
            </a:r>
            <a:endParaRPr sz="1600" dirty="0">
              <a:latin typeface="Calibri"/>
              <a:cs typeface="Calibri"/>
            </a:endParaRPr>
          </a:p>
          <a:p>
            <a:pPr marL="297815" indent="-285115">
              <a:lnSpc>
                <a:spcPct val="150000"/>
              </a:lnSpc>
              <a:buFont typeface="Arial MT"/>
              <a:buChar char="•"/>
              <a:tabLst>
                <a:tab pos="297815" algn="l"/>
              </a:tabLst>
            </a:pPr>
            <a:r>
              <a:rPr sz="1600" dirty="0">
                <a:latin typeface="Calibri"/>
                <a:cs typeface="Calibri"/>
              </a:rPr>
              <a:t>CCAFS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SLC-</a:t>
            </a:r>
            <a:r>
              <a:rPr sz="1600" dirty="0">
                <a:latin typeface="Calibri"/>
                <a:cs typeface="Calibri"/>
              </a:rPr>
              <a:t>40: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12.5%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39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C8B3F3-2EAC-1C7D-E55A-E47AF3EA1C5B}"/>
              </a:ext>
            </a:extLst>
          </p:cNvPr>
          <p:cNvSpPr txBox="1"/>
          <p:nvPr/>
        </p:nvSpPr>
        <p:spPr>
          <a:xfrm>
            <a:off x="9198864" y="3352800"/>
            <a:ext cx="29809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place from where launches are done seems to be a very important factor of</a:t>
            </a:r>
          </a:p>
          <a:p>
            <a:r>
              <a:rPr lang="en-IN" dirty="0"/>
              <a:t>success of missions.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Highest</a:t>
            </a:r>
            <a:r>
              <a:rPr spc="-190" dirty="0"/>
              <a:t> </a:t>
            </a:r>
            <a:r>
              <a:rPr spc="-185" dirty="0"/>
              <a:t>success</a:t>
            </a:r>
            <a:r>
              <a:rPr spc="-60" dirty="0"/>
              <a:t> </a:t>
            </a:r>
            <a:r>
              <a:rPr spc="-80" dirty="0"/>
              <a:t>launch</a:t>
            </a:r>
            <a:r>
              <a:rPr spc="-125" dirty="0"/>
              <a:t> </a:t>
            </a:r>
            <a:r>
              <a:rPr spc="-10" dirty="0"/>
              <a:t>ratio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5538" y="1496567"/>
            <a:ext cx="7693913" cy="386486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40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E46B9-C943-4264-25B6-729D62798E52}"/>
              </a:ext>
            </a:extLst>
          </p:cNvPr>
          <p:cNvSpPr txBox="1"/>
          <p:nvPr/>
        </p:nvSpPr>
        <p:spPr>
          <a:xfrm>
            <a:off x="1447800" y="582917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76.9% of launches are successful in this site.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Payload</a:t>
            </a:r>
            <a:r>
              <a:rPr spc="-130" dirty="0"/>
              <a:t> </a:t>
            </a:r>
            <a:r>
              <a:rPr spc="-70" dirty="0"/>
              <a:t>vs.</a:t>
            </a:r>
            <a:r>
              <a:rPr spc="-145" dirty="0"/>
              <a:t> </a:t>
            </a:r>
            <a:r>
              <a:rPr spc="-120" dirty="0"/>
              <a:t>Launch</a:t>
            </a:r>
            <a:r>
              <a:rPr spc="-125" dirty="0"/>
              <a:t> </a:t>
            </a:r>
            <a:r>
              <a:rPr spc="-110" dirty="0"/>
              <a:t>Outcome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671" y="1600200"/>
            <a:ext cx="8232648" cy="436092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41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06F2A-620A-3ADC-71D9-3C11DE0DF0C9}"/>
              </a:ext>
            </a:extLst>
          </p:cNvPr>
          <p:cNvSpPr txBox="1"/>
          <p:nvPr/>
        </p:nvSpPr>
        <p:spPr>
          <a:xfrm>
            <a:off x="9195054" y="2228671"/>
            <a:ext cx="29695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Payloads under 6,000kg and FT boosters are the most successful combination.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97813" y="2529839"/>
            <a:ext cx="1058545" cy="369570"/>
          </a:xfrm>
          <a:custGeom>
            <a:avLst/>
            <a:gdLst/>
            <a:ahLst/>
            <a:cxnLst/>
            <a:rect l="l" t="t" r="r" b="b"/>
            <a:pathLst>
              <a:path w="1058545" h="369569">
                <a:moveTo>
                  <a:pt x="1058418" y="0"/>
                </a:moveTo>
                <a:lnTo>
                  <a:pt x="0" y="0"/>
                </a:lnTo>
                <a:lnTo>
                  <a:pt x="0" y="369570"/>
                </a:lnTo>
                <a:lnTo>
                  <a:pt x="1058418" y="369570"/>
                </a:lnTo>
                <a:lnTo>
                  <a:pt x="1058418" y="0"/>
                </a:lnTo>
                <a:close/>
              </a:path>
            </a:pathLst>
          </a:custGeom>
          <a:solidFill>
            <a:srgbClr val="0947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6808" y="2548635"/>
            <a:ext cx="87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Classification</a:t>
            </a:r>
            <a:r>
              <a:rPr spc="-114" dirty="0"/>
              <a:t> </a:t>
            </a:r>
            <a:r>
              <a:rPr spc="-155" dirty="0"/>
              <a:t>Accuracy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43</a:t>
            </a:fld>
            <a:endParaRPr spc="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14B30A-4ED1-D766-AA99-9EA7905A2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76400"/>
            <a:ext cx="7387514" cy="321724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2103DFC-4C99-201C-D39D-0D2844925881}"/>
              </a:ext>
            </a:extLst>
          </p:cNvPr>
          <p:cNvSpPr txBox="1"/>
          <p:nvPr/>
        </p:nvSpPr>
        <p:spPr>
          <a:xfrm>
            <a:off x="415366" y="2133600"/>
            <a:ext cx="43441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Four classification models were tested,</a:t>
            </a:r>
          </a:p>
          <a:p>
            <a:r>
              <a:rPr lang="en-IN" dirty="0"/>
              <a:t>and their accuracies are plotted beside.</a:t>
            </a:r>
          </a:p>
          <a:p>
            <a:endParaRPr lang="en-IN" dirty="0"/>
          </a:p>
          <a:p>
            <a:r>
              <a:rPr lang="en-IN" dirty="0"/>
              <a:t>• The model with the highest classification</a:t>
            </a:r>
          </a:p>
          <a:p>
            <a:r>
              <a:rPr lang="en-IN" dirty="0"/>
              <a:t>accuracy is Decision Tree Classifier,</a:t>
            </a:r>
          </a:p>
          <a:p>
            <a:r>
              <a:rPr lang="en-IN" dirty="0"/>
              <a:t>which has accuracies over than 87%.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48867" y="417576"/>
            <a:ext cx="3392804" cy="58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5" dirty="0"/>
              <a:t>Confusion</a:t>
            </a:r>
            <a:r>
              <a:rPr spc="-110" dirty="0"/>
              <a:t> </a:t>
            </a:r>
            <a:r>
              <a:rPr spc="-50" dirty="0"/>
              <a:t>Matrix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1753361"/>
            <a:ext cx="6387846" cy="44881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53284" y="1516960"/>
            <a:ext cx="3512567" cy="2474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1600" b="1" dirty="0"/>
              <a:t>True Positive = 4</a:t>
            </a:r>
            <a:br>
              <a:rPr lang="en-IN" sz="1600" dirty="0"/>
            </a:br>
            <a:r>
              <a:rPr lang="en-IN" sz="1600" dirty="0"/>
              <a:t>Successful landing correctly predicted.</a:t>
            </a:r>
          </a:p>
          <a:p>
            <a:r>
              <a:rPr lang="en-IN" sz="1600" b="1" dirty="0"/>
              <a:t>True Negative = 7</a:t>
            </a:r>
            <a:br>
              <a:rPr lang="en-IN" sz="1600" dirty="0"/>
            </a:br>
            <a:r>
              <a:rPr lang="en-IN" sz="1600" dirty="0"/>
              <a:t>Failure correctly predicted.</a:t>
            </a:r>
          </a:p>
          <a:p>
            <a:r>
              <a:rPr lang="en-IN" sz="1600" b="1" dirty="0"/>
              <a:t>False Positive = 5</a:t>
            </a:r>
            <a:br>
              <a:rPr lang="en-IN" sz="1600" dirty="0"/>
            </a:br>
            <a:r>
              <a:rPr lang="en-IN" sz="1600" dirty="0"/>
              <a:t>Failure predicted as successful landing.</a:t>
            </a:r>
          </a:p>
          <a:p>
            <a:r>
              <a:rPr lang="en-IN" sz="1600" b="1" dirty="0"/>
              <a:t>False Negative = 2</a:t>
            </a:r>
            <a:br>
              <a:rPr lang="en-IN" sz="1600" dirty="0"/>
            </a:br>
            <a:r>
              <a:rPr lang="en-IN" sz="1600" dirty="0"/>
              <a:t>Successful landing predicted as failure.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44</a:t>
            </a:fld>
            <a:endParaRPr spc="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FF8376-F414-7A3F-26EF-8334B86574F2}"/>
              </a:ext>
            </a:extLst>
          </p:cNvPr>
          <p:cNvSpPr txBox="1"/>
          <p:nvPr/>
        </p:nvSpPr>
        <p:spPr>
          <a:xfrm>
            <a:off x="7656702" y="3991355"/>
            <a:ext cx="31219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Confusion matrix of Decision Tree Classifier proves its accuracy by showing the big</a:t>
            </a:r>
          </a:p>
          <a:p>
            <a:r>
              <a:rPr lang="en-IN" dirty="0"/>
              <a:t>numbers Of true positive and true negative compared to the false ones.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Conclusions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45</a:t>
            </a:fld>
            <a:endParaRPr spc="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76229-EF09-539E-C4C1-10B6D53C5B58}"/>
              </a:ext>
            </a:extLst>
          </p:cNvPr>
          <p:cNvSpPr txBox="1"/>
          <p:nvPr/>
        </p:nvSpPr>
        <p:spPr>
          <a:xfrm>
            <a:off x="701929" y="1396627"/>
            <a:ext cx="100662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Data Insights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Launch success varied across launch sites and orbit types.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Payload characteristics were associated with landing outcomes.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yearly analysis showed an increasing success trend over the observed period. 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Interactive Analytics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Folium provided geographical analysis of launch sites and nearby infrastructure.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/>
              <a:t>Plotly</a:t>
            </a:r>
            <a:r>
              <a:rPr lang="en-IN" dirty="0"/>
              <a:t> Dash enabled interactive exploration of launch site, payload and landing outcomes.</a:t>
            </a:r>
          </a:p>
          <a:p>
            <a:pPr lvl="0"/>
            <a:r>
              <a:rPr lang="en-IN" dirty="0"/>
              <a:t> </a:t>
            </a:r>
          </a:p>
          <a:p>
            <a:pPr>
              <a:buNone/>
            </a:pPr>
            <a:r>
              <a:rPr lang="en-IN" b="1" dirty="0"/>
              <a:t>Predictive Analysis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Four classification algorithms were evaluated.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selected model and its performance were evaluated using classification metrics and a confusion matrix. 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b="1" dirty="0"/>
              <a:t>Overall</a:t>
            </a:r>
            <a:endParaRPr lang="en-IN" dirty="0"/>
          </a:p>
          <a:p>
            <a:pPr>
              <a:buNone/>
            </a:pPr>
            <a:r>
              <a:rPr lang="en-IN" dirty="0"/>
              <a:t>The project combined data collection, data wrangling, SQL, visualization, interactive analytics and machine learning to </a:t>
            </a:r>
            <a:r>
              <a:rPr lang="en-IN" dirty="0" err="1"/>
              <a:t>analyze</a:t>
            </a:r>
            <a:r>
              <a:rPr lang="en-IN" dirty="0"/>
              <a:t> Falcon 9 first-stage landing outcomes.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2BA52-A24A-ADE0-95D0-5BC9E8C2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927F2523-0B93-4E3D-7FF1-5D53A42014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Creative Enhancements</a:t>
            </a:r>
            <a:endParaRPr spc="-13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A3A9660-BCDF-8B27-B9AA-1065DFC8FF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09E32F9F-3652-6854-C3EA-5916CD93041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46</a:t>
            </a:fld>
            <a:endParaRPr spc="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0BECB-5E3B-E76C-4117-C25437A184DA}"/>
              </a:ext>
            </a:extLst>
          </p:cNvPr>
          <p:cNvSpPr txBox="1"/>
          <p:nvPr/>
        </p:nvSpPr>
        <p:spPr>
          <a:xfrm>
            <a:off x="698882" y="1313385"/>
            <a:ext cx="10066273" cy="4478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🎨 Interactive Visual Analytics</a:t>
            </a:r>
            <a:br>
              <a:rPr lang="en-IN" sz="1600" dirty="0"/>
            </a:br>
            <a:r>
              <a:rPr lang="en-IN" sz="1600" dirty="0"/>
              <a:t>	Created an interactive Folium map to explore launch locations, landing outcomes, and proximity to geographical features such as coast, railway, highway and city.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📊 Interactive Dashboard</a:t>
            </a:r>
            <a:br>
              <a:rPr lang="en-IN" sz="1600" dirty="0"/>
            </a:br>
            <a:r>
              <a:rPr lang="en-IN" sz="1600" dirty="0"/>
              <a:t>	Developed a </a:t>
            </a:r>
            <a:r>
              <a:rPr lang="en-IN" sz="1600" dirty="0" err="1"/>
              <a:t>Plotly</a:t>
            </a:r>
            <a:r>
              <a:rPr lang="en-IN" sz="1600" dirty="0"/>
              <a:t> Dash dashboard with launch-site selection, payload filtering, success-rate visualization and payload/outcome analysis.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🔍 Multi-dimensional Analysis</a:t>
            </a:r>
            <a:br>
              <a:rPr lang="en-IN" sz="1600" dirty="0"/>
            </a:br>
            <a:r>
              <a:rPr lang="en-IN" sz="1600" dirty="0"/>
              <a:t>	Combined visual EDA, SQL analysis, geographical analysis and machine learning instead of relying on a single analytical approach.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🤖 Predictive </a:t>
            </a:r>
            <a:r>
              <a:rPr lang="en-IN" sz="1600" b="1" dirty="0" err="1"/>
              <a:t>Modeling</a:t>
            </a:r>
            <a:br>
              <a:rPr lang="en-IN" sz="1600" dirty="0"/>
            </a:br>
            <a:r>
              <a:rPr lang="en-IN" sz="1600" dirty="0"/>
              <a:t>	Compared multiple classification approaches — Logistic Regression, SVM, Decision Tree and KNN — and evaluated their performance.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69D30-55C6-D2BE-90B8-01679FDCE2F4}"/>
              </a:ext>
            </a:extLst>
          </p:cNvPr>
          <p:cNvSpPr txBox="1"/>
          <p:nvPr/>
        </p:nvSpPr>
        <p:spPr>
          <a:xfrm>
            <a:off x="698882" y="5840260"/>
            <a:ext cx="10578718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Creative approach:</a:t>
            </a:r>
            <a:r>
              <a:rPr lang="en-IN" sz="1600" dirty="0"/>
              <a:t> The project combines static analysis with interactive geographical visualization, dashboard-based exploration and predictive </a:t>
            </a:r>
            <a:r>
              <a:rPr lang="en-IN" sz="1600" dirty="0" err="1"/>
              <a:t>modeling</a:t>
            </a:r>
            <a:r>
              <a:rPr lang="en-IN" sz="1600" dirty="0"/>
              <a:t> to provide multiple perspectives on Falcon 9 landing outcomes.</a:t>
            </a:r>
          </a:p>
        </p:txBody>
      </p:sp>
    </p:spTree>
    <p:extLst>
      <p:ext uri="{BB962C8B-B14F-4D97-AF65-F5344CB8AC3E}">
        <p14:creationId xmlns:p14="http://schemas.microsoft.com/office/powerpoint/2010/main" val="6550956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544BE-9804-A231-D16D-27D4461B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EF596EEC-7710-380C-99C6-A6A20DF23E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Innovative Insights</a:t>
            </a:r>
            <a:endParaRPr spc="-13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81B13BC-7CAD-047B-E6DC-F040582018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319A2DC-5ED8-9CF8-1159-6E2A3B3EF6B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47</a:t>
            </a:fld>
            <a:endParaRPr spc="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47EAF-D4A8-D95C-BE87-95B2B78207F3}"/>
              </a:ext>
            </a:extLst>
          </p:cNvPr>
          <p:cNvSpPr txBox="1"/>
          <p:nvPr/>
        </p:nvSpPr>
        <p:spPr>
          <a:xfrm>
            <a:off x="701929" y="1396627"/>
            <a:ext cx="10066273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/>
              <a:t> 🚀 1. Launch success improved over time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	The yearly analysis shows an increasing launch-success trend from 2013 through 2020.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📦 2. Payload and landing outcome are related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	The analysis indicates that payload characteristics are associated with first-stage landing outcomes, with successful landings appearing more frequently in certain payload ranges.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🛰️ 3. Orbit type shows different success patterns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	Landing success varies by orbit type, with ES-L1, GEO, HEO and SSO showing high observed success rates in the analysis.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📍 4. Geography provides additional context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	Launch-site performance can be examined together with geographical proximity to coastlines, railways, highways and cities.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🤖 5. Machine learning can predict landing outcomes</a:t>
            </a:r>
          </a:p>
          <a:p>
            <a:pPr>
              <a:lnSpc>
                <a:spcPct val="150000"/>
              </a:lnSpc>
            </a:pPr>
            <a:r>
              <a:rPr lang="en-IN" sz="1600" dirty="0"/>
              <a:t>	Multiple classification algorithms were evaluated, with the Decision Tree reported at approximately 89% accuracy using the selected parameters.</a:t>
            </a:r>
          </a:p>
        </p:txBody>
      </p:sp>
    </p:spTree>
    <p:extLst>
      <p:ext uri="{BB962C8B-B14F-4D97-AF65-F5344CB8AC3E}">
        <p14:creationId xmlns:p14="http://schemas.microsoft.com/office/powerpoint/2010/main" val="26792886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Appendix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7319" y="430530"/>
            <a:ext cx="2420874" cy="300989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48867" y="1698955"/>
            <a:ext cx="8542655" cy="129458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495"/>
              </a:spcBef>
              <a:buFont typeface="Arial MT"/>
              <a:buChar char="•"/>
              <a:tabLst>
                <a:tab pos="238760" algn="l"/>
              </a:tabLst>
            </a:pPr>
            <a:r>
              <a:rPr lang="en-IN"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https://github.com/Jananijana2712/SpaceX-Falcon_9_First_Stage_Landing_Prediction</a:t>
            </a:r>
            <a:endParaRPr sz="2000" dirty="0">
              <a:latin typeface="Calibri"/>
              <a:cs typeface="Calibri"/>
            </a:endParaRPr>
          </a:p>
          <a:p>
            <a:pPr marL="238760" indent="-226060">
              <a:lnSpc>
                <a:spcPct val="100000"/>
              </a:lnSpc>
              <a:spcBef>
                <a:spcPts val="1400"/>
              </a:spcBef>
              <a:buClr>
                <a:srgbClr val="000000"/>
              </a:buClr>
              <a:buFont typeface="Arial MT"/>
              <a:buChar char="•"/>
              <a:tabLst>
                <a:tab pos="238760" algn="l"/>
              </a:tabLst>
            </a:pPr>
            <a:r>
              <a:rPr sz="20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https://www.coursera.org/learn/applied-data-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science-capstone/home/welcome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839"/>
              </a:lnSpc>
            </a:pPr>
            <a:fld id="{81D60167-4931-47E6-BA6A-407CBD079E47}" type="slidenum">
              <a:rPr spc="50" dirty="0"/>
              <a:t>48</a:t>
            </a:fld>
            <a:endParaRPr spc="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2721</Words>
  <Application>Microsoft Office PowerPoint</Application>
  <PresentationFormat>Widescreen</PresentationFormat>
  <Paragraphs>374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0" baseType="lpstr">
      <vt:lpstr>Arial</vt:lpstr>
      <vt:lpstr>Arial MT</vt:lpstr>
      <vt:lpstr>Calibri</vt:lpstr>
      <vt:lpstr>Courier New</vt:lpstr>
      <vt:lpstr>Microsoft Sans Serif</vt:lpstr>
      <vt:lpstr>Roboto</vt:lpstr>
      <vt:lpstr>Roboto Bk</vt:lpstr>
      <vt:lpstr>Tahoma</vt:lpstr>
      <vt:lpstr>Times New Roman</vt:lpstr>
      <vt:lpstr>Wingdings</vt:lpstr>
      <vt:lpstr>Office Theme</vt:lpstr>
      <vt:lpstr>PowerPoint Presentation</vt:lpstr>
      <vt:lpstr>Outline</vt:lpstr>
      <vt:lpstr>Executive Summary</vt:lpstr>
      <vt:lpstr>Introduction</vt:lpstr>
      <vt:lpstr>PowerPoint Presentation</vt:lpstr>
      <vt:lpstr>Methodology</vt:lpstr>
      <vt:lpstr>Data Collection</vt:lpstr>
      <vt:lpstr>PowerPoint Presentation</vt:lpstr>
      <vt:lpstr>A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All Launch Site Names</vt:lpstr>
      <vt:lpstr>Launch Site Names Begin with 'CCA'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Presentation</vt:lpstr>
      <vt:lpstr>&lt;All launch sites&gt;</vt:lpstr>
      <vt:lpstr>Launch outcome of different site</vt:lpstr>
      <vt:lpstr>The proximity of the launch sites</vt:lpstr>
      <vt:lpstr>PowerPoint Presentation</vt:lpstr>
      <vt:lpstr>All site launch</vt:lpstr>
      <vt:lpstr>Highest success launch ratio</vt:lpstr>
      <vt:lpstr>Payload vs. Launch Outcome</vt:lpstr>
      <vt:lpstr>PowerPoint Presentation</vt:lpstr>
      <vt:lpstr>Classification Accuracy</vt:lpstr>
      <vt:lpstr>Confusion Matrix</vt:lpstr>
      <vt:lpstr>Conclusions</vt:lpstr>
      <vt:lpstr>Creative Enhancements</vt:lpstr>
      <vt:lpstr>Innovative Insights</vt:lpstr>
      <vt:lpstr>Appendix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JANANI GOPALAKRISHNAN</cp:lastModifiedBy>
  <cp:revision>35</cp:revision>
  <dcterms:created xsi:type="dcterms:W3CDTF">2026-09-27T09:49:16Z</dcterms:created>
  <dcterms:modified xsi:type="dcterms:W3CDTF">2026-09-27T10:56:31Z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2022-12-15T00:00:00Z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2026-09-27T00:00:00Z</vt:filetime>
  </property>
  <property fmtid="{D5CDD505-2E9C-101B-9397-08002B2CF9AE}" pid="6" name="Producer">
    <vt:lpwstr>Microsoft® PowerPoint® 2019</vt:lpwstr>
  </property>
</Properties>
</file>